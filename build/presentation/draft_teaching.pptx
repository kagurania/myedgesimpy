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c988e735a42b3" /><Relationship Type="http://schemas.openxmlformats.org/officeDocument/2006/relationships/extended-properties" Target="/docProps/app.xml" Id="Rea41d1a9dbef4c1a" /><Relationship Type="http://schemas.openxmlformats.org/officeDocument/2006/relationships/officeDocument" Target="/ppt/presentation.xml" Id="R84932b9b279444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86d18dda04238"/>
  </p:sldMasterIdLst>
  <p:notesMasterIdLst>
    <p:notesMasterId xmlns:r="http://schemas.openxmlformats.org/officeDocument/2006/relationships" r:id="Rda77d01b578a4d91"/>
  </p:notesMasterIdLst>
  <p:sldIdLst>
    <p:sldId xmlns:r="http://schemas.openxmlformats.org/officeDocument/2006/relationships" id="256" r:id="R46815af1ae6d4871"/>
    <p:sldId xmlns:r="http://schemas.openxmlformats.org/officeDocument/2006/relationships" id="257" r:id="R4615caee5d024c42"/>
    <p:sldId xmlns:r="http://schemas.openxmlformats.org/officeDocument/2006/relationships" id="258" r:id="Ra44ba57baaa34960"/>
    <p:sldId xmlns:r="http://schemas.openxmlformats.org/officeDocument/2006/relationships" id="259" r:id="Ra5f5448a6d554cea"/>
    <p:sldId xmlns:r="http://schemas.openxmlformats.org/officeDocument/2006/relationships" id="260" r:id="R0153aed01477418a"/>
    <p:sldId xmlns:r="http://schemas.openxmlformats.org/officeDocument/2006/relationships" id="261" r:id="Rca85fc9dd0724141"/>
    <p:sldId xmlns:r="http://schemas.openxmlformats.org/officeDocument/2006/relationships" id="262" r:id="Rd81e3e1649774f68"/>
    <p:sldId xmlns:r="http://schemas.openxmlformats.org/officeDocument/2006/relationships" id="263" r:id="R77e9016ca8504680"/>
    <p:sldId xmlns:r="http://schemas.openxmlformats.org/officeDocument/2006/relationships" id="264" r:id="Rc1a1e24e57884403"/>
    <p:sldId xmlns:r="http://schemas.openxmlformats.org/officeDocument/2006/relationships" id="265" r:id="R80f8ac56af4b4422"/>
    <p:sldId xmlns:r="http://schemas.openxmlformats.org/officeDocument/2006/relationships" id="266" r:id="R8b02b8ba4384432a"/>
    <p:sldId xmlns:r="http://schemas.openxmlformats.org/officeDocument/2006/relationships" id="267" r:id="R415a7efb5f524f44"/>
    <p:sldId xmlns:r="http://schemas.openxmlformats.org/officeDocument/2006/relationships" id="268" r:id="R483673ae1f224f82"/>
    <p:sldId xmlns:r="http://schemas.openxmlformats.org/officeDocument/2006/relationships" id="269" r:id="Recaab8bc0f9e4330"/>
    <p:sldId xmlns:r="http://schemas.openxmlformats.org/officeDocument/2006/relationships" id="270" r:id="R5b5a53859ab34fdd"/>
    <p:sldId xmlns:r="http://schemas.openxmlformats.org/officeDocument/2006/relationships" id="271" r:id="R819b276abe3640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77be2ddfa475d" /><Relationship Type="http://schemas.openxmlformats.org/officeDocument/2006/relationships/slideMaster" Target="/ppt/slideMasters/slideMaster1.xml" Id="R9f186d18dda04238" /><Relationship Type="http://schemas.openxmlformats.org/officeDocument/2006/relationships/notesMaster" Target="/ppt/notesMasters/notesMaster1.xml" Id="Rda77d01b578a4d91" /><Relationship Type="http://schemas.openxmlformats.org/officeDocument/2006/relationships/presProps" Target="/ppt/presProps.xml" Id="Rc82c4f06006b4d22" /><Relationship Type="http://schemas.openxmlformats.org/officeDocument/2006/relationships/tableStyles" Target="/ppt/tableStyles.xml" Id="R03df0cafd30946d0" /><Relationship Type="http://schemas.openxmlformats.org/officeDocument/2006/relationships/slide" Target="/ppt/slides/slide1.xml" Id="R46815af1ae6d4871" /><Relationship Type="http://schemas.openxmlformats.org/officeDocument/2006/relationships/slide" Target="/ppt/slides/slide2.xml" Id="R4615caee5d024c42" /><Relationship Type="http://schemas.openxmlformats.org/officeDocument/2006/relationships/slide" Target="/ppt/slides/slide3.xml" Id="Ra44ba57baaa34960" /><Relationship Type="http://schemas.openxmlformats.org/officeDocument/2006/relationships/slide" Target="/ppt/slides/slide4.xml" Id="Ra5f5448a6d554cea" /><Relationship Type="http://schemas.openxmlformats.org/officeDocument/2006/relationships/slide" Target="/ppt/slides/slide5.xml" Id="R0153aed01477418a" /><Relationship Type="http://schemas.openxmlformats.org/officeDocument/2006/relationships/slide" Target="/ppt/slides/slide6.xml" Id="Rca85fc9dd0724141" /><Relationship Type="http://schemas.openxmlformats.org/officeDocument/2006/relationships/slide" Target="/ppt/slides/slide7.xml" Id="Rd81e3e1649774f68" /><Relationship Type="http://schemas.openxmlformats.org/officeDocument/2006/relationships/slide" Target="/ppt/slides/slide8.xml" Id="R77e9016ca8504680" /><Relationship Type="http://schemas.openxmlformats.org/officeDocument/2006/relationships/slide" Target="/ppt/slides/slide9.xml" Id="Rc1a1e24e57884403" /><Relationship Type="http://schemas.openxmlformats.org/officeDocument/2006/relationships/slide" Target="/ppt/slides/slide10.xml" Id="R80f8ac56af4b4422" /><Relationship Type="http://schemas.openxmlformats.org/officeDocument/2006/relationships/slide" Target="/ppt/slides/slide11.xml" Id="R8b02b8ba4384432a" /><Relationship Type="http://schemas.openxmlformats.org/officeDocument/2006/relationships/slide" Target="/ppt/slides/slide12.xml" Id="R415a7efb5f524f44" /><Relationship Type="http://schemas.openxmlformats.org/officeDocument/2006/relationships/slide" Target="/ppt/slides/slide13.xml" Id="R483673ae1f224f82" /><Relationship Type="http://schemas.openxmlformats.org/officeDocument/2006/relationships/slide" Target="/ppt/slides/slide14.xml" Id="Recaab8bc0f9e4330" /><Relationship Type="http://schemas.openxmlformats.org/officeDocument/2006/relationships/slide" Target="/ppt/slides/slide15.xml" Id="R5b5a53859ab34fdd" /><Relationship Type="http://schemas.openxmlformats.org/officeDocument/2006/relationships/slide" Target="/ppt/slides/slide16.xml" Id="R819b276abe36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74e47a8a9040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orage Systems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20fb737574863" /><Relationship Type="http://schemas.openxmlformats.org/officeDocument/2006/relationships/notesMaster" Target="/ppt/notesMasters/notesMaster1.xml" Id="R40ffadabeee04a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0e989818a4acd" /><Relationship Type="http://schemas.openxmlformats.org/officeDocument/2006/relationships/notesMaster" Target="/ppt/notesMasters/notesMaster1.xml" Id="Raf5da3988ea14b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d0d4e75f7a446a" /><Relationship Type="http://schemas.openxmlformats.org/officeDocument/2006/relationships/notesMaster" Target="/ppt/notesMasters/notesMaster1.xml" Id="Rd9d733debca6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8fd2fb7cd8498b" /><Relationship Type="http://schemas.openxmlformats.org/officeDocument/2006/relationships/notesMaster" Target="/ppt/notesMasters/notesMaster1.xml" Id="R158e7d3b6d9845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6565b310449cd" /><Relationship Type="http://schemas.openxmlformats.org/officeDocument/2006/relationships/notesMaster" Target="/ppt/notesMasters/notesMaster1.xml" Id="Rc43e1d5111f248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7a283e28834177" /><Relationship Type="http://schemas.openxmlformats.org/officeDocument/2006/relationships/notesMaster" Target="/ppt/notesMasters/notesMaster1.xml" Id="R3440f41a4e8645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8d8b15f9d2423f" /><Relationship Type="http://schemas.openxmlformats.org/officeDocument/2006/relationships/notesMaster" Target="/ppt/notesMasters/notesMaster1.xml" Id="R645e743ce2674b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ae7667a7274e58" /><Relationship Type="http://schemas.openxmlformats.org/officeDocument/2006/relationships/notesMaster" Target="/ppt/notesMasters/notesMaster1.xml" Id="Re566c98994204a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e70aecf1db4908" /><Relationship Type="http://schemas.openxmlformats.org/officeDocument/2006/relationships/notesMaster" Target="/ppt/notesMasters/notesMaster1.xml" Id="R571e1375f8094e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9952aca19a460b" /><Relationship Type="http://schemas.openxmlformats.org/officeDocument/2006/relationships/notesMaster" Target="/ppt/notesMasters/notesMaster1.xml" Id="R5fb263ee3f8b4e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40072886e54de3" /><Relationship Type="http://schemas.openxmlformats.org/officeDocument/2006/relationships/notesMaster" Target="/ppt/notesMasters/notesMaster1.xml" Id="Re58aed89fa6142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a292ca72aa42c9" /><Relationship Type="http://schemas.openxmlformats.org/officeDocument/2006/relationships/notesMaster" Target="/ppt/notesMasters/notesMaster1.xml" Id="R9ddaade638794c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7498409ed245ad" /><Relationship Type="http://schemas.openxmlformats.org/officeDocument/2006/relationships/notesMaster" Target="/ppt/notesMasters/notesMaster1.xml" Id="Rff27dab9d2d847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3c164ac78445a6" /><Relationship Type="http://schemas.openxmlformats.org/officeDocument/2006/relationships/notesMaster" Target="/ppt/notesMasters/notesMaster1.xml" Id="Rd93369076ddf44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9571f306ba4c1f" /><Relationship Type="http://schemas.openxmlformats.org/officeDocument/2006/relationships/notesMaster" Target="/ppt/notesMasters/notesMaster1.xml" Id="R19a17c22917049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ffe37da12b4905" /><Relationship Type="http://schemas.openxmlformats.org/officeDocument/2006/relationships/notesMaster" Target="/ppt/notesMasters/notesMaster1.xml" Id="R2a3520c4f2d44d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各位老师好。今天我不先讲公式，先从一个生活例子讲起。先让老师明白车、服务、状态和迁移分别在说什么，再讲我们做了什么实验。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先看一个生活场景。车在 A 区，服务也在 A 区，离得近，延迟低。车开到 B 区，服务还在 A 区，路变远，延迟就高了。把服务搬到 B 区，延迟恢复，但搬家要花时间和流量。服务还带着状态，比如视频播放到哪、导航路线、缓存。所以迁移不是复制程序，是连记忆一起搬。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云计算像城市外的大仓库，容量大但离得远。边缘计算像小区门口的小仓库，离得近、延迟低，但每个仓库容量小。用户在移动，一换区域就可能要换仓库，这就产生了服务迁移。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 cell。cell 不是只有一个基站，它是一片服务区域。区域里有一个基站负责无线接入，一个交换机负责回程网络，一个边缘服务器负责运行服务和保存状态。车在哪个 cell，就连哪个基站，用哪个边缘服务器。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车从 A 到 B，会发生两件事。第一，车换基站，这叫 handover。第二，服务状态从 A 的边缘服务器搬到 B，这叫 migration。这两件事可以不同步：车已经连到 B，但状态还在 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状态就是服务的记忆：视频播放到哪、导航走到哪、缓存了什么。base 是上次保存的完整快照，delta 是之后变化的部分。目标节点有 base，就只传 delta；没有 base，就要传全量。传完还要 apply 和 restore，才能继续服务。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搬家不只看箱子多少。还要看电梯被占用多久，到了之后整理多久，顾客等了多久。对应到系统里，就是数据量、带宽-时间、恢复时间、用户中断时间。只看 GB 会低估开销。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这是系统拓扑。左边一格是一个 cell，里面有 gNB 和 edge server。青框是当前 cell，橙框是目标 cell，青点是车经过的 cell，橙箭头是状态迁移。右边要强调：移动图和网络图是两张图。4 连通是交换机之间的连法，不是车的行驶限制。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为什么用仿真？真实城市里做上千次切换不现实。仿真可以控制带宽、速度、车辆数，也可以重复跑。我们用 DATA7 的真实 gNB 位置和 SUMO 车流，用 SF 和 Rome 的真实出租车轨迹。带宽、状态大小、恢复速率是可控假设。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四类服务搬的东西不一样。导航状态很小，信息娱乐很大，告警最小，交通分析中等。镜像也有大有小。这些是代表性参数，不是运营商实测。重点不是具体数字，而是服务之间差两个数量级。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这是最直接的做法：车到哪，就把服务全量搬到哪。DATA7 上 40 km/h 就有 48.8% 中断，345 GB，开销比 48 倍。信息娱乐一个服务占 215 GB。所以不能把所有服务一视同仁。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增量能不能省，取决于目标节点有没有 base。DATA7 只有 17% 冷目标，省 74% 字节；合成数据 93% 冷目标，只省 2.4%。所以增量不是固定收益，它是一个 base locality 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压力矩阵跑了五个场景、四种策略、四个速度。100 Mbps 12 车 20 km/h 就崩，500 Mbps 30 车 40 km/h 崩，1 Gbps 12 车到 90 还没崩。所以决定成败的是需求除以容量，速度只是放大器。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提前搬需要预测。oracle 看真实未来，是上限；一阶马尔可夫用其他车辆学转移概率，49%；last-direction 按方向猜，21%。预测差会搬到错误节点，再重迁一次，迁移数据反而更多。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三句话。第一，开销不是单一字节数，要看数据量、时间、恢复和中断。第二，增量的关键是 base 在不在。第三，提前搬的关键是预测准不准。没有单一最优策略。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下一步做 base placement 和隐私侧信道。先系统后安全，两者共用同一套开销账。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3c2c4caab41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29176d08c4f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3d7e45a7541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dfd78688a47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07a9fe35a46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d9b87104640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C5BA41-6961-4F54-8354-47358A008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6EC7C6-7A9A-417F-BACB-AD2B17D594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0999E8-EF57-40B1-91C7-7A2B8A64A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12684C-2811-47FA-AC07-1355ED075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DDFA06-7FA1-40FF-850E-A483909BF1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328BAE-6875-44F5-8EF2-1AF9AD769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12AD49-520B-4BE5-9E3D-FF4BA69F11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30CD02-1940-4C89-9A80-B6F039A625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4FD9C-7E0F-424E-B93E-6B97EDDDFB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2757E8-3607-435A-8987-9CDC59AAA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7a855acba74e89" /><Relationship Type="http://schemas.openxmlformats.org/officeDocument/2006/relationships/slideLayout" Target="/ppt/slideLayouts/slideLayout1.xml" Id="R8469439f461f41d6" /><Relationship Type="http://schemas.openxmlformats.org/officeDocument/2006/relationships/slideLayout" Target="/ppt/slideLayouts/slideLayout2.xml" Id="Rf97c60781ecd4536" /><Relationship Type="http://schemas.openxmlformats.org/officeDocument/2006/relationships/slideLayout" Target="/ppt/slideLayouts/slideLayout3.xml" Id="Rafbbf52079ab4078" /><Relationship Type="http://schemas.openxmlformats.org/officeDocument/2006/relationships/slideLayout" Target="/ppt/slideLayouts/slideLayout4.xml" Id="R86594a16a9d940c1" /><Relationship Type="http://schemas.openxmlformats.org/officeDocument/2006/relationships/slideLayout" Target="/ppt/slideLayouts/slideLayout5.xml" Id="Rd76c033790324f85" /><Relationship Type="http://schemas.openxmlformats.org/officeDocument/2006/relationships/slideLayout" Target="/ppt/slideLayouts/slideLayout6.xml" Id="Rd5a92fcddc9b4d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69439f461f41d6"/>
    <p:sldLayoutId xmlns:r="http://schemas.openxmlformats.org/officeDocument/2006/relationships" id="2147483650" r:id="Rf97c60781ecd4536"/>
    <p:sldLayoutId xmlns:r="http://schemas.openxmlformats.org/officeDocument/2006/relationships" id="2147483651" r:id="Rafbbf52079ab4078"/>
    <p:sldLayoutId xmlns:r="http://schemas.openxmlformats.org/officeDocument/2006/relationships" id="2147483652" r:id="R86594a16a9d940c1"/>
    <p:sldLayoutId xmlns:r="http://schemas.openxmlformats.org/officeDocument/2006/relationships" id="2147483653" r:id="Rd76c033790324f85"/>
    <p:sldLayoutId xmlns:r="http://schemas.openxmlformats.org/officeDocument/2006/relationships" id="2147483654" r:id="Rd5a92fcddc9b4d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orage Systems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7ef5c0fd24d2e" /><Relationship Type="http://schemas.openxmlformats.org/officeDocument/2006/relationships/notesSlide" Target="/ppt/notesSlides/notesSlide1.xml" Id="R8eec4505f7ac43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7161cb2954e09" /><Relationship Type="http://schemas.openxmlformats.org/officeDocument/2006/relationships/notesSlide" Target="/ppt/notesSlides/notesSlide2.xml" Id="Rb5b8113ce20a48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508e8ea6c44ac" /><Relationship Type="http://schemas.openxmlformats.org/officeDocument/2006/relationships/notesSlide" Target="/ppt/notesSlides/notesSlide3.xml" Id="Rf58c885f7cbc4b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3aa94ae3f4728" /><Relationship Type="http://schemas.openxmlformats.org/officeDocument/2006/relationships/notesSlide" Target="/ppt/notesSlides/notesSlide4.xml" Id="R7ed937c563e54e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af3f46b77407f" /><Relationship Type="http://schemas.openxmlformats.org/officeDocument/2006/relationships/notesSlide" Target="/ppt/notesSlides/notesSlide5.xml" Id="Rd9bb37775df747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b0d89cdad4efc" /><Relationship Type="http://schemas.openxmlformats.org/officeDocument/2006/relationships/notesSlide" Target="/ppt/notesSlides/notesSlide6.xml" Id="R54710fa966834a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71fc661ed44fa" /><Relationship Type="http://schemas.openxmlformats.org/officeDocument/2006/relationships/notesSlide" Target="/ppt/notesSlides/notesSlide7.xml" Id="Rf2ff2108ed03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17f175cc646b8" /><Relationship Type="http://schemas.openxmlformats.org/officeDocument/2006/relationships/notesSlide" Target="/ppt/notesSlides/notesSlide8.xml" Id="R1fbab2ff7a2b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919107a074852" /><Relationship Type="http://schemas.openxmlformats.org/officeDocument/2006/relationships/notesSlide" Target="/ppt/notesSlides/notesSlide9.xml" Id="R06e585e9357045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6ce40f8334917" /><Relationship Type="http://schemas.openxmlformats.org/officeDocument/2006/relationships/notesSlide" Target="/ppt/notesSlides/notesSlide10.xml" Id="R85366f2146fa49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416fb53ac46e2" /><Relationship Type="http://schemas.openxmlformats.org/officeDocument/2006/relationships/notesSlide" Target="/ppt/notesSlides/notesSlide11.xml" Id="R5c1d0efaec0e41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374d245cd4ae5" /><Relationship Type="http://schemas.openxmlformats.org/officeDocument/2006/relationships/notesSlide" Target="/ppt/notesSlides/notesSlide12.xml" Id="R3f51640bb40e4c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7ff63d7a540d5" /><Relationship Type="http://schemas.openxmlformats.org/officeDocument/2006/relationships/notesSlide" Target="/ppt/notesSlides/notesSlide13.xml" Id="R450daabd46c24c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8ec9047784369" /><Relationship Type="http://schemas.openxmlformats.org/officeDocument/2006/relationships/notesSlide" Target="/ppt/notesSlides/notesSlide14.xml" Id="R84a234b3f13242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c360f6e6b41ba" /><Relationship Type="http://schemas.openxmlformats.org/officeDocument/2006/relationships/notesSlide" Target="/ppt/notesSlides/notesSlide15.xml" Id="Rc23acdbbda8140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a9a232b7f4bf8" /><Relationship Type="http://schemas.openxmlformats.org/officeDocument/2006/relationships/notesSlide" Target="/ppt/notesSlides/notesSlide16.xml" Id="R358bc323c78c4b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CD81D-7757-4DEC-8912-627C0FE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子课题汇报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B423C-22D9-4333-9400-98EE6485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跨边服务状态迁移：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从一个生活例子讲起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5AF5F-3128-4AB1-BE5A-897556FC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B2CB5-36BD-4E9D-BCD4-62E6D38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面向云边存储的数据安全缩减技术研究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EDA23-823F-410B-A410-B38C088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先讲清楚系统，再讲实验，最后落到开销。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60184-225A-4CC9-82CE-A3DE2A4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1358102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5F887-C4C7-4633-B795-F78831B73CD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2714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F56C7-9937-434A-A7C3-10A5991CAE9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33800" y="2714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19455-4411-4100-94C1-3BE3672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生活例子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8855B-505F-4BD5-BD19-91460595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车在移动，服务也要跟着走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47E8C-CB97-4307-BCF3-A8930231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9378B-40D0-46C2-91CB-5DB13A14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C6B8B-8A23-43CD-8376-E2C55AE8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车在 A 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CD5A2-6145-493B-A8B4-B48047E5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服务在 A 区机房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离得近，延迟低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56965-48F1-4455-AE9D-62518D99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90101-C387-47E0-95DD-760E63ED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车开到 B 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02BA7-53C0-4F89-886F-F4482CD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服务还在 A 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路变远，延迟变高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6EDA4-53F2-4F7D-AC12-0EA737A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44454-F3D8-4A2A-A1FE-4254B0D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把服务搬到 B 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C4381-9376-4A29-913F-C4743574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服务恢复本地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但搬家有成本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3FC7B-4132-4083-B10C-A721C276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服务不是一个空壳。它带着“状态”：视频播放到哪、导航走到哪、缓存了什么。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B1F4F-830E-4DF8-87ED-52A4A9E7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所以服务迁移不是“把程序复制过去”，而是“把程序连同记忆一起搬过去”。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3B030-973D-41BB-AF18-BFDAD2E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9B9B7-715D-4D0F-BA4F-2B417C2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服务迁移 = 把服务和它的状态一起搬家。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7A737-6D17-4458-B873-3DEDAE43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733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9485E-9883-47D2-9D60-30ADC36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背景知识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7540D-3AFC-44DC-B9DA-FBB7C35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为什么要有边缘计算：因为“近”很重要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99525-2BAC-4E44-B75F-9CCDF01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663D5-059D-49DA-9C14-B5FF4733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F84DB-02DE-4000-B020-9D09CE28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云计算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45CC2-687A-44AA-8EB0-851499A7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机房在城市外，像一个大仓库。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容量大，但离用户远。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好处是便宜，坏处是延迟高。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8A4F0-1428-46C3-A6E7-0869901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8387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29832-8196-4760-B721-E4B51549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717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边缘计算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3C13D-1FE5-4B80-A7A3-61B86987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4305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把一小部分机房放到基站旁边。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像小区门口的小仓库。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离用户近，延迟低。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A113F-C908-4749-8C9E-FFBEC42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B20E0-4BBF-47FB-BF80-EB0F87F3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38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0CA6F-0F31-4B97-8801-BE4CC0DD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BC88C-D05C-4F68-84DB-8984A5F7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边缘节点的好处是近，代价是每个节点容量小。用户一移动，就可能要换节点。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3E7EB-2CD9-4DB7-88AE-FA2B9F5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7A52B-61FE-4511-8169-7711464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边缘计算用“近”换“快”，但“近”带来了迁移问题。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F063C-D33C-4F68-A251-B3B2D134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6980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3327D-C0AC-426F-8A7B-10C13882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背景知识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5E76B-0DA4-4A57-B988-EAD8D0C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一个 cell 里到底有什么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5C599-5E34-423E-B8E3-ED72BAE6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71B54-7820-405D-8FA3-36715B37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0F5B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65DC4-B0E3-4E10-8FFB-0E02446F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cell（一片服务区域）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AD058-0198-4E16-B8AB-ADE32673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09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BCF5-3939-4D2C-B609-42C7CA50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基站 gNB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AF8EC-3097-457E-806D-5F08981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负责无线接入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9DD00-4882-4DD5-884F-B2E23B1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09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B7691-E344-46A4-B381-32F4FF1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交换机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06438-22E9-4027-BE55-5320CCCB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负责回程网络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37A5B-B6C6-4E41-A590-6D40C60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209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9D2DF-6242-4D6E-852C-C7BFB7D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边缘服务器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82895-121E-48BA-8F61-8126A76E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运行服务、保存状态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84200-68AF-4954-891D-DBBEB723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5ABA9-4DBA-4D9A-8358-BA95B2EE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90085-0184-4CFA-93C1-9FA97C5C8F6B}"/>
              </a:ext>
            </a:extLst>
          </p:cNvPr>
          <p:cNvCxnSpPr/>
          <p:nvPr/>
        </p:nvCxnSpPr>
        <p:spPr>
          <a:xfrm xmlns:a="http://schemas.openxmlformats.org/drawingml/2006/main">
            <a:off x="3124200" y="2857500"/>
            <a:ext cx="13525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dash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A288E-4E7E-41D5-8CEF-DA16AE0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8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无线连接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B225D-8668-483A-B0FC-D060F46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三句话记住 cell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ADFF7-D729-4627-90FF-6019C6A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14600"/>
            <a:ext cx="4552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1. 车在哪个 cell，就连哪个基站。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2. 服务跑在这个 cell 的边缘服务器上。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3. cell 不是“只是一个基站”，而是服务归属单元。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8552A-E293-451A-92CF-50D7B62C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B9C93-5837-4FFC-9CDB-60572C6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cell = 服务区域 + 基站 + 交换机 + 边缘服务器。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E4A54-6FF2-4AA3-A992-A7E053C0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4989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B06BC-B230-4DB0-BD70-A156B148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背景知识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79393-11F9-4B2D-BD47-2A2CD96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车换 cell 时，发生了两件事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08AF-75E2-4F10-9FF5-37F3031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6D555-74E0-4B74-95F2-E1B2DCF6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B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0B1D-8836-4B67-9BD7-68450EF8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cell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C1097-F648-4F70-B89A-940A58B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基站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153F-AB67-460F-9184-DFCA5D4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边缘服务器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796D1-2C4E-4C41-A80B-4E64C315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状态在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8B1D7-B8B6-4739-AE0E-651892D1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A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49248-2632-4F9F-90E7-CFAC81FB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cell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3D890-0D43-4498-9936-5A041C1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基站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14A70-7C91-4678-BC89-78DA1C4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边缘服务器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9765-5C95-4CFB-BCC1-C8A16772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状态要搬到这里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33414-FCE5-4E34-A859-1E24F94A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D7A8A-C225-4A0D-8071-C60959499AF9}"/>
              </a:ext>
            </a:extLst>
          </p:cNvPr>
          <p:cNvCxnSpPr/>
          <p:nvPr/>
        </p:nvCxnSpPr>
        <p:spPr>
          <a:xfrm xmlns:a="http://schemas.openxmlformats.org/drawingml/2006/main">
            <a:off x="4476750" y="2952750"/>
            <a:ext cx="142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18404-4AE8-45B4-B12D-4B6577F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handover：车换基站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AE2DD-4ED0-4F6C-A429-FE7ED6F892F8}"/>
              </a:ext>
            </a:extLst>
          </p:cNvPr>
          <p:cNvCxnSpPr/>
          <p:nvPr/>
        </p:nvCxnSpPr>
        <p:spPr>
          <a:xfrm xmlns:a="http://schemas.openxmlformats.org/drawingml/2006/main">
            <a:off x="3543300" y="3238500"/>
            <a:ext cx="2362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4A24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13D5D-D4BB-4165-8B41-E00C47B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14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migration：状态换服务器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E34BD-2A8E-4192-8B0C-933986EE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这两件事不是一回事。车可能已经连到 B，但服务状态还在 A。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27986-57F2-48E9-BDE3-31E8B61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5FDE5-860F-4EFE-BADF-2DAB4893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handover 是“车换基站”，migration 是“状态换服务器”。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284E1-5A98-498D-B489-7D0EB5C1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33915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8359A-22C6-49B9-A6B1-B80881E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背景知识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44F0B-5ABF-4997-BD1D-EC8168C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服务里到底要搬什么：base、delta、restore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AF701-990A-4F1D-B794-FBC7D59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1888-2D69-49B4-8F4C-7661BA8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状态 = 服务的“记忆”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E41B-21D3-4640-9EB4-A08AC419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视频播放到第几分钟。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导航当前走到哪条路。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缓存了哪些地图和视频。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这些都要跟着车走。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F1763-FDB6-4532-84A4-D51DC9BF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B5ABE-380E-447C-ABD0-0BFAE3A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952D9-A331-4F39-BC3E-0FB0D85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上次保存的完整状态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5D796-353D-461B-9DEB-9225E3AD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79749-41EC-45FD-A3B2-8ADA89A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52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delta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8A0BC-E7EE-410C-8FB8-747EE88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从上次快照之后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变化的部分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490D1-4870-45B0-9166-F60CDB3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DAF2C-7059-45A3-BA0C-0CDE004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EE8A6-6F83-46CB-AAC6-4583C21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+ restore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恢复成可运行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3D1ED-5685-43A6-BE87-34E4FFE7FEF7}"/>
              </a:ext>
            </a:extLst>
          </p:cNvPr>
          <p:cNvCxnSpPr/>
          <p:nvPr/>
        </p:nvCxnSpPr>
        <p:spPr>
          <a:xfrm xmlns:a="http://schemas.openxmlformats.org/drawingml/2006/main">
            <a:off x="6858000" y="2552700"/>
            <a:ext cx="381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E9488-0C71-4911-8AC4-A24D3C8F7398}"/>
              </a:ext>
            </a:extLst>
          </p:cNvPr>
          <p:cNvCxnSpPr/>
          <p:nvPr/>
        </p:nvCxnSpPr>
        <p:spPr>
          <a:xfrm xmlns:a="http://schemas.openxmlformats.org/drawingml/2006/main">
            <a:off x="9334500" y="2552700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C6977-237D-458C-A36B-6F9324A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676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24DC4-6BA4-457E-8E89-274EF670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634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如果目标节点没有 base：只能搬全量。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3BBC6-8BBC-4D27-906F-4E72A773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24300"/>
            <a:ext cx="634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这叫 cold target，是增量策略最大的风险。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58ABC-5892-4D3A-9CB0-8817CF7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目标节点有 base，就只传 delta；没有 base，就要传全量。恢复也要时间。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24924-9C83-4A6C-B62F-0F3353EC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32141-2689-4885-A259-65901CF6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增量不是免费的，它依赖目标节点有没有 base。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66664-BE9A-4C30-828A-54B1A293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0978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B457A-14D8-47D6-9400-D708477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背景知识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44017-E901-46F7-84C6-46230A5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搬家不只看箱子多少，还要看占用时间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2CD1E-4D3C-4A01-81EE-3D501709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BDB30-5F50-4741-9F44-84AE58B9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0A09B-9696-4281-8FAE-BCA29DE9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28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搬了多少 MB 或 GB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0D47D-D3F1-48B2-8013-295BF7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383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像箱子总重量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D2883-8BA7-4CF9-8ED0-B8D817D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2EDE4-414E-410D-AF1E-477D430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1825B-E198-4043-A247-BA2312F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05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占用了网络多久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C8BFB-4AB6-4DBB-9371-8D4DE7A5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像电梯被占了几分钟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0767A-CD0D-488F-AC05-D6F78C39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AF841-E856-4162-A418-76ECC001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AFC30-BFC4-489D-89BD-BCDF5AF7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81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到了之后整理、重启多久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F8973-B836-4F62-80D7-99F07585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90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像拆箱、摆货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D6C1C-DBE9-4E7B-8B69-5B2A59C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1D2F7-52DA-4FA7-9743-3DC432C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119A7-CB95-48CC-900F-F8712C5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服务断了多久、还要等多久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5D570-FE4B-4DC1-A589-6F9D6308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67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像顾客排队时间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9BE67-14D3-4B4C-9448-E99510D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C3196-F940-49C0-B260-0D47F92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同一个 100 GB，占用 10 秒和占用 100 秒，代价完全不同。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53CFB-F3B8-4F74-B813-12F671F1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5D9CE-23C4-4AAD-B205-8D43D69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 GB，会低估迁移对链路和用户的实际占用。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03852-8798-48A7-A1E3-87ABA4B5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0744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3306579-3DC3-49D3-927A-9F590DD4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系统实现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14B2-FF17-4CED-B12F-575370AD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系统拓扑：两张图不要混在一起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522FE-C247-4A58-9382-B7896D5E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F6FAF-CD15-4792-9844-F6F1CC9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B8CB7-A0C6-4F13-A587-B302C21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418AB-82B4-404C-BD16-7BA94156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E028B-F6D6-40B3-BB61-0C11F39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098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2A541-A1FA-43CC-B4DE-89F9AF38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E6A97-4EB3-4CA9-9A71-90539C12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5403B-6EDA-4C54-8CCA-B1E96693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BA4EB-D077-41C9-9DB8-27F0F8B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DCBE7-C308-4A33-B590-D7E139E7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69499-6AA4-4614-B2F7-248B4236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146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742DF-51E6-4CF0-9D1C-66F2BC12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861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49FC2-9A33-4CAD-B48F-E17BA971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146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6D01C-6356-4103-9B86-CC8359EB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E537A-5E8C-4DF8-8563-9E4EA6E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BBA4E-168A-4E6C-9294-72EE2C7C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76D03-B779-4B67-9A2A-99148B97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909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1CD38-4B36-4852-9333-374E8D2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9097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04C14-66AD-4C5E-9D66-26F82D43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932BC-1AB9-4D76-AEDC-FF7977B7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0C3C0-770A-4895-9A00-F92812B0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4AFB6-7271-4655-94C1-B16C78A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A54F7-CC2C-4868-8A26-AE8B04D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AFEA0-52A3-42CE-9BA1-4D22785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669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BD64A-6D12-4628-BE8F-1FBA86CC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8FCF9-2F10-4FB0-97D0-57B46F9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050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3119B-AEBC-46F4-88B8-EE6866E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812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EC944-6640-403C-AF5F-E715FA8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7B6286-FA32-4E4A-B5D3-04E720BD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669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89969-6B10-47BD-9D15-CF687D18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4004A1-A1AE-487D-AF11-EC636EA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050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E5F96-79A2-48F6-B17A-D9B951B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CDCE9-5E6B-4ADF-B733-4C62F5D6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4F308E-9EAE-4A9F-8D4B-798DEA3F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669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10CAFC-A31C-4C24-A0D2-85AEF2D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D4562E-590B-4654-917D-2039ACF1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050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56A9C-9E2D-47F3-8FCB-9604B51F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000C5D-28E2-4DC6-ACE1-B933865E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17415D-D901-4E18-B04B-7DDD183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669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B84A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5D48F6-D2FA-40CF-A785-2E9CB7FB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62C0E4-1D84-451D-993A-D1693A79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169D85-3602-4FB4-A53F-3EB9D2E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59272B-CCAE-4398-92D2-0B17A35A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362710-EF86-4112-9E34-ECEADCB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46EBB0-D9D6-4F27-AAB3-1FE0BDB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882DE3-36A5-4703-B42F-F3DDCEE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174616-9E8B-422B-95A6-307F3584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813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C3D173-B571-49D9-892F-0A653261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575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8EDE-82CC-4EEB-BF10-59D820FC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76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5CB2E5-0FD3-4858-8DB8-58A2433A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3C4703-7473-4E79-B0B6-5BB90598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91DF59-363F-4B2F-89D1-3D80A6A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391701-8FAF-451E-914F-DDCBA229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865653-A784-4053-8924-6922D4E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3EE6D6-81CD-4929-9EB7-86F50772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F5B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912B10-33FA-46F0-BD69-8689ED23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432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8C97F0-F274-4BA7-B9D2-818039F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B5895A-C34E-433C-8219-A8D90A96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9BE80E-8DC1-469D-825D-239B022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781B11-6FED-4152-9474-95188102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76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76141A-EEA2-4FA7-9ABF-A03BD25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D1C428-8736-4A71-965A-B78B453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8D1E89-7325-4017-9500-079CCE8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3139D2-B847-4830-A518-FD649271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058F6B-DE4A-47D4-A6D6-80589F5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AA75D7-2E69-4252-925E-BF6C8838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195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BAC54E-841D-4898-963D-9CCB2C6B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C3B7CD-13EC-45D7-83AF-EADE580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576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4967C8-E75E-4A4C-8797-6C4E8E9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338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F8849D-9274-458D-88A5-8C9D8AA5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52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1CCBE7-A0B7-410D-B7AD-98D9731D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76E6D7-19BD-49B8-853C-E8FB4124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1E379E-6A99-46BD-BBAE-C18DB5D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576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486AF7-9BF8-4B08-8C4F-3EB4CDBA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338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1D6062-E9D0-44A1-A6D8-3FE80C5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52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099426-2C87-400A-A489-51310B48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664B03-AB9B-45BF-AB07-F8C6C49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3941A4-AEC9-40D6-9ED5-7584A6BA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576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8060C1-CF8B-40DD-AF2D-22133D7D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DF5171-132F-4E28-90B3-6383211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52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C774880-550A-4780-8648-7A8A67A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33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4546FF-E66F-4102-B420-CE3C231D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33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B511F8-C70B-4B6A-B6DB-53327993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57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56FCBD-621D-4AFA-8824-46CCB9A2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57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D8B592-FF17-4F61-904A-507F945F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57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1F00508-E5E2-4868-819B-6F1BECE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81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ED8313B-5B89-44A4-927D-88038F6625A1}"/>
              </a:ext>
            </a:extLst>
          </p:cNvPr>
          <p:cNvCxnSpPr/>
          <p:nvPr/>
        </p:nvCxnSpPr>
        <p:spPr>
          <a:xfrm xmlns:a="http://schemas.openxmlformats.org/drawingml/2006/main">
            <a:off x="3619500" y="3114675"/>
            <a:ext cx="123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96C307-4A74-4B8D-ACE0-59265A6CE14C}"/>
              </a:ext>
            </a:extLst>
          </p:cNvPr>
          <p:cNvCxnSpPr/>
          <p:nvPr/>
        </p:nvCxnSpPr>
        <p:spPr>
          <a:xfrm xmlns:a="http://schemas.openxmlformats.org/drawingml/2006/main">
            <a:off x="4857750" y="1676400"/>
            <a:ext cx="95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4AF4CC-49CE-4CD1-B8F9-47CF126DEE61}"/>
              </a:ext>
            </a:extLst>
          </p:cNvPr>
          <p:cNvCxnSpPr/>
          <p:nvPr/>
        </p:nvCxnSpPr>
        <p:spPr>
          <a:xfrm xmlns:a="http://schemas.openxmlformats.org/drawingml/2006/main">
            <a:off x="4210050" y="1676400"/>
            <a:ext cx="647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B75CFC6-96EE-4A6E-8B96-02D1F5CA844C}"/>
              </a:ext>
            </a:extLst>
          </p:cNvPr>
          <p:cNvCxnSpPr/>
          <p:nvPr/>
        </p:nvCxnSpPr>
        <p:spPr>
          <a:xfrm xmlns:a="http://schemas.openxmlformats.org/drawingml/2006/main">
            <a:off x="4210050" y="1676400"/>
            <a:ext cx="95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  <a:tailEnd type="arrow" w="lg" len="lg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AFFC9E-D4A7-4995-AA27-D814CD7D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90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状态迁移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600F712-F63E-41B0-8C5B-F7005D1F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669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892199-737C-484F-8C89-8DDF3827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两张图要分开看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0BDCDE-4AA8-4D25-85D0-F23FB1B2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241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移动图：车经过哪些 cell。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网络图：交换机之间怎么连。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 连通是网络连法，不是车的行驶限制。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0193DC4-46CA-43F7-A2FE-A64AC5B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DATA7：30 个真实 gNB，62 条链路。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SF / Rome：16×16 网格。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5D5395-AA66-4AD2-9F7F-8F6B8A9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青框：当前 cell    橙框：目标 cell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青点：车辆路径    橙箭头：状态迁移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4B7630-E307-4322-9108-3C3276AD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EFF859-BBFB-4BFF-8697-AC0BCEA5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cell 归属和网络路由是两张图，不能混在一起。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A52846-94E9-4EA6-B12B-C6931F33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86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A9F1B-F39E-4747-A7F9-19CB3969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C3110-89A1-4289-A0C1-C169D25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为什么用仿真：真实城市做上千次切换不现实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F5AD1-93D0-4E2A-81CE-AA63DD2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2AEDA-7E2D-490E-B79B-BD5E355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仿真能做什么：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1. 控制变量：带宽、速度、车辆数。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2. 重复实验：同一个场景跑很多次。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3. 覆盖真实轨迹：DATA7、SF、Rome。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CD18D-C3D0-4596-89BE-CA36C4CD1072}"/>
              </a:ext>
            </a:extLst>
          </p:cNvPr>
          <p:cNvGraphicFramePr/>
          <p:nvPr/>
        </p:nvGraphicFramePr>
        <p:xfrm>
          <a:off xmlns:a="http://schemas.openxmlformats.org/drawingml/2006/main" x="5143500" y="1809750"/>
          <a:ext xmlns:a="http://schemas.openxmlformats.org/drawingml/2006/main" cx="63627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31470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可控假设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DATA7：30 个真实 gNB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链路带宽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 / Rome：出租车轨迹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状态增长率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4 类服务的数据流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恢复速率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网络时延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镜像层大小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SUMO 车流（DATA7）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服务算力与内存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87D3D-A9A1-41FE-966D-DD01DED3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注意：DATA7 的基站位置是真实的，车辆轨迹是 SUMO 生成的，不是真实 GPS。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90E0D-E64C-4F3A-A7A9-A61CD243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55768-81DB-4B10-A343-99C8B99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真实拓扑与轨迹，加上可控的网络和服务参数。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FFA38-36C8-4734-9DD0-047F967A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6677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2D139-30B3-40B4-8E26-F4C2FAC4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服务模型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1391A-E1DB-413C-8EC2-69EE058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四类 MEC 服务：它们搬的东西不一样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1D23D-A5CD-4661-8F21-8EDE238A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07FD3-EE7C-4086-A577-82BE7576CCE8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2667000"/>
                <a:gridCol w="3048000"/>
                <a:gridCol w="320040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终端传什么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边缘算什么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状态 / 镜像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GPS、航向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路径重规划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5 MB / 370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播放位置、码率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转码、选片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200 MB / 540 MB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传感器、遥测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上下文匹配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3 MB / 205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探针、雷达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时空聚合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1B1B19"/>
                          </a:solidFill>
                        </a:rPr>
                        <a:t>80 MB / 295 MB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DD2AD-B284-46D7-82B5-27842EF5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这些是代表性参数，大小差两个数量级。不是运营商实测分布。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9927D-0B75-40DB-8DA1-50811122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ABC9A-8250-48C4-846D-5E2743BB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服务不是一样大的，迁移策略不能一刀切。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4F350-CE01-46E0-9A71-2042E5A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6265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21F4F-B57D-485B-9187-110EAA1C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  实验一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AC488-8EF9-4A72-A9DB-5D9E9670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最直接的做法：车到哪，服务搬到哪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BF092-7FC1-4C33-81BE-240B1E2F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E26B1-332C-420E-B7A8-2BA85F8D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3D1DE-102A-49E0-8032-94B379B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服务中断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8AF8F-886A-443C-A457-2B5C89A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345 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CB2C6-521D-472A-AE8D-9A3F592D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88784-987E-4737-BA2F-0276CA6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190A5-DD6B-4116-911E-AF07193B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开销比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5823F-D461-41B6-B200-4CFBEDE28CA6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26670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108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DBF07-C659-4CA9-A4F8-F253A360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81F22-7122-4CCB-9FCD-E83D6F30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大状态服务主导开销：信息娱乐一个服务就占 215 GB。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8A7BE-A760-475C-845E-071F3771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6524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B1922-76D0-4829-A334-6246773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  实验二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0AE0F-C650-4248-986F-F08ACCA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少搬一点：增量到底能省多少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B4700-DB2B-4759-B9D5-4853026D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10D79-FF69-4336-9715-066B897160DB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200025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冷目标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字节节省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中断（全量）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中断（增量）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2.4%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A5864-1E37-42DC-B6D2-B029579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冷目标 = 目标节点没有 base。冷目标越多，增量越接近全量。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32857-126D-4B5A-A4D0-5735EC1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4191B-538C-4F6A-83CD-6386996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增量收益取决于 base 命中，不是一个固定倍数。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08E1-403F-4743-AD8C-F5AED401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877061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13514-EEBA-43D9-A3CC-7FEEBEB2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13  实验三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992A5-DD4D-431D-8777-1982568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车更快、网更差，会发生什么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06664-EF79-4947-B716-C090429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48251-45E4-4805-8B04-9F59A8FB87AF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2095500"/>
                <a:gridCol w="2095500"/>
                <a:gridCol w="39052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 ≥ 50% 起点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65.7%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12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 Gbps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 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30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30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29274-A548-4281-A9A0-0E15237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同一策略，带宽和负载一变，可能从“可接受”直接变成“不可用”。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8C234-F413-46EB-AD0C-A2AC2EF7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E6154-5C91-42C2-8B5B-DE8AC9C6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需求除以容量，决定系统什么时候撑不住。速度只是放大器。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CCA6F-33A1-4A6E-BA78-F91B5623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90530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2E508-01C2-4329-AF04-FC3F4040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14  实验四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00043-845C-456E-A3ED-4911182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提前搬：预测准了才划算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1040B-B372-4DC9-BA17-C341D97E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73391-1452-45C7-A1E1-23468D6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预测器 = 在车到边界之前，猜它下一个会去哪个 cell。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25911-8E3A-46F1-A8A9-6B13DF774AEA}"/>
              </a:ext>
            </a:extLst>
          </p:cNvPr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809750"/>
                <a:gridCol w="1809750"/>
                <a:gridCol w="2219325"/>
                <a:gridCol w="221932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预测器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到达后滞后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oracle（上限）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1.7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一阶马尔可夫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192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last-direction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214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10.9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reactive 全量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140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7.8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7E323-457E-43D4-BEE7-9AD7DFE8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预测错就会搬到错误节点，再重迁一次。迁移数据反而比不预测更多。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AF047-81AE-4F92-AA30-64E066BF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00BE3-A66C-43D2-B9FC-05155EE0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预测质量决定 proactive 是省钱还是烧钱。oracle 只能当上限。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AE0A5-E868-462C-ABDC-8804DF45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25938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CA3D2-B2A3-4BA0-9A02-81FF8B8B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15  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584BC-EBF3-4E37-8406-5276C16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三句话总结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91783-E880-4876-A24A-F0F0C455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A55DD-1922-480A-99E1-C381EBD5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3B703-858F-419A-AFDF-7D0CD41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开销不是单一字节数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74A4D-A90F-48DA-B4E6-4A669ED5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要同时看数据量、占用时间、恢复时间和用户中断。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D5A04-B5E5-4FEF-8F31-093351AB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C0775-27BC-41CA-9C4E-F6A21C1B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增量的关键是 base 在不在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66714-EE5B-425A-810B-1D55C113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目标节点有 base 才便宜，没有 base 就要回退全量。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A9A2A-6E87-4523-809E-82E59914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DC4D5-ACDC-4C46-A5B2-C514545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86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提前搬的关键是预测准不准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EE403-147C-4170-ACA2-6BBF206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386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预测错会比不预测更贵，oracle 只能当上限。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55AF7-FB59-4AFC-A5BE-7E359F20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没有单一最优策略。要按带宽、负载、速度的组合来选择。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44A38-03F6-4C7B-98A4-127AC36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9ABE0-10C2-448A-BC57-215AA16C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这些正是项目里密文增量与同步机制要付的系统成本。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1DDE7-E0AE-471D-A40B-1ABF56D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2213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5E268-6B54-4898-AC75-9BBB04E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16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13E8A-2A3D-4ED3-8BEA-E44002D6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把 base 和隐私一起考虑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17337-039D-48F6-8AE6-7D204BE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70085-F5A1-4822-9BBB-C70F7894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A68FC-C3BE-4B61-A314-677F58EF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DDFF6-B5A3-45F4-B829-69FD65C4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哪些节点值得预热，复制间隔多长。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43195-F90B-4552-9AEF-1A142EB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AF453-13B5-4320-B431-56D5F54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隐私侧信道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2BF82-B362-4721-A83F-319234C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迁移时刻与通信端点会泄露移动轨迹。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70239-8A5E-45E9-B2F3-F786A979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B852C-1B03-4115-86C9-C332B6DA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小规模 testbed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31778-A6C2-4142-8072-1D1943FD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用真实节点验证仿真结论。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DECC0-0148-45DE-9378-8332D57E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先系统，后安全。两者共用同一套开销账。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1DE69-522F-4A13-B283-02929BC0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ECED7-1C3D-487C-8855-5CC26A1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下一步把 base 放置与隐私保护放进同一个评估框架。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7339A-23FD-4C8E-BE54-1F8A170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572163"/>
      </p:ext>
    </p:extLst>
  </p:cSld>
</p:sld>
</file>

<file path=ppt/theme/theme1.xml><?xml version="1.0" encoding="utf-8"?>
<a:theme xmlns:a="http://schemas.openxmlformats.org/drawingml/2006/main" name="ChatGPT">
  <a:themeElements>
    <a:clrScheme name="Storage Systems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2026-10-21T08:43:58.2080000Z</dcterms:created>
  <dcterms:modified xsi:type="dcterms:W3CDTF">2026-10-21T08:43:58.2080000Z</dcterms:modified>
</coreProperties>
</file>