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e3fe38b724c82" /><Relationship Type="http://schemas.openxmlformats.org/officeDocument/2006/relationships/extended-properties" Target="/docProps/app.xml" Id="R2759c60ed9e140be" /><Relationship Type="http://schemas.openxmlformats.org/officeDocument/2006/relationships/officeDocument" Target="/ppt/presentation.xml" Id="R7087a8395f21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3c347c8032496e"/>
  </p:sldMasterIdLst>
  <p:notesMasterIdLst>
    <p:notesMasterId xmlns:r="http://schemas.openxmlformats.org/officeDocument/2006/relationships" r:id="R37d2455dc9d044d8"/>
  </p:notesMasterIdLst>
  <p:sldIdLst>
    <p:sldId xmlns:r="http://schemas.openxmlformats.org/officeDocument/2006/relationships" id="256" r:id="Rd1acff0931574c1a"/>
    <p:sldId xmlns:r="http://schemas.openxmlformats.org/officeDocument/2006/relationships" id="257" r:id="Rb1d3769c46a64e1e"/>
    <p:sldId xmlns:r="http://schemas.openxmlformats.org/officeDocument/2006/relationships" id="258" r:id="Raf2afa40bba4451f"/>
    <p:sldId xmlns:r="http://schemas.openxmlformats.org/officeDocument/2006/relationships" id="259" r:id="Rb73a15ceda4e45da"/>
    <p:sldId xmlns:r="http://schemas.openxmlformats.org/officeDocument/2006/relationships" id="260" r:id="R6abeca7c79ab4eb2"/>
    <p:sldId xmlns:r="http://schemas.openxmlformats.org/officeDocument/2006/relationships" id="261" r:id="R14660af85f864da2"/>
    <p:sldId xmlns:r="http://schemas.openxmlformats.org/officeDocument/2006/relationships" id="262" r:id="Rb4ab59d49bb644bc"/>
    <p:sldId xmlns:r="http://schemas.openxmlformats.org/officeDocument/2006/relationships" id="263" r:id="Rea67b895ada34b15"/>
    <p:sldId xmlns:r="http://schemas.openxmlformats.org/officeDocument/2006/relationships" id="264" r:id="Rbdfd7f4e109d448e"/>
    <p:sldId xmlns:r="http://schemas.openxmlformats.org/officeDocument/2006/relationships" id="265" r:id="R3dd1d10ab9e3494f"/>
    <p:sldId xmlns:r="http://schemas.openxmlformats.org/officeDocument/2006/relationships" id="266" r:id="R78714869c2834576"/>
    <p:sldId xmlns:r="http://schemas.openxmlformats.org/officeDocument/2006/relationships" id="267" r:id="Re00cbda1ebc7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d630ccf2a480d" /><Relationship Type="http://schemas.openxmlformats.org/officeDocument/2006/relationships/slideMaster" Target="/ppt/slideMasters/slideMaster1.xml" Id="Ra33c347c8032496e" /><Relationship Type="http://schemas.openxmlformats.org/officeDocument/2006/relationships/notesMaster" Target="/ppt/notesMasters/notesMaster1.xml" Id="R37d2455dc9d044d8" /><Relationship Type="http://schemas.openxmlformats.org/officeDocument/2006/relationships/presProps" Target="/ppt/presProps.xml" Id="R1cf2a5bfabc94c51" /><Relationship Type="http://schemas.openxmlformats.org/officeDocument/2006/relationships/tableStyles" Target="/ppt/tableStyles.xml" Id="Rf2080155f64e41d1" /><Relationship Type="http://schemas.openxmlformats.org/officeDocument/2006/relationships/slide" Target="/ppt/slides/slide1.xml" Id="Rd1acff0931574c1a" /><Relationship Type="http://schemas.openxmlformats.org/officeDocument/2006/relationships/slide" Target="/ppt/slides/slide2.xml" Id="Rb1d3769c46a64e1e" /><Relationship Type="http://schemas.openxmlformats.org/officeDocument/2006/relationships/slide" Target="/ppt/slides/slide3.xml" Id="Raf2afa40bba4451f" /><Relationship Type="http://schemas.openxmlformats.org/officeDocument/2006/relationships/slide" Target="/ppt/slides/slide4.xml" Id="Rb73a15ceda4e45da" /><Relationship Type="http://schemas.openxmlformats.org/officeDocument/2006/relationships/slide" Target="/ppt/slides/slide5.xml" Id="R6abeca7c79ab4eb2" /><Relationship Type="http://schemas.openxmlformats.org/officeDocument/2006/relationships/slide" Target="/ppt/slides/slide6.xml" Id="R14660af85f864da2" /><Relationship Type="http://schemas.openxmlformats.org/officeDocument/2006/relationships/slide" Target="/ppt/slides/slide7.xml" Id="Rb4ab59d49bb644bc" /><Relationship Type="http://schemas.openxmlformats.org/officeDocument/2006/relationships/slide" Target="/ppt/slides/slide8.xml" Id="Rea67b895ada34b15" /><Relationship Type="http://schemas.openxmlformats.org/officeDocument/2006/relationships/slide" Target="/ppt/slides/slide9.xml" Id="Rbdfd7f4e109d448e" /><Relationship Type="http://schemas.openxmlformats.org/officeDocument/2006/relationships/slide" Target="/ppt/slides/slide10.xml" Id="R3dd1d10ab9e3494f" /><Relationship Type="http://schemas.openxmlformats.org/officeDocument/2006/relationships/slide" Target="/ppt/slides/slide11.xml" Id="R78714869c2834576" /><Relationship Type="http://schemas.openxmlformats.org/officeDocument/2006/relationships/slide" Target="/ppt/slides/slide12.xml" Id="Re00cbda1ebc7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cd0813a3444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5c21c4c6c4171" /><Relationship Type="http://schemas.openxmlformats.org/officeDocument/2006/relationships/notesMaster" Target="/ppt/notesMasters/notesMaster1.xml" Id="R45f5bfbfb21f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bf60a956e4b87" /><Relationship Type="http://schemas.openxmlformats.org/officeDocument/2006/relationships/notesMaster" Target="/ppt/notesMasters/notesMaster1.xml" Id="Rf6bb07da4148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44fed0b6d417a" /><Relationship Type="http://schemas.openxmlformats.org/officeDocument/2006/relationships/notesMaster" Target="/ppt/notesMasters/notesMaster1.xml" Id="R493ab7ef749c4a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9b1daafbe64d63" /><Relationship Type="http://schemas.openxmlformats.org/officeDocument/2006/relationships/notesMaster" Target="/ppt/notesMasters/notesMaster1.xml" Id="R07cf511ebaf44b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0b52a108bc4bbd" /><Relationship Type="http://schemas.openxmlformats.org/officeDocument/2006/relationships/notesMaster" Target="/ppt/notesMasters/notesMaster1.xml" Id="R19d1b9dcdfde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3ec1df3e854200" /><Relationship Type="http://schemas.openxmlformats.org/officeDocument/2006/relationships/notesMaster" Target="/ppt/notesMasters/notesMaster1.xml" Id="Rc386074f2c634c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879fff3514577" /><Relationship Type="http://schemas.openxmlformats.org/officeDocument/2006/relationships/notesMaster" Target="/ppt/notesMasters/notesMaster1.xml" Id="R5fc8cb65d49d48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e6b3ac32714662" /><Relationship Type="http://schemas.openxmlformats.org/officeDocument/2006/relationships/notesMaster" Target="/ppt/notesMasters/notesMaster1.xml" Id="R209bf5212a134e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937ba91cbb4212" /><Relationship Type="http://schemas.openxmlformats.org/officeDocument/2006/relationships/notesMaster" Target="/ppt/notesMasters/notesMaster1.xml" Id="R16c04979521b49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ede348e2144959" /><Relationship Type="http://schemas.openxmlformats.org/officeDocument/2006/relationships/notesMaster" Target="/ppt/notesMasters/notesMaster1.xml" Id="R79198ac5d5b747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d053c7c49f41c2" /><Relationship Type="http://schemas.openxmlformats.org/officeDocument/2006/relationships/notesMaster" Target="/ppt/notesMasters/notesMaster1.xml" Id="Rdca22e6b05794b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51401526354645" /><Relationship Type="http://schemas.openxmlformats.org/officeDocument/2006/relationships/notesMaster" Target="/ppt/notesMasters/notesMaster1.xml" Id="R511db57e6353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各位老师好。我汇报的是项目里跨边状态迁移的子课题。今天先讲系统怎么实现，再讲做了哪些实验，结论会贯穿每一页。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老师项目里有三条挑战。我对应的是第二条和第三条：加密后的增量识别，以及跨边同步的隐私。当前阶段先不做加密，先把系统开销算清楚，否则后面安全机制的代价没有对照。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这是系统拓扑。每个格子是一个 cell，里面一个 gNB 和一个 edge server。车跨 cell 触发 handover，状态从当前 edge server 迁到目标 edge server。虚线是车辆路径，橙箭头是这次状态迁移。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每个节点可以保存一份 base snapshot。目标有 base 就传 delta，没有就回退全量。传完还要 apply 和 restart。所以增量不是免费的，收益取决于 base 在不在。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拓扑和移动来自真实数据。DATA7 是真实 gNB 加 SUMO 轨迹，SF 和 Rome 是真实出租车。带宽、状态大小、恢复速率是可控假设。这样既能贴近现实，又能做参数扫描。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开销我分四层看：数据量、带宽-时间、恢复、用户侧中断。只看 GB 会漏掉传输占用了多久、恢复要多久、用户等了多久。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DATA7 上 follow-me 全量迁移，40 km/h 就有 48.8% 中断，345 GB，开销比 48 倍。信息娱乐一个服务占 215 GB。这解释了为什么不能把所有服务一视同仁。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换增量以后，DATA7 冷目标只有 17%，省 74% 字节。但合成数据 93% 是冷目标，只省 2.4%。所以 delta 的收益不是一个固定倍数，取决于 base 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压力矩阵跑了五个场景、四种策略、四个速度。100 Mbps 12 车 20 km/h 就崩，500 Mbps 30 车 40 km/h 崩，1 Gbps 12 车到 90 还没崩。速度是放大器，带宽和负载是底数。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预测器对比很关键。oracle 100%，一阶马尔可夫 49%，last-direction 21%。差预测会让迁移数据从 140 GB 涨到 214 GB，比不预测更贵。pre-copy 能掩盖中断，但掩盖不了状态落后。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三条结论。第一，overhead 要按 bytes 加 time 加 restore 算。第二，delta 是 base locality 问题。第三，proactive 是预测质量问题。没有单一最优策略。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下一步做 base placement 和隐私侧信道。先系统后安全，两者共用同一套开销账。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98cfe17bc4a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4c3d06e9a4f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7b6bc45be4a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9c0d539ec41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b7e39529e46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2cbb12630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77FB6-1982-4667-BA75-CD051BF23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097049-CDD5-4D11-A9DA-DD2C1F0D50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CB8E02-59A9-47C9-B1D5-095C17A66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80D5E-15D4-4655-966E-A801C060A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12D82-B775-4BDE-AF58-2DFBEF809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8AD52D-95FE-4C2F-A1B5-E5E801A914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1E2309-ED86-4BF0-BE04-8548932AE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823128-B55A-44C5-86C9-2EDB3963C9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52C2-9B05-4580-87FE-CFB9D8D8D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C1D62-1BDF-4563-A836-D1D183C19F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c31a7309b4ec1" /><Relationship Type="http://schemas.openxmlformats.org/officeDocument/2006/relationships/slideLayout" Target="/ppt/slideLayouts/slideLayout1.xml" Id="R829da60d9f6340f8" /><Relationship Type="http://schemas.openxmlformats.org/officeDocument/2006/relationships/slideLayout" Target="/ppt/slideLayouts/slideLayout2.xml" Id="Rb862bff8cdff4a07" /><Relationship Type="http://schemas.openxmlformats.org/officeDocument/2006/relationships/slideLayout" Target="/ppt/slideLayouts/slideLayout3.xml" Id="Rc6334096eb0548a9" /><Relationship Type="http://schemas.openxmlformats.org/officeDocument/2006/relationships/slideLayout" Target="/ppt/slideLayouts/slideLayout4.xml" Id="Rc2291ed03a084799" /><Relationship Type="http://schemas.openxmlformats.org/officeDocument/2006/relationships/slideLayout" Target="/ppt/slideLayouts/slideLayout5.xml" Id="R3f7aa9ce68294ccf" /><Relationship Type="http://schemas.openxmlformats.org/officeDocument/2006/relationships/slideLayout" Target="/ppt/slideLayouts/slideLayout6.xml" Id="R8f268782ed55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da60d9f6340f8"/>
    <p:sldLayoutId xmlns:r="http://schemas.openxmlformats.org/officeDocument/2006/relationships" id="2147483650" r:id="Rb862bff8cdff4a07"/>
    <p:sldLayoutId xmlns:r="http://schemas.openxmlformats.org/officeDocument/2006/relationships" id="2147483651" r:id="Rc6334096eb0548a9"/>
    <p:sldLayoutId xmlns:r="http://schemas.openxmlformats.org/officeDocument/2006/relationships" id="2147483652" r:id="Rc2291ed03a084799"/>
    <p:sldLayoutId xmlns:r="http://schemas.openxmlformats.org/officeDocument/2006/relationships" id="2147483653" r:id="R3f7aa9ce68294ccf"/>
    <p:sldLayoutId xmlns:r="http://schemas.openxmlformats.org/officeDocument/2006/relationships" id="2147483654" r:id="R8f268782ed55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ab586a5f045a1" /><Relationship Type="http://schemas.openxmlformats.org/officeDocument/2006/relationships/notesSlide" Target="/ppt/notesSlides/notesSlide1.xml" Id="R5c9b8cfc664245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be036efe1413a" /><Relationship Type="http://schemas.openxmlformats.org/officeDocument/2006/relationships/notesSlide" Target="/ppt/notesSlides/notesSlide2.xml" Id="R17c6839d596741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da1d839804138" /><Relationship Type="http://schemas.openxmlformats.org/officeDocument/2006/relationships/notesSlide" Target="/ppt/notesSlides/notesSlide3.xml" Id="R7d7de5df4b76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6756a91ca4e6f" /><Relationship Type="http://schemas.openxmlformats.org/officeDocument/2006/relationships/notesSlide" Target="/ppt/notesSlides/notesSlide4.xml" Id="R42df5e0594f546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e8c5ab4664631" /><Relationship Type="http://schemas.openxmlformats.org/officeDocument/2006/relationships/notesSlide" Target="/ppt/notesSlides/notesSlide5.xml" Id="Rf22088bc6e0d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e5429817c47f9" /><Relationship Type="http://schemas.openxmlformats.org/officeDocument/2006/relationships/notesSlide" Target="/ppt/notesSlides/notesSlide6.xml" Id="R26919c9b893a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ac3c57b344793" /><Relationship Type="http://schemas.openxmlformats.org/officeDocument/2006/relationships/notesSlide" Target="/ppt/notesSlides/notesSlide7.xml" Id="R5915d0ac5ab943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21a33435d42a8" /><Relationship Type="http://schemas.openxmlformats.org/officeDocument/2006/relationships/notesSlide" Target="/ppt/notesSlides/notesSlide8.xml" Id="R79eac758ee3647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aeaf35f2e466a" /><Relationship Type="http://schemas.openxmlformats.org/officeDocument/2006/relationships/notesSlide" Target="/ppt/notesSlides/notesSlide9.xml" Id="R06e13fd8976240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1c49b6fc047d8" /><Relationship Type="http://schemas.openxmlformats.org/officeDocument/2006/relationships/notesSlide" Target="/ppt/notesSlides/notesSlide10.xml" Id="R064d759337bb49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18294b3274dde" /><Relationship Type="http://schemas.openxmlformats.org/officeDocument/2006/relationships/notesSlide" Target="/ppt/notesSlides/notesSlide11.xml" Id="R79920425ce7b46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f3453ebf347f5" /><Relationship Type="http://schemas.openxmlformats.org/officeDocument/2006/relationships/notesSlide" Target="/ppt/notesSlides/notesSlide12.xml" Id="R64839f56d130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2E70C-9F41-4D47-81B3-B277709D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子课题汇报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A0BA-E9D4-4820-BB2E-A41EBAB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990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跨边服务状态迁移的 overhead 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74ADC-217D-480B-BBD0-D1467DC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EF979-7F98-416B-B8E8-FB9EB3D7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面向云边存储的数据安全缩减技术研究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B07CE-72BE-43DA-9C62-7EB34E3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先把 base、delta、restore 和预测的系统账算清，再谈安全机制。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2BC5-3BCC-41A3-8034-9704C7C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C6C1"/>
                </a:solidFill>
                <a:latin typeface="Microsoft YaHei"/>
                <a:ea typeface="Microsoft YaHei"/>
                <a:cs typeface="Microsoft YaHei"/>
              </a:rPr>
              <a:t>汇报人：________</a:t>
            </a:r>
          </a:p>
        </p:txBody>
      </p:sp>
    </p:spTree>
    <p:extLst>
      <p:ext uri="{BB962C8B-B14F-4D97-AF65-F5344CB8AC3E}">
        <p14:creationId xmlns:p14="http://schemas.microsoft.com/office/powerpoint/2010/main" val="87708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E187F-9B6B-471B-900B-A74969C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项目位置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5DF94-F9A2-430D-9BDA-9015931A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本子课题对应项目里的第二条和第三条挑战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FB281-8678-4C74-AFB2-5AA8F2C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A3862-9368-46DE-BF1C-AE2C0171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9399B-E8A7-4004-89EE-8A89CEC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缓存优化与访问隐私难兼顾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074DA-F745-46DC-B93D-1ECC7E27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缓存调度依赖访问规律，调度请求可能暴露访问模式。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0150-AC5A-42EC-9388-AA81614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32E36-03D7-4E4F-9EF4-5F45CE3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0B0CD-1E01-4596-A5A8-38E69EAE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B9EE4-7C26-4A69-85EE-E770BF9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常规加密妨碍增量识别与传输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E495D-14B1-4FF8-BF1B-86E338C2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加密隐藏相似性，节点难以识别重复内容与差异。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B7A9F-940D-4CCB-BFAA-EEDD29AE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550E4-7AFC-48B8-B9C0-CBEECC27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E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7832F-456B-4F29-B401-973CCD2D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FDBE2-E8FA-41B4-AF6C-EF76710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40612-7EE5-4A0F-89B2-692B48F1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跨边状态同步可能泄露移动轨迹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1E85A-9B3D-4843-8F4E-4A73580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同步时刻与通信端点可能暴露终端移动规律。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9DE3A-BB54-4452-9828-EF812ED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33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本子课题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FD965-016A-48D0-80C1-E783CBA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A763F-12E7-4988-9233-F120262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当前阶段不做加密，先把跨边迁移的系统开销算清楚，给后续安全机制提供对照。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C8050-00A1-4255-877C-8E1B1835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4353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BCC804A-0214-4A24-9D7B-51291396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系统实现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ABD67-2B8C-4294-81FB-60064BD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系统拓扑与迁移路径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55EEE-EC0F-43C7-93D0-51CACCD4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B49DB-2615-4E79-9869-821C8276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641A6-3B67-4DA7-BD90-62F60BC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08F43-621D-4A46-A811-BBD88C92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68FDB-1186-4C95-AD37-7F27326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95444-34ED-400B-9904-F6E563A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25357-7233-483B-AE1F-0618675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E2EFD-4409-4598-A8D2-68B588A9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289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94D47-D50B-499B-8520-924F57F6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9FD2B-6578-44FF-9ADF-4FBDF85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85147-4A7D-404E-A5BF-AE4CD86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19014-BB2E-4896-88DE-826F4D70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45B93-0B84-4302-B159-311A85A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245CB-5D4D-43D6-8DF0-F06BD56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9D6BE-CC54-4B0B-A841-3CB6100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6AE9E-9AA1-429A-A4CF-23BFF46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711E1-0CB2-431E-AEB9-00467A60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C6AF1-0072-4D17-A164-1E3B2B6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13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89D97-8DF9-47D2-A36F-BBF2FA3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F2F7-7586-4B05-A36E-9172BDC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86541-747E-4B17-8642-8E5DD20C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39964-E77A-415F-A0A7-8E6958F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9BFC8-FEB7-4533-A046-F907BDC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999FB-900F-46E4-BC52-6A99661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43882-84D6-4A1D-856F-775074CD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EE028-B465-475B-BC71-7C3D268D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35090-75EB-4DA7-8947-88887B4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5B4C0-C0A5-4236-99D6-18D6E08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4D9B38-6AA9-462E-847B-307D268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944D0-D9C4-4331-8403-7AEFEAB5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7DAA1-1CD6-482A-9613-98EB26E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1E4828-EF53-4730-ABD5-89B0D3DB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E3BDF-BE3D-4297-84B5-BDC0563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C906C2-DAEB-409C-861E-186A50BD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15A56-83AD-4EDB-946D-ADBE104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0991C-0713-44DA-9D3C-560282F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240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C5CB0D-9239-4376-96B7-C90483B0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41FB1C-CB96-48DF-9B9F-3078D1C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A5C7C1-3F1F-4EAE-816C-436F1C1A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B84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DBEB2C-4D64-4319-8E25-6C682C5D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CA4D3F-52D6-425E-8A34-2E3C6107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51F9B0-FC66-4F47-B378-BBF8DF9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BEB087-6B4F-4474-B52A-96B34E0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B65EA1-42E2-49BF-A449-42B65F6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D89132-6144-4348-A3D3-456A159A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812853-0E71-4927-B5D0-55BA669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31F169-D1B8-4F70-9ACC-287266D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CE20FA-2FB3-4A78-BC52-3163462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A84AB9-9FA1-4803-A021-7EE3B2F4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91B132-1D97-4584-80F9-E613FF35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06062-DF60-4117-9F81-D3864830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95AAA2-4384-4BFE-8397-F5D3E3B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38E326-2C1F-409F-A00D-6A87248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D8BCC8-29C1-4297-BAB9-FDBE629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2FCD804-5B9C-45FE-B2C2-3D816FE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F5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0CAA83-5760-466E-8BC5-4C4F4DE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622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AAFD44-AFF6-4AC9-8D92-F2842693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A9458F-9791-4C94-911E-8E48425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03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1EF173-655D-43E5-A87C-34F3BE0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99BDD3-0772-4E7F-A218-54375A1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C4A694-3271-436F-9503-D028FED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828A6C-83CD-4631-8BC9-8251B9BD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CD8763-5535-4432-AD0D-80307D6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C3CD54-58C3-4498-8CE4-588B2F59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9F668C-09DD-4FBF-B50F-EC4D5CED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81C7C8-896D-40AD-97D5-2E51CFE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CD581A-3994-464F-B45B-1E19B79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737EF8-43AA-47FB-AEE1-EF6955B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39EB52-B108-4CAA-88B6-9CFC9A4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769711-1F95-48CE-9BD9-9F3F9771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11DC9A-41AB-4DFC-BE7D-F5A275AD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E9EA47-B3E4-422E-B5D1-031DD779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DACC42-6337-4AF5-A9FB-63AAE9B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4F6AA8-AB2C-4782-962D-D58BCBC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E87110-DC67-47D6-BB1F-1EDB578F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9BD5E75-EC1A-4DA1-8006-5611C993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914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C42FC7-C8E3-494C-88E7-272840D4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CB9C2A-7B52-4AED-8182-BDBF2B5F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gNB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FC145C-B0E4-407E-BBC2-CCC86B3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3619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931938-7D75-4605-9BC0-06C23BA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edge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CED4F0-2014-4F90-8ACB-E7141E7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A49E88-66C0-4D21-B74A-D78AA910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52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AECAAF-D34C-4856-BC9D-5B37FCC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C688EB-F221-4888-824F-DA71053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A81E1D-C0AB-44A6-860B-038C8E6A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76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D949776-78D2-48FD-B373-344875CA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00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A8785E-74BB-4FCA-8FE2-7977968CACCE}"/>
              </a:ext>
            </a:extLst>
          </p:cNvPr>
          <p:cNvCxnSpPr/>
          <p:nvPr/>
        </p:nvCxnSpPr>
        <p:spPr>
          <a:xfrm xmlns:a="http://schemas.openxmlformats.org/drawingml/2006/main">
            <a:off x="3619500" y="3133725"/>
            <a:ext cx="123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182980-29F8-4557-A8EE-71BB137A3B0A}"/>
              </a:ext>
            </a:extLst>
          </p:cNvPr>
          <p:cNvCxnSpPr/>
          <p:nvPr/>
        </p:nvCxnSpPr>
        <p:spPr>
          <a:xfrm xmlns:a="http://schemas.openxmlformats.org/drawingml/2006/main">
            <a:off x="4857750" y="1695450"/>
            <a:ext cx="95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633819-A9E4-4A5B-9E43-E5ACC16132FC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647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</a:ln>
        </p:spPr>
      </p:cxnSp>
      <p:cxnSp>
        <p:nvCxn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5D5813D-AD13-42E6-817A-4A63F7CD1520}"/>
              </a:ext>
            </a:extLst>
          </p:cNvPr>
          <p:cNvCxnSpPr/>
          <p:nvPr/>
        </p:nvCxnSpPr>
        <p:spPr>
          <a:xfrm xmlns:a="http://schemas.openxmlformats.org/drawingml/2006/main">
            <a:off x="4210050" y="1695450"/>
            <a:ext cx="95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4A24"/>
            </a:solidFill>
            <a:prstDash val="solid"/>
            <a:tailEnd type="arrow" w="lg" len="lg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592549-3746-45A0-8F27-BA992EF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state migration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E3A20D-BBF4-4C23-BD91-148BA8F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2E560C-9278-4F7F-9A4C-B463C7F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62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1  车跨 cell，触发 handover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F814A8-D377-43E5-9E9D-8F60E3F9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14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2  当前 edge server 持有 base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3491C26-F1CD-47BD-9079-48D1857D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3  迁移 delta 或全量状态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BC2819-B484-4816-8D8D-FBC6A65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4  目标 edge server apply + restore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A4E4D0-255B-43F9-BF30-586DCB8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0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状态 3–200 MB，镜像 205–540 MB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80EF6B-B77C-4586-BE85-27E0153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青框：当前 cell    橙框：目标 cell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青点：车辆路径    橙箭头：状态迁移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744EF9-50DB-4802-A3A0-45A74EB6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DATA7：30 个 gNB，62 条链路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980AB3-3A2C-4069-AD1E-1202DBF1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CF1352-9694-4B02-A8C9-BB55039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切换是“车换 cell”，迁移是“状态换 edge server”。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9FBB9D-23DB-42D9-A199-4B1549A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3747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CD428-B38D-42F4-A3CA-3572AA2F5D4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628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5FC2-166C-466A-A85A-4936D4C65CA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27241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B5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EDDD5-4669-4D97-9D10-2D4F970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2E32-E6D5-4908-B526-25EAE364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base、delta 与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A2D56-2C6F-4A5A-AA0A-C65E744D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7B6FE-D371-43AA-9574-021E4F5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F3FBB-62DE-4F72-9F59-22279836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66EC6-84DC-49B4-91B5-FB67732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base snapshot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上次同步的完整状态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C3A9A-74CD-451B-B079-DFC010A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311A0-AD8B-40C4-B321-66337BC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0A355-FCC1-4E63-89C8-A32BB3EE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= 当前状态 −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6CC2B-3A79-412B-9961-B7CFA50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47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400DA-2D40-4C3C-9521-6014B96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C4F3A-0BF8-45C7-921B-DBD25BF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apply + restart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恢复时间也计入开销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1F621-3E02-4BCE-8D95-C9AEF4A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B84A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B05F5-1700-43FE-82B4-E8EA227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冷目标：目标节点没有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6C737-520B-4D51-8464-D270B347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不能只发 delta，必须回退全量状态。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F23C6-6280-4116-A80A-5806329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恢复开销 = 应用状态 + 重启服务，按 5 ms/MB 计入迁移时长。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7818E-76F7-4A6C-AED1-99E6DBF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C3480-306B-456B-BF3F-575EC58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增量不是免费的。delta 能不能用，取决于目标节点有没有 base。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60BBE-B8F7-4C74-A60E-3245A496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0657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CDEB4-0C71-4D9A-9B6C-5A3136D0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仿真实现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1D766-18F4-44B3-A5F3-E44C1BF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真实数据与可控假设分开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D196-0638-45CA-9F3C-4DB4CEE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0E242-3D2C-4E42-87D9-A8C76EC5312E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67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真实数据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可控假设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DATA7：30 个真实 gNB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链路带宽 100 Mbps 至 1 Gbps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SF / Rome：真实出租车轨迹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状态增长率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4 类 MEC 服务的数据流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恢复速率 5 ms/MB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网络时延 5 ms/跳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镜像层大小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1B19"/>
                          </a:solidFill>
                        </a:rPr>
                        <a:t>DATA7 车辆：SUMO 轨迹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B19"/>
                          </a:solidFill>
                        </a:rPr>
                        <a:t>服务算力与内存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B304A-6DE5-4676-ABF4-BE5CB1E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的基站位置来自 OpenCellID，车辆轨迹由 SUMO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8E4B4-0F90-461C-93A2-A3EC7A9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F595-ADBA-49F2-A58A-C945E84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拓扑和移动来自真实数据，网络与服务参数是可控假设。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296FF-C3CB-4DD0-B20B-23CF17BA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86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DCCBA-5CC0-45D0-9A56-324E28A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1EA2-37DF-48ED-8ECB-B9408F8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开销不能只看一个字节数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4BAE1-6154-414F-82E1-59C3FED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60B90-3A0A-45BF-98AD-53F514DC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数据量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E6537-7B96-4392-93BD-2998B0DB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state + image + base sync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52B4E-0DE9-408F-B34C-893A2CE1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954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1F476-A90B-4F28-832F-0AAB609B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D2538-EC77-48B4-87FD-A0148EB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0B75B-4DA9-45B3-9152-7FFF84F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传输字节 × 占用步数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B4812-42EF-4648-8405-9C0D826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MB·s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D2BF8-F830-4475-97CC-27EF105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B830E-1A0D-4C8A-844F-1334440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577B4-48A1-4F1E-82B9-4F5A9A21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apply state + restart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AC12C-5A3C-45B2-A398-CB21299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76C84-7605-4694-9177-6391EF7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1B3D6-686F-4118-8CAE-60746F8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82ADF-D073-4595-8B1D-BF04D75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interruption + post-arrival lag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383B3-BF00-463A-8EFD-954EF354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% /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A69C6-8A46-4466-96E3-06A2EB71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3CBC7-58CF-485E-A710-AF0280A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同一个 100 GB，占用 10 秒和占用 100 秒，代价不同。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08C69-006C-479C-B772-FA352517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0333F-3FDE-4C67-9C85-FEC175F5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 GB，会低估迁移对链路和用户的实际占用。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847A8-9136-4E34-A222-3199B9EB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38819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5F651-A32D-4FC1-8754-0391569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7E8B7-043D-4B07-8FA8-E66577D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follow-me 在 DATA7 上有多贵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2C3A-0CD0-4210-950B-4E05CD5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8D6BF-D9B9-43EF-A9B6-F9516FF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659F3-C53B-4C82-81C4-CE4F2B7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服务中断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C037D-16CD-40C8-BAF3-6C75C0E4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345 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4EE89-69DB-446D-B8C1-537693B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80995-EAA1-434C-9F50-C65F6A1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48.2×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A3015-E54F-4E1F-BB83-73D4A895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开销比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DDD58-1BC4-4601-8688-35FF895EFFCC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2667000"/>
                <a:gridCol w="30480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服务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信息娱乐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215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交通分析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108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15.6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上下文告警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F9EC3-9CBB-48F3-A283-855A8390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5378-6033-42BC-ADB9-B9EC8BF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大状态服务主导开销，信息娱乐一个服务就占 215 GB。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34935-7020-4F4C-9CC9-8533604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1205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F6861-B28B-44E6-A25B-7FBAF075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6B1F1-3593-4B08-A089-7DBF793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增量收益取决于 base 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E4E31-866C-4CDD-BCE9-101D8626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20D9-3098-429B-B91C-6C406D01D340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47900"/>
                <a:gridCol w="2000250"/>
                <a:gridCol w="2190750"/>
                <a:gridCol w="2190750"/>
                <a:gridCol w="219075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冷目标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字节节省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中断（全量）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中断（增量）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DATA7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2.4%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5.7%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FE697-5943-4086-A84B-26B6F90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冷目标越多，delta 越接近全量。合成数据 93% 是冷目标，增量几乎没有收益。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EEE4-1BD7-4DDE-8149-6879C03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FD0B8-08CA-4FFA-AAD9-C937CC2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delta 的核心不是“增量”两个字，而是 base locality。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95229-91D0-42D3-95A1-E2537C1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7456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2DA6C-4FE2-48F3-BB9D-E654FDB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压力矩阵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A1918-00FB-4FF0-A831-0DE142C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需求除以容量决定临界速度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99434-9B60-4F97-95B2-CD1E27D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2A484-363F-4633-A728-D152621D077A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2095500"/>
                <a:gridCol w="2095500"/>
                <a:gridCol w="39052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 ≥ 50% 起点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65.7%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12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17.0%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 Gbps / 12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90 km/h 以上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500 Mbps / 30 车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36.8%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40 km/h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100 Mbps / 30 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20 km/h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C38CC-295B-4DE4-85B9-76733AD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同一策略在不同带宽和负载下，可能从“可接受”直接变成“不可用”。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46A4-EE5C-4FA3-B0A7-58985E5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65056-8F36-42CE-89D2-2BCD7E7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速度是放大器。带宽和负载才是决定系统能不能撑住的底数。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959F5-E078-4C50-88F9-EAE7821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75669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FB75A-0FEC-4E89-9A3B-05A5EA4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24D76-85CE-4D45-B9B0-7B14870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只有在预测准时才划算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12B0E-AC0D-4264-A37A-EC6045F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CC7D6-8F66-48E6-A7EA-F522E54B2643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1809750"/>
                <a:gridCol w="1809750"/>
                <a:gridCol w="2219325"/>
                <a:gridCol w="2219325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预测器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准确率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迁移数据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到达后滞后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oracle（上限）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139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1.7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一阶马尔可夫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8.2%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192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5.9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last-direction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9.8%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214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10.9 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reactive 全量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39.0%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140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7.8 步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14FD1-6CCE-40B0-8834-12AE101D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预测差会让迁移数据从 140 GB 涨到 214 GB，比不预测更贵。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2E64F-465C-4DF7-A85F-908FD72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5E215-FE25-45A4-8737-F27501E5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预测质量决定 proactive 是省钱还是烧钱。oracle 只能当上限。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B8C6D-2964-43ED-BF20-19F5A08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5443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5EB0F-5265-4978-B77D-A80AFB6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AA671-75B6-4093-99CA-F0F88B3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三条系统结论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020E7-5E2D-4E86-B730-DCD27D3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AB6B2-68E8-4E53-A15E-0676F27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DD11B-8AAC-468C-9449-A278528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00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overhead 不是单一字节数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C55B-04A1-4089-9599-5648CD2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要把传输量、占用时间和恢复成本一起算。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35CF4-2849-4FF7-BCAF-DF93213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02185-1645-4FE2-BCF1-5E65F4B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delta 是 base locality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D02A5-08F8-4507-9A29-E1343B2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33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目标有没有 base，决定了增量能省多少。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E6F65-24B5-43BE-8300-196791A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1E8C2-9D14-4B87-AF38-E31C18C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624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proactive 是预测质量问题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E6D4C-481C-40BC-AFD3-E171BFD2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预测不准时，提前迁移会比不迁移更贵。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65184-E65C-43D1-A98F-1F69EB0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没有单一最优策略。按带宽、负载、速度的组合选择。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70215-3B57-45CD-8A3E-A117E3C9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9461C-A05F-419A-A9CB-7734B011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这些正是项目里密文增量与同步机制要付的系统成本。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79DE6-3874-4EC4-B8C4-5DA3577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22312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C1443-2023-4511-B7AC-554C082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758D6-701F-4DFF-B3B0-D1F1EF4C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 与隐私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47698-B33C-47D3-8E3D-E10E888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57F00-0922-4BE3-B347-565160F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91D8F-CC9F-4D6B-AFCE-A983466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163C8-794E-4D82-ACA4-D49F02B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哪些节点值得预热，复制间隔多长。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8D88E-A3B8-4E5D-8B82-89D8BC7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EFAD3-B2FF-40F3-96EF-BC52F2B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隐私侧信道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E24AC-59D7-4BA2-B177-A902E2D9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迁移时刻与通信端点会泄露移动轨迹。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02C5C-108C-43F7-9A62-A14037A9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46045-FAD4-4CE7-81D8-5D9058A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小规模 testbed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EC448-9F92-40AC-B855-8109777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用真实节点验证仿真结论。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4ABA6-4530-4936-9FE7-C2D3BDE1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先系统，后安全。两者共用同一套开销账。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BCBF4-3055-4369-8A0D-B5C2942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B3BCF-E2D7-40D3-9951-8ADC64D1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下一步把 base 放置与隐私保护放进同一个评估框架。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66863-0F8E-4EAA-9837-8FAA243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946049"/>
      </p:ext>
    </p:extLst>
  </p:cSld>
</p:sld>
</file>

<file path=ppt/theme/theme1.xml><?xml version="1.0" encoding="utf-8"?>
<a:theme xmlns:a="http://schemas.openxmlformats.org/drawingml/2006/main" name="ChatGPT">
  <a:themeElements>
    <a:clrScheme name="Storage Systems Editorial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7A8F8B"/>
      </a:accent3>
      <a:accent4>
        <a:srgbClr val="9C6B4E"/>
      </a:accent4>
      <a:accent5>
        <a:srgbClr val="4C6B78"/>
      </a:accent5>
      <a:accent6>
        <a:srgbClr val="6E7F5C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Storage Systems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2026-10-21T08:10:00.8280000Z</dcterms:created>
  <dcterms:modified xsi:type="dcterms:W3CDTF">2026-10-21T08:10:00.8280000Z</dcterms:modified>
</coreProperties>
</file>