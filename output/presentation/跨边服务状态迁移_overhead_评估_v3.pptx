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55eb2c07e4d24" /><Relationship Type="http://schemas.openxmlformats.org/officeDocument/2006/relationships/extended-properties" Target="/docProps/app.xml" Id="Rb2a0d02b4eca4ee6" /><Relationship Type="http://schemas.openxmlformats.org/officeDocument/2006/relationships/officeDocument" Target="/ppt/presentation.xml" Id="R87c2859bf2ee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7386d205e4734"/>
  </p:sldMasterIdLst>
  <p:notesMasterIdLst>
    <p:notesMasterId xmlns:r="http://schemas.openxmlformats.org/officeDocument/2006/relationships" r:id="R9c6d6fbf769449b9"/>
  </p:notesMasterIdLst>
  <p:sldIdLst>
    <p:sldId xmlns:r="http://schemas.openxmlformats.org/officeDocument/2006/relationships" id="256" r:id="Rbf683626c03c4c68"/>
    <p:sldId xmlns:r="http://schemas.openxmlformats.org/officeDocument/2006/relationships" id="257" r:id="R580650fabe4e4a3e"/>
    <p:sldId xmlns:r="http://schemas.openxmlformats.org/officeDocument/2006/relationships" id="258" r:id="R84d731f1753f4478"/>
    <p:sldId xmlns:r="http://schemas.openxmlformats.org/officeDocument/2006/relationships" id="259" r:id="Rd13db91f6b4d4186"/>
    <p:sldId xmlns:r="http://schemas.openxmlformats.org/officeDocument/2006/relationships" id="260" r:id="R6a07d3e95e9b4e21"/>
    <p:sldId xmlns:r="http://schemas.openxmlformats.org/officeDocument/2006/relationships" id="261" r:id="R8c8d83f9c2b84318"/>
    <p:sldId xmlns:r="http://schemas.openxmlformats.org/officeDocument/2006/relationships" id="262" r:id="Rda49d372e21a4cc5"/>
    <p:sldId xmlns:r="http://schemas.openxmlformats.org/officeDocument/2006/relationships" id="263" r:id="R93552767f31c4083"/>
    <p:sldId xmlns:r="http://schemas.openxmlformats.org/officeDocument/2006/relationships" id="264" r:id="Rf9d7c66667444eee"/>
    <p:sldId xmlns:r="http://schemas.openxmlformats.org/officeDocument/2006/relationships" id="265" r:id="Rb69c5e6130ba4f39"/>
    <p:sldId xmlns:r="http://schemas.openxmlformats.org/officeDocument/2006/relationships" id="266" r:id="R82bcc9f084b0482b"/>
    <p:sldId xmlns:r="http://schemas.openxmlformats.org/officeDocument/2006/relationships" id="267" r:id="R5833d8291c1d42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5d2093affc45d2" /><Relationship Type="http://schemas.openxmlformats.org/officeDocument/2006/relationships/slideMaster" Target="/ppt/slideMasters/slideMaster1.xml" Id="Re1a7386d205e4734" /><Relationship Type="http://schemas.openxmlformats.org/officeDocument/2006/relationships/notesMaster" Target="/ppt/notesMasters/notesMaster1.xml" Id="R9c6d6fbf769449b9" /><Relationship Type="http://schemas.openxmlformats.org/officeDocument/2006/relationships/presProps" Target="/ppt/presProps.xml" Id="R04ea4b996be64d8b" /><Relationship Type="http://schemas.openxmlformats.org/officeDocument/2006/relationships/tableStyles" Target="/ppt/tableStyles.xml" Id="R441f22e2c40a4e4e" /><Relationship Type="http://schemas.openxmlformats.org/officeDocument/2006/relationships/slide" Target="/ppt/slides/slide1.xml" Id="Rbf683626c03c4c68" /><Relationship Type="http://schemas.openxmlformats.org/officeDocument/2006/relationships/slide" Target="/ppt/slides/slide2.xml" Id="R580650fabe4e4a3e" /><Relationship Type="http://schemas.openxmlformats.org/officeDocument/2006/relationships/slide" Target="/ppt/slides/slide3.xml" Id="R84d731f1753f4478" /><Relationship Type="http://schemas.openxmlformats.org/officeDocument/2006/relationships/slide" Target="/ppt/slides/slide4.xml" Id="Rd13db91f6b4d4186" /><Relationship Type="http://schemas.openxmlformats.org/officeDocument/2006/relationships/slide" Target="/ppt/slides/slide5.xml" Id="R6a07d3e95e9b4e21" /><Relationship Type="http://schemas.openxmlformats.org/officeDocument/2006/relationships/slide" Target="/ppt/slides/slide6.xml" Id="R8c8d83f9c2b84318" /><Relationship Type="http://schemas.openxmlformats.org/officeDocument/2006/relationships/slide" Target="/ppt/slides/slide7.xml" Id="Rda49d372e21a4cc5" /><Relationship Type="http://schemas.openxmlformats.org/officeDocument/2006/relationships/slide" Target="/ppt/slides/slide8.xml" Id="R93552767f31c4083" /><Relationship Type="http://schemas.openxmlformats.org/officeDocument/2006/relationships/slide" Target="/ppt/slides/slide9.xml" Id="Rf9d7c66667444eee" /><Relationship Type="http://schemas.openxmlformats.org/officeDocument/2006/relationships/slide" Target="/ppt/slides/slide10.xml" Id="Rb69c5e6130ba4f39" /><Relationship Type="http://schemas.openxmlformats.org/officeDocument/2006/relationships/slide" Target="/ppt/slides/slide11.xml" Id="R82bcc9f084b0482b" /><Relationship Type="http://schemas.openxmlformats.org/officeDocument/2006/relationships/slide" Target="/ppt/slides/slide12.xml" Id="R5833d8291c1d42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706a92bed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419e4c6f7b485b" /><Relationship Type="http://schemas.openxmlformats.org/officeDocument/2006/relationships/notesMaster" Target="/ppt/notesMasters/notesMaster1.xml" Id="R41a1491955414b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cec3f6639460d" /><Relationship Type="http://schemas.openxmlformats.org/officeDocument/2006/relationships/notesMaster" Target="/ppt/notesMasters/notesMaster1.xml" Id="R5187724bb30041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ff22450b254976" /><Relationship Type="http://schemas.openxmlformats.org/officeDocument/2006/relationships/notesMaster" Target="/ppt/notesMasters/notesMaster1.xml" Id="R78789e1c5493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b86790d2b6474c" /><Relationship Type="http://schemas.openxmlformats.org/officeDocument/2006/relationships/notesMaster" Target="/ppt/notesMasters/notesMaster1.xml" Id="R0b3f18b25fca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32f95f5ad43e3" /><Relationship Type="http://schemas.openxmlformats.org/officeDocument/2006/relationships/notesMaster" Target="/ppt/notesMasters/notesMaster1.xml" Id="Rdec2f42c42dd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1e9ce0acb459f" /><Relationship Type="http://schemas.openxmlformats.org/officeDocument/2006/relationships/notesMaster" Target="/ppt/notesMasters/notesMaster1.xml" Id="R9658275801c44c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c9706e5c824f72" /><Relationship Type="http://schemas.openxmlformats.org/officeDocument/2006/relationships/notesMaster" Target="/ppt/notesMasters/notesMaster1.xml" Id="R233927ff974840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d9c0fcc2854db2" /><Relationship Type="http://schemas.openxmlformats.org/officeDocument/2006/relationships/notesMaster" Target="/ppt/notesMasters/notesMaster1.xml" Id="R83005e834e824e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a29af16dc741fd" /><Relationship Type="http://schemas.openxmlformats.org/officeDocument/2006/relationships/notesMaster" Target="/ppt/notesMasters/notesMaster1.xml" Id="R6f57106adc374b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cfe957bc348fb" /><Relationship Type="http://schemas.openxmlformats.org/officeDocument/2006/relationships/notesMaster" Target="/ppt/notesMasters/notesMaster1.xml" Id="Ra501fddb6fd149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17cfefee4d433c" /><Relationship Type="http://schemas.openxmlformats.org/officeDocument/2006/relationships/notesMaster" Target="/ppt/notesMasters/notesMaster1.xml" Id="Re74562a387924b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e1ffbcb13b4241" /><Relationship Type="http://schemas.openxmlformats.org/officeDocument/2006/relationships/notesMaster" Target="/ppt/notesMasters/notesMaster1.xml" Id="R2ba0c8ba62eb48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各位老师好。我汇报的是项目里跨边状态迁移的子课题。今天先讲系统怎么实现，再讲做了哪些实验，结论会贯穿每一页。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老师项目里有三条挑战。我对应的是第二条和第三条：加密后的增量识别，以及跨边同步的隐私。当前阶段先不做加密，先把系统开销算清楚，否则后面安全机制的代价没有对照。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这是系统拓扑。每个格子是一个 cell，里面一个 gNB 和一个 edge server。车跨 cell 触发 handover，状态从当前 edge server 迁到目标 edge server。虚线是车辆路径，橙箭头是这次状态迁移。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每个节点可以保存一份 base snapshot。目标有 base 就传 delta，没有就回退全量。传完还要 apply 和 restart。所以增量不是免费的，收益取决于 base 在不在。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拓扑和移动来自真实数据。DATA7 是真实 gNB 加 SUMO 轨迹，SF 和 Rome 是真实出租车。带宽、状态大小、恢复速率是可控假设。这样既能贴近现实，又能做参数扫描。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开销我分四层看：数据量、带宽-时间、恢复、用户侧中断。只看 GB 会漏掉传输占用了多久、恢复要多久、用户等了多久。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DATA7 上 follow-me 全量迁移，40 km/h 就有 48.8% 中断，345 GB，开销比 48 倍。信息娱乐一个服务占 215 GB。这解释了为什么不能把所有服务一视同仁。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换增量以后，DATA7 冷目标只有 17%，省 74% 字节。但合成数据 93% 是冷目标，只省 2.4%。所以 delta 的收益不是一个固定倍数，取决于 base 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压力矩阵跑了五个场景、四种策略、四个速度。100 Mbps 12 车 20 km/h 就崩，500 Mbps 30 车 40 km/h 崩，1 Gbps 12 车到 90 还没崩。速度是放大器，带宽和负载是底数。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预测器对比很关键。oracle 100%，一阶马尔可夫 49%，last-direction 21%。差预测会让迁移数据从 140 GB 涨到 214 GB，比不预测更贵。pre-copy 能掩盖中断，但掩盖不了状态落后。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三条结论。第一，overhead 要按 bytes 加 time 加 restore 算。第二，delta 是 base locality 问题。第三，proactive 是预测质量问题。没有单一最优策略。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下一步做 base placement 和隐私侧信道。先系统后安全，两者共用同一套开销账。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8b87df5d74b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156233ee74d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fd323d6b142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12e380bb44f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1cba560d84b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1f0cb0928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FA1254-B962-43D9-B0B2-2975D7F450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129D41-89A4-4F69-8793-DD4FD4505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3BD90A-BCCE-4A22-9815-A35FAF672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FCB987-983B-440A-A532-7600EB894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AE003A-1EA7-4217-99CC-CC10D4588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28AC2A-E9DC-4D77-9BEA-F43A1533D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76D0E-3F2D-49DB-9FE0-5E7501DB8F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D7EC28-CD70-4473-9C98-E1B1E46848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B0E274-60CF-4F6F-9E56-64C87F3A7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D04F6E-2D67-4C7E-9187-0A7F004EC6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593593e29244c7" /><Relationship Type="http://schemas.openxmlformats.org/officeDocument/2006/relationships/slideLayout" Target="/ppt/slideLayouts/slideLayout1.xml" Id="R6fb6bc7bcaa44885" /><Relationship Type="http://schemas.openxmlformats.org/officeDocument/2006/relationships/slideLayout" Target="/ppt/slideLayouts/slideLayout2.xml" Id="R6efee33599a14d16" /><Relationship Type="http://schemas.openxmlformats.org/officeDocument/2006/relationships/slideLayout" Target="/ppt/slideLayouts/slideLayout3.xml" Id="R1a564d003bfe41b5" /><Relationship Type="http://schemas.openxmlformats.org/officeDocument/2006/relationships/slideLayout" Target="/ppt/slideLayouts/slideLayout4.xml" Id="R8a507a43d01f447f" /><Relationship Type="http://schemas.openxmlformats.org/officeDocument/2006/relationships/slideLayout" Target="/ppt/slideLayouts/slideLayout5.xml" Id="R716e5891d3a94edd" /><Relationship Type="http://schemas.openxmlformats.org/officeDocument/2006/relationships/slideLayout" Target="/ppt/slideLayouts/slideLayout6.xml" Id="Ra07c6d8353fb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6bc7bcaa44885"/>
    <p:sldLayoutId xmlns:r="http://schemas.openxmlformats.org/officeDocument/2006/relationships" id="2147483650" r:id="R6efee33599a14d16"/>
    <p:sldLayoutId xmlns:r="http://schemas.openxmlformats.org/officeDocument/2006/relationships" id="2147483651" r:id="R1a564d003bfe41b5"/>
    <p:sldLayoutId xmlns:r="http://schemas.openxmlformats.org/officeDocument/2006/relationships" id="2147483652" r:id="R8a507a43d01f447f"/>
    <p:sldLayoutId xmlns:r="http://schemas.openxmlformats.org/officeDocument/2006/relationships" id="2147483653" r:id="R716e5891d3a94edd"/>
    <p:sldLayoutId xmlns:r="http://schemas.openxmlformats.org/officeDocument/2006/relationships" id="2147483654" r:id="Ra07c6d8353fb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c7cf6ea234d76" /><Relationship Type="http://schemas.openxmlformats.org/officeDocument/2006/relationships/notesSlide" Target="/ppt/notesSlides/notesSlide1.xml" Id="R1c26ec5ce033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f59d368424d9f" /><Relationship Type="http://schemas.openxmlformats.org/officeDocument/2006/relationships/notesSlide" Target="/ppt/notesSlides/notesSlide2.xml" Id="R628072879c8a49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c209aae464825" /><Relationship Type="http://schemas.openxmlformats.org/officeDocument/2006/relationships/notesSlide" Target="/ppt/notesSlides/notesSlide3.xml" Id="Rba3721a83abd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c743fa5894708" /><Relationship Type="http://schemas.openxmlformats.org/officeDocument/2006/relationships/notesSlide" Target="/ppt/notesSlides/notesSlide4.xml" Id="Ra2b2f7f8d6ef4d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44fe7d583411b" /><Relationship Type="http://schemas.openxmlformats.org/officeDocument/2006/relationships/notesSlide" Target="/ppt/notesSlides/notesSlide5.xml" Id="R101c9800e1a3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4b8bf5b5e49e7" /><Relationship Type="http://schemas.openxmlformats.org/officeDocument/2006/relationships/notesSlide" Target="/ppt/notesSlides/notesSlide6.xml" Id="R5b9dd53370d6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55406b7f74894" /><Relationship Type="http://schemas.openxmlformats.org/officeDocument/2006/relationships/notesSlide" Target="/ppt/notesSlides/notesSlide7.xml" Id="R405401b295424f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b5deb72fb4f25" /><Relationship Type="http://schemas.openxmlformats.org/officeDocument/2006/relationships/notesSlide" Target="/ppt/notesSlides/notesSlide8.xml" Id="R1993b309c2ec42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b0c95ba8c4c74" /><Relationship Type="http://schemas.openxmlformats.org/officeDocument/2006/relationships/notesSlide" Target="/ppt/notesSlides/notesSlide9.xml" Id="Rfffb483a7ec744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64dd2fa8f4f1d" /><Relationship Type="http://schemas.openxmlformats.org/officeDocument/2006/relationships/notesSlide" Target="/ppt/notesSlides/notesSlide10.xml" Id="Rc96ff17fbb4a47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6262f676d4baf" /><Relationship Type="http://schemas.openxmlformats.org/officeDocument/2006/relationships/notesSlide" Target="/ppt/notesSlides/notesSlide11.xml" Id="R135a85236d8944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e1202178ec4d6f" /><Relationship Type="http://schemas.openxmlformats.org/officeDocument/2006/relationships/notesSlide" Target="/ppt/notesSlides/notesSlide12.xml" Id="Rb97be9354c37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3A024-4B85-4482-A0CC-C5C2F900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子课题汇报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FA9F0-3244-4B34-9A30-23FE45A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跨边服务状态迁移的 overhead 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C3BFF-8638-4CFF-908E-F7B23279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F5718-B286-4356-9494-79750834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面向云边存储的数据安全缩减技术研究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2A820-A05B-4124-99F8-EC03E278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先把 base、delta、restore 和预测的系统账算清，再谈安全机制。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B89FA-E356-46C3-92CF-1C63C86C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1990414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7A9FF-FBEE-4EFA-8D36-A3B16580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项目位置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4513B-2B68-4F9A-9A9D-6277C457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本子课题对应项目里的第二条和第三条挑战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9F167-0352-44D2-96F3-816AA74F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C36D7-F5BC-4CB2-8498-EF248A80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90634-B41C-4780-A9C5-444D951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缓存优化与访问隐私难兼顾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97474-2230-4DAC-9A35-4B01720B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缓存调度依赖访问规律，调度请求可能暴露访问模式。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0E06E-1005-4365-92ED-F053A19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2ECC4-B4DF-4DA0-94E5-087017FC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6701B-81B8-4210-8A0F-6D591EC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61B0F-ECB6-4488-9F6F-2527BD00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常规加密妨碍增量识别与传输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5375B-8C3F-44DA-A1EA-5D388F76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加密隐藏相似性，节点难以识别重复内容与差异。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F627-961A-4B49-9C88-DE13752E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C2BEA-9CD9-41C4-8453-EF7D1458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2AE35-EB15-491B-909C-5F3340F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2924D-DEC6-4F88-A7D0-4D4BCA91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87A1A-0BA8-4434-A116-580721B5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跨边状态同步可能泄露移动轨迹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DF641-1C12-45E9-A4AF-FA79CA4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同步时刻与通信端点可能暴露终端移动规律。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E2271-C6E9-4BB7-AE32-C1DD09EF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3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2BF52-B72A-4832-B3AA-78E861CB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8AF72-5246-48F8-8469-E545575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当前阶段不做加密，先把跨边迁移的系统开销算清楚，给后续安全机制提供对照。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EFE29-9BFE-4616-8604-C4E818AA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9303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99F72FE-302B-4C9B-AA93-CC56D79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系统实现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21ED2-11C5-4D21-A8B8-D49E2078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系统拓扑与迁移路径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58535-57C4-42E2-9902-BCCC2FB1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165F3-6876-46A2-A00E-427EE2FF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F05DE-D68F-4834-BA4B-120DA7EC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EF855-3AF1-4B2C-AAC5-BA92F6A1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E6F35-B7A1-495D-9D87-11BE823A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E3236-8CDF-48CC-B810-5F8C779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C09A0-2CCB-420F-9B79-05A4232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26B12-6CB8-4A9A-AEDC-3244E34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B9D3B-E4E0-4250-A35F-718FDD6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F7854-7687-4AD8-AA92-BF5C562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D8C43-6E52-42DE-BE4A-F42A0020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172F8-0D45-4859-AB25-CF40AD3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88390-51F1-44AC-ACBF-9525955D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F0AE2-8003-4B5D-BC5C-122C2470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B844B-10EA-47F1-9B7E-D892F0B0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4AEE7-D022-4B33-8BD4-0246E15D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522DE-D440-4DB2-B3D8-4057603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5BC97-1D10-49E2-9414-B08FB59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3967A-D29D-4384-A50F-79B87C6C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34280-526D-4B36-BF55-947CCE34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D55BC-0A54-42CE-AD7A-AED69A6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8CCC4-2DD3-4D8B-86AF-8DEB975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946D8-83DF-44C9-8558-486E5EFA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30050-1639-46A9-9A4A-1D95315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9CA47-DB70-4D40-979B-66E26E54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17B15-0F2C-4725-AA59-E922AA85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1DF9E-55AC-40D9-A4C7-36B0C91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F4814-A292-4C31-9A03-B6F47EB3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17C69-7412-40BE-8322-11918AB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64FA1-B736-476B-8851-F88FCB8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7E569-44D3-411C-9681-B624FFF6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FC8A0-45D3-41DD-8DE1-8D946225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F7138A-30D6-484F-BA55-0B8AF058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BCA67A-F622-455B-8B90-3A5FC773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4C129D-3F4F-4407-9025-EF9701E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A57C13-D22F-4CA8-8948-75AE56E8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0F5831-2B4F-4723-A7D2-C0CAD567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DCC448-4191-426C-9C3C-3E4644C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D1551-865C-4762-A505-8A4380D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B84A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CD5CE1-EF67-4631-9D5D-16652ED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CEC2AE-A5BD-40AA-933C-36D8404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BEA0CE-C64A-40C6-98BE-0AAB0343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DAAC9-81AC-46FC-BF9D-14FD104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016FF3-B61E-4268-B88F-A6AB82C2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AD16BA-8079-4044-8598-E124E3C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E13511-7BC7-4C2E-9E6A-534DE649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945154-73D3-46D2-8DF2-1B418E8F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D56F7B-D87B-49DC-BF89-C31A5E22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C0A19F-CBA6-42EC-BEA2-6F8B68A6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067A40-343A-4038-873F-CF0E3613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141703-52BE-4BC9-90E5-6E7F8E2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012D8A-BA52-4C95-A8C8-A14CE5B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720500-E10E-4D24-AB08-4E11A4CE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2B80F8-0944-4766-A885-B5EF46DD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689ADB-6B4C-473A-B0B2-9E9C54AF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F5B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8AF79D-4110-4634-9FDF-A3C38E97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178A5B-2E10-42BA-AFDB-066F7E0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574E38-EE3B-4B02-8487-54EF56D5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CBCBB2-A873-4D71-B341-E5A464C3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C782FD-852F-48C1-A438-E71A01F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7E5E3C-8473-46DC-9C0B-0D48EE5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571706-37A7-4BA8-BE69-CC189A7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5048B8-FCC6-483D-A9AB-43200BDA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3743A8-C708-4E3A-826F-43A0D090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1767FC-B75A-4321-BBE0-A9CC8C0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7B9481-DC76-4870-A46F-4193374E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E6BF3B-6B85-422B-98C4-CA9F640F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68282C-683D-4219-8008-26A51B2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593CDE-DB26-4640-A76E-8C11E91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EAD8E3-100E-415F-BBDD-379F7A4E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7B2D60-D43F-436C-8083-2181445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4741C6-F0BD-41AB-85A0-8934563F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BC2F7B-7D41-4973-B774-9C2B005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34146C-73ED-48AC-B988-CD1CDC8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0356F3-6FAE-42BD-BE1E-C0E65AC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344BB7-D6AC-4CA7-AC63-6735E07E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3F71DD-3316-465F-B8D0-06C8B2A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AA2328-8B06-4B20-89ED-C1AD0C9F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4A3692-DBF2-4AF2-854A-3B22B2A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BB8B52-8273-42A5-9A49-6B9B19F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16A381-CFF6-4EEE-8AD6-512D7FC8F3D5}"/>
              </a:ext>
            </a:extLst>
          </p:cNvPr>
          <p:cNvCxnSpPr/>
          <p:nvPr/>
        </p:nvCxnSpPr>
        <p:spPr>
          <a:xfrm xmlns:a="http://schemas.openxmlformats.org/drawingml/2006/main">
            <a:off x="838200" y="3981450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D734835-B0EA-4C95-9688-47D054276504}"/>
              </a:ext>
            </a:extLst>
          </p:cNvPr>
          <p:cNvCxnSpPr/>
          <p:nvPr/>
        </p:nvCxnSpPr>
        <p:spPr>
          <a:xfrm xmlns:a="http://schemas.openxmlformats.org/drawingml/2006/main">
            <a:off x="1885950" y="3105150"/>
            <a:ext cx="95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57D045-5900-4DAC-A67E-89A22CE898F7}"/>
              </a:ext>
            </a:extLst>
          </p:cNvPr>
          <p:cNvCxnSpPr/>
          <p:nvPr/>
        </p:nvCxnSpPr>
        <p:spPr>
          <a:xfrm xmlns:a="http://schemas.openxmlformats.org/drawingml/2006/main">
            <a:off x="1885950" y="3105150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6256F1-8A3B-4936-BF0A-E89C0BBB0ABA}"/>
              </a:ext>
            </a:extLst>
          </p:cNvPr>
          <p:cNvCxnSpPr/>
          <p:nvPr/>
        </p:nvCxnSpPr>
        <p:spPr>
          <a:xfrm xmlns:a="http://schemas.openxmlformats.org/drawingml/2006/main">
            <a:off x="2933700" y="3105150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7E74C6-C258-4A5B-ADDA-821F855C1A87}"/>
              </a:ext>
            </a:extLst>
          </p:cNvPr>
          <p:cNvCxnSpPr/>
          <p:nvPr/>
        </p:nvCxnSpPr>
        <p:spPr>
          <a:xfrm xmlns:a="http://schemas.openxmlformats.org/drawingml/2006/main">
            <a:off x="3981450" y="2228850"/>
            <a:ext cx="95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0E575BA-82DC-4647-B81D-22A895E9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BC1C5E-2943-4BDF-B2C1-150D9100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BEC6438-5F28-491D-B705-3C7623B7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6E8A0D-7FD7-45C0-BDD9-F6A5DA5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4BB9B76-D9A4-4DD4-9F7F-50B5AF78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14AC60D-B008-4137-A656-4356D143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00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A8B250-5106-4844-81E4-A9EE511B0780}"/>
              </a:ext>
            </a:extLst>
          </p:cNvPr>
          <p:cNvCxnSpPr/>
          <p:nvPr/>
        </p:nvCxnSpPr>
        <p:spPr>
          <a:xfrm xmlns:a="http://schemas.openxmlformats.org/drawingml/2006/main">
            <a:off x="3619500" y="3133725"/>
            <a:ext cx="123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4DC66E-3C36-4561-A93C-4662F95BF0BD}"/>
              </a:ext>
            </a:extLst>
          </p:cNvPr>
          <p:cNvCxnSpPr/>
          <p:nvPr/>
        </p:nvCxnSpPr>
        <p:spPr>
          <a:xfrm xmlns:a="http://schemas.openxmlformats.org/drawingml/2006/main">
            <a:off x="4857750" y="1695450"/>
            <a:ext cx="95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A13F6A-8734-40BA-9AAA-9861CFD25809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647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89EF88-8EF6-4866-A1F5-88454DD58EF5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95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  <a:tailEnd type="arrow" w="lg" len="lg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2EC71C-1328-4B6F-ACF3-358B08C4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state migration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00A8A7A-D00D-455C-AD3C-48F7ACB1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8C2FD3-23F3-4799-B988-3AB2ECB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62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1  车跨 cell，触发 handover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AE5C36-F356-4386-8F5F-8274DC8D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2  当前 edge server 持有 base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9B814C-7207-41DE-8F60-B00109E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3  迁移 delta 或全量状态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286B27-8A66-4F36-A6D4-76AA6042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4  目标 edge server apply + restore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B24F96-5EA0-4A0A-8BF4-85B27137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状态 3–200 MB，镜像 205–540 MB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AA6550-A83C-4C30-A90C-4D1EBC9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青框：当前 cell    橙框：目标 cell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虚线：车辆路径    橙箭头：状态迁移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81D9782-1ABA-4BDA-AABD-AA00D1D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DATA7：30 个 gNB，62 条链路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7C100D-EC19-40DD-9BF1-6D7B4BF7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E6D790-157C-4674-A564-4D80540B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切换是“车换 cell”，迁移是“状态换 edge server”。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CE745B-65A9-47A0-8986-1AD4FFF8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555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71852-A7ED-4E14-8BF4-3015AB2223A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92D9F-12CE-484E-AEB2-8A622337264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E3665-209E-4237-8B1C-378A8517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状态模型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7FA56-6406-42CE-BAE0-8D32CCE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base、delta 与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A199A-55DA-4277-8A55-671E604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A2BA2-2C70-40E4-BC87-9C52BA3E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20813-5579-4314-850F-7CA87FF9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41B1B-3272-4BA0-BC86-CB8AF1D6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上次同步的完整状态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F1046-5ABF-4C5F-9F72-8A7C54D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9A5FA-ECC2-4846-AC47-BDBC554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F8A6F-4180-45A9-B487-EE162486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= 当前状态 −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A708E-7EDB-4DB5-B0C3-C7891F06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DDDF9-96F8-4AE1-AD5F-D12F436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1F940-6733-478E-B757-78CD5A08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+ restart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恢复时间也计入开销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E210F-6772-4AD1-8668-2362D9A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2F6C4-428B-4985-96F3-2C932A63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冷目标：目标节点没有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9D7D7-E762-41D3-8EC6-4B9A11A5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不能只发 delta，必须回退全量状态。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065D2-7E14-4A87-BF25-15D2969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恢复开销 = 应用状态 + 重启服务，按 5 ms/MB 计入迁移时长。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ABD32-93A9-4245-B4A9-529F79F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8B0DF-20E4-4600-8E22-076531EA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增量不是免费的。delta 能不能用，取决于目标节点有没有 base。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22B03-5EC6-47F8-947B-78DFF59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8252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D74E1-A998-4FA5-9F4D-EAC29ED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FFE0C-E661-412B-881E-B20EEF1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真实数据与可控假设分开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9664E-F2F0-401E-A6C1-7F078200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B857E-0C14-491E-A971-A4C9586B4E68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可控假设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DATA7：30 个真实 gNB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链路带宽 100 Mbps 至 1 Gbps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SF / Rome：真实出租车轨迹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状态增长率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4 类 MEC 服务的数据流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恢复速率 5 ms/MB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网络时延 5 ms/跳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镜像层大小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 车辆：SUMO 轨迹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服务算力与内存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C45AE-4B86-487C-B0B2-CC7A9BF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的基站位置来自 OpenCellID，车辆轨迹由 SUMO 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E8190-4383-4692-9222-E286FC5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2B0EA-49E8-4F9E-AF23-0E8D096B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拓扑和移动来自真实数据，网络与服务参数是可控假设。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284C4-0FC4-44A2-A2B0-E902B75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052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11193-1615-4FFB-8B9C-CC9F8A53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E6F6-E0E7-4017-8B21-8379A542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开销不能只看一个字节数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2E2ED-8B56-49F4-BAF0-A93FADE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2E3F8-C5E9-454A-98F1-7D600CE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8D15B-FA37-48D6-A0FB-87277F8D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state + image + base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4D4A5-0F80-469C-8891-22BAB3C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954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DF836-D4EA-4DEF-8E27-33765C39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225E8-3282-4106-B4FF-C629A339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B3116-1A92-440B-8E1C-8544D66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传输字节 × 占用步数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8F0A6-7E5E-46C0-A7E8-71B7F26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MB·s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B7294-BEE1-491B-82C4-E150A39D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987E9-DAF9-41BC-80A1-8B9B386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4F745-1FE9-4EE8-9066-1377165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apply state + restart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AE67E-B0BC-4237-A4C5-B96239BB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CA192-5307-45AF-ACCD-29092C8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5973C-6F6F-40B1-8D3D-2094883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F2FC1-09FD-4910-BA59-38F77CF6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interruption + post-arrival 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95DE6-D866-4151-BF2B-942AAD3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% /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44A4D-6081-475F-99BC-756D14C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FB823-B9FB-4987-8BCF-F12D9625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同一个 100 GB，占用 10 秒和占用 100 秒，代价不同。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67BDD-563B-42DE-8D63-3153D1D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E0A37-B18B-4247-85E3-49976AA8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 GB，会低估迁移对链路和用户的实际占用。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697E4-DD31-4871-A751-64629E08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30152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F4135-E731-4547-A583-DE1047AF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A0422-35D2-42F8-BAA0-B44B2D3B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follow-me 在 DATA7 上有多贵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BDB53-69C0-4273-BF7A-D6C6AC1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2247E-49C2-4CEB-8B62-B160C9CF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C7DED-0112-4750-B040-5D219E8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服务中断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FDBC8-918D-4FDF-B9F7-D82AED9C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345 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6E3BE-7B23-4355-BCC4-EF619EA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E721D-1F04-4D51-B941-3198E80E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C81FD-1A7E-4BC5-8934-FD24B19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开销比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785E2-BE75-43BD-9C30-F7518E667FEF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2667000"/>
                <a:gridCol w="30480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108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8C5BB-8AB4-4EB8-966C-81160E0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CCD1E-AA5D-4092-9937-7818DBF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大状态服务主导开销，信息娱乐一个服务就占 215 GB。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5D3D0-4CEC-4674-BAD9-4A027574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0934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4623C-45BB-42F6-8108-8828F241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50447-76F9-42ED-9E7D-A62FA268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增量收益取决于 base 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92F52-CC4C-4B50-BDE1-48C31AE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DE465-7D95-4389-82E1-280006AEB0CD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200025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冷目标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字节节省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中断（全量）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中断（增量）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2.4%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39466-7F01-41AE-9B73-6A5F40E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冷目标越多，delta 越接近全量。合成数据 93% 是冷目标，增量几乎没有收益。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58371-FCC5-4A3A-A0F1-A27D76C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A7F34-4AED-475F-B719-CF19C370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delta 的核心不是“增量”两个字，而是 base locality。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85B62-9C65-444A-BB52-33DC622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48224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429EB-F701-4B53-B8D1-D686A7B1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压力矩阵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62F99-283E-4515-BDA3-BF9E06E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需求除以容量决定临界速度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5FD1E-6CEB-429C-B07E-FFB944A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79327-F617-49D0-9A89-EFD8AC006C3F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2095500"/>
                <a:gridCol w="2095500"/>
                <a:gridCol w="39052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 ≥ 50% 起点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65.7%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12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 Gbps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 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30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30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F9C08-80FC-4523-A2A8-D90B725A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同一策略在不同带宽和负载下，可能从“可接受”直接变成“不可用”。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070B7-7985-4E4D-A4D5-307C7836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C5125-755F-4449-BBDE-25E75372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速度是放大器。带宽和负载才是决定系统能不能撑住的底数。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72619-E0C8-4132-8FF3-1E1C8FC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4883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DF825-ED60-410D-A19D-F1B50C2B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预测器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EFDB4-64BD-4060-9F31-CB75D6BA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只有在预测准时才划算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8C61D-0D82-44F1-9241-F0ECCE8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C10DC-A3F1-45A6-B557-605F84312C68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809750"/>
                <a:gridCol w="1809750"/>
                <a:gridCol w="2219325"/>
                <a:gridCol w="221932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预测器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到达后滞后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oracle（上限）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1.7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一阶马尔可夫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192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last-direction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214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10.9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reactive 全量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140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7.8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45191-A6C6-4B1C-B13F-7E287D6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预测差会让迁移数据从 140 GB 涨到 214 GB，比不预测更贵。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0F000-4F5D-4C6A-8E28-B08F9BDD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02EB7-F351-4786-858B-26A7BFF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预测质量决定 proactive 是省钱还是烧钱。oracle 只能当上限。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98F74-0FD3-416C-B1C0-3C4ADE0F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60536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995BD-0B99-4E6A-9410-F65D10B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D8B9D-5F6C-4837-9922-EBF34DDF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三条系统结论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3A36-9494-455F-8061-D7EA9225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CF10D-5214-4AC9-9028-DECAFE8D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0E148-EA2D-4775-917F-DFD9FC7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overhead 不是单一字节数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51E74-C102-4605-ADDF-A354C36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要把传输量、占用时间和恢复成本一起算。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5D189-FF14-427D-B409-D0ECE99A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55752-EC27-4022-A809-1718043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是 base locality 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8A059-96F4-4A1F-B3A3-89351AF5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目标有没有 base，决定了增量能省多少。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9DCC5-14F0-4357-9536-59531488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7A154-D703-450C-80CD-853D106B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是预测质量问题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51CB8-F6D1-4FDB-8D2E-1654C61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预测不准时，提前迁移会比不迁移更贵。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90C9B-936B-4C61-9C14-5516528C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没有单一最优策略。按带宽、负载、速度的组合选择。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D14BD-68AD-4D93-AE7A-8AB218BF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DC40F-B89D-4193-89D8-CAFD2B0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这些正是项目里密文增量与同步机制要付的系统成本。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7222E-77D8-4639-8BE7-8F5AD338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0880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37D5A-DCE8-4020-875A-92344AF6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B50B9-268B-4406-A06B-88EA3A8F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 与隐私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EB16C-C93E-4D70-A2B7-42334F4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525AF-DD63-4CCB-97B7-0988FBBA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AB53E-89BD-4C21-A0E5-70D05FB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0AC9F-ADA6-490D-986C-435DBF5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哪些节点值得预热，复制间隔多长。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8837-DC7E-48D7-B370-C1713CFD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B5AF2-C572-4381-8019-86C415F2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隐私侧信道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CE5E5-B780-46AC-B772-14C47B6C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迁移时刻与通信端点会泄露移动轨迹。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6C949-87D9-4040-9F06-BF68F8F5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A6AA0-C1D2-4079-850C-7E69ED7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小规模 testbed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11207-0A50-4BEE-A82D-9A26D9E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用真实节点验证仿真结论。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A1070-8FB5-4A4E-A017-53B65CFE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先系统，后安全。两者共用同一套开销账。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53E5F-ECB0-4965-BE50-EEFF269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ADF1F-287D-43AE-AD75-3C69AECB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下一步把 base 放置与隐私保护放进同一个评估框架。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FA64C-C351-4836-89DF-1AD2A5A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7829991"/>
      </p:ext>
    </p:extLst>
  </p:cSld>
</p:sld>
</file>

<file path=ppt/theme/theme1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2026-10-21T08:07:27.1570000Z</dcterms:created>
  <dcterms:modified xsi:type="dcterms:W3CDTF">2026-10-21T08:07:27.1570000Z</dcterms:modified>
</coreProperties>
</file>