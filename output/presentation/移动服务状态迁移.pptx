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9" r:id="rId5"/>
    <p:sldId id="258" r:id="rId6"/>
    <p:sldId id="283" r:id="rId7"/>
    <p:sldId id="260" r:id="rId8"/>
    <p:sldId id="261" r:id="rId9"/>
    <p:sldId id="262" r:id="rId10"/>
    <p:sldId id="263" r:id="rId11"/>
    <p:sldId id="265" r:id="rId12"/>
    <p:sldId id="267" r:id="rId13"/>
    <p:sldId id="272" r:id="rId14"/>
    <p:sldId id="270" r:id="rId15"/>
    <p:sldId id="273" r:id="rId16"/>
    <p:sldId id="274" r:id="rId17"/>
    <p:sldId id="275" r:id="rId18"/>
    <p:sldId id="276" r:id="rId19"/>
    <p:sldId id="277" r:id="rId20"/>
    <p:sldId id="278" r:id="rId21"/>
    <p:sldId id="279" r:id="rId22"/>
    <p:sldId id="280" r:id="rId23"/>
    <p:sldId id="281" r:id="rId24"/>
    <p:sldId id="282" r:id="rId25"/>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7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各位老师好。今天的重点是把车辆移动后为什么需要迁移、迁移到底搬什么、开销从哪里来这三件事讲清楚。每讲一个概念，我都会说明它在后面的实验里对应哪个指标。</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边缘计算可以理解成把云计算的一小部分能力放到离用户很近的位置。离得近，网络往返时间短，适合导航、告警和实时视频。但是每个边缘节点容量有限，不可能把所有服务都复制到所有地方。因此车一移动，就可能需要把服务从原来的节点交给新节点。这正是本课题要解决的问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先用一个生活例子。车在 A 区时，服务也在 A 区，离得近。车开到 B 区以后，无线网络已经换了，但如果服务器还在 A 区，请求就要绕远路。把服务搬到 B 区可以重新变近，可搬家要传数据。关键点是：服务有自己的记忆，包括视频进度、导航路线和缓存。迁移要保证新节点能接着做。</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这一页解释 cell。真实网络由基站、回传网络、核心网和服务器共同组成。我们把一片服务区域、一个无线接入点、连到边缘服务器的网络路径合在一起，抽象成一个 cell。这样车辆经过哪个区域，就对应到哪个服务节点。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车辆轨迹和网络拓扑不是同一张图。车辆可以沿着任意真实道路走，我们只需要把每一秒的位置映射到它所在的 cell。网络图则说明边缘服务器之间哪些链相连、一条迁移要经过几跳。数据库里有真实轨迹时，轨迹形状不会被网格限制。四连通只是网络路由的简化。</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车跨过区域时，第一件事是无线连接从 A 的基站切到 B 的基站，这叫 handover。第二件事才是服务和状态从 A 的服务器搬到 B，这叫 migration。两者可以不同步。最坏情况是车已经在 B，导航请求也发到了 B，但 B 还没有状态，只能等或回退到 A。用户感受到的中断就是从这个不同步窗口来的。</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页回答之前一个疑问：源节点在批量传输时不是还在服务吗，为什么还会有中断。答案是批量传输阶段确实可以继续服务，但传完以后必须冻结最后的小变化，再把状态交给目标节点并恢复组件。这个最后窗口是一次性的，通常比整份状态全程停机短，但不能消失。我们统计的中断就是用户无法正常获得服务的那些秒。</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导航接收位置和目的地，在边缘重新算路，再把下一步路线返回。信息娱乐要保存播放位置和缓冲数据，通常状态最大。告警接收传感器，在边缘做规则匹配，状态很小。实时交通分析把很多车的数据聚合成拥堵图。</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sym typeface="+mn-ea"/>
              </a:rPr>
              <a:t>cold target 是目标节点没有 base 的情况。此时增量策略没有旧底稿可以比较，只能发送完整状态。所以同一个“增量迁移”算法，在不同移动轨迹上收益会差很多。如果车辆总在城市里循环，同一个节点可能以前见过这个服务，增量就便宜；如果车辆总去新区域，目标节点经常是冷的，增量就接近全量。这自然把问题连接到存储系统里的数据放置和缓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这一页特别说明数据边界。SF 和 Rome 提供了真实出租车轨迹，但服务区域网格是仿真抽象。DATA7 提供了真实基站位置和链路关系，但车辆轨迹是 SUMO 生成的，不是真实车辆 GPS。来源包括 Zenodo 10.5281/zenodo.7806928 的 DATA7，以及 San Francisco Cabspotting 和 Rome taxi 轨迹。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这张表是后面对照实验的读表规则。每服务中断率告诉我们是哪个服务影响用户。迁移字节描述搬了多少。冗余迁移描述是否做了无效往返。</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基线实验固定 12 辆车、1800 秒和 40 公里每小时。每个服务每秒都参与可用性统计。预迁移在距离边界约 12 步时触发。为什么先固定这些？因为如果所有变量一起变，最后无法知道收益来自增量、提前量还是带宽。压力测试再单独扫速度和负载。12 步只是当前参数，正式论文里应该做提前量的敏感性分析。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follow-me 就是车到哪、服务才搬到哪。它是很自然的基线。在这组 DATA7 条件里，48.8% 的车辆秒至少有一个服务不可用，累计迁移 345 GB，开销比 48.2 倍。为什么中断这么高？因为迁移从 handover 之后才开始，用户先到了新节点，再等迁移、镜像和恢复完成。这个结果说明优化传输和时机都有空间。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把总量拆开后，信息娱乐迁移 215 GB，占整体约六成；交通分析 108 GB；导航和告警小很多。中断率也是信息娱乐最高。这里要解释一个容易误读的地方：总中断率不是四个服务中断率的平均值，而是一辆车只要至少一个服务不可用就算中断，所以总中断会高于告警和导航的单项中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这张表是 base locality 的证据。DATA7 只有 17% 的迁移遇到冷目标，所以增量节省 74% 字节，同时中断从 48.8% 降到 11.5%。合成网格里 93% 的迁移目标都没有 base，增量只省 2.4%，几乎和全量一样。这里不能把四个城市当作严格排名，因为 cell 尺度不同。它说明的是机制：目标节点是否以前有快照，决定了增量能不能发挥作用。</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压力测试同时改变带宽、车辆数和速度。100 Mbps 12 车在 20 公里每小时就已经超过一半中断；500 Mbps 12 车要到 90 公里每小时；1 Gbps 12 车到 90 仍低于一半。500 Mbps 但 30 车时，40 公里每小时就达到边界。这张表要说明的是，速度是放大器，根本上还是迁移需求超过了带宽和处理能力。</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预测器只做一件事：在车还没到边界时，猜它下一个 cell。last-direction 沿最近方向外推，最便宜但转弯就错。一阶马尔可夫用历史路线学习转移概率，CPU 可以跑。oracle 是直接看真实未来，只能做上限。预测器的名字听起来高级，但判断仍然要回到两个问题：猜得准不准，猜错以后多做多少迁移。</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预测结果很说明问题。oracle 中断最低、字节也相对少，但现实中拿不到真实未来。一阶马尔可夫准确率约 49%，字节 192 GB。last-direction 只有 21%，中断仍比不预测低，但迁移字节 214 GB，比 reactive 全量还多。也就是说，它通过多搬几次来换取提前量。研究上必须把中断和字节一起报，否则会高估提前搬的收益。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系统优化可以拆成四层。第一，决策层决定迁不迁、迁哪个服务。第二，放置层决定哪些节点提前有 base 和镜像。第三，传输层决定一次迁移怎么压缩、分块和去重。第四，恢复层决定目标节点多快能真正接手。每一层都能降低开销，但都会带来新的代价。建议先做传输层和放置层，因为它们和存储背景最贴近，也能独立测量收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结论有四点。第一，先把用户连续性说清楚，不能用切换次数代替中断。第二，成本要同时看字节、带宽时间和恢复。第三，增量的上限由 base 命中率决定。第四，提前搬必须把预测错误带来的额外迁移算进去。这四点和项目里的跨边状态同步、密文增量直接相关，因为任何安全和缩减机制都不能只报压缩率，还要报恢复和同步开销。</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最后列清楚边界。当前数据尺度和 cell 抽象不同，不能把四个数据集的数字当作严格排行。提前量、不迁移对照和小规模实测还需要补。下一步先做 base 放置和提前量敏感性，再尝试真实 testbed。安全机制可以后叠加，因为它仍然要回答同样三个问题：增加了多少字节、延长了多少恢复时间、让用户多等了多少秒。</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6.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1" Type="http://schemas.openxmlformats.org/officeDocument/2006/relationships/notesSlide" Target="../notesSlides/notesSlide5.xml"/><Relationship Id="rId10" Type="http://schemas.openxmlformats.org/officeDocument/2006/relationships/slideLayout" Target="../slideLayouts/slideLayout6.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3A3A"/>
        </a:solidFill>
        <a:effectLst/>
      </p:bgPr>
    </p:bg>
    <p:spTree>
      <p:nvGrpSpPr>
        <p:cNvPr id="1" name=""/>
        <p:cNvGrpSpPr/>
        <p:nvPr/>
      </p:nvGrpSpPr>
      <p:grpSpPr/>
      <p:sp>
        <p:nvSpPr>
          <p:cNvPr id="7" name="矩形 6"/>
          <p:cNvSpPr>
            <a:spLocks noGrp="1"/>
          </p:cNvSpPr>
          <p:nvPr/>
        </p:nvSpPr>
        <p:spPr>
          <a:xfrm>
            <a:off x="685800" y="476250"/>
            <a:ext cx="8572500" cy="228600"/>
          </a:xfrm>
          <a:prstGeom prst="rect">
            <a:avLst/>
          </a:prstGeom>
          <a:noFill/>
          <a:ln w="0">
            <a:noFill/>
            <a:prstDash val="solid"/>
          </a:ln>
        </p:spPr>
        <p:txBody>
          <a:bodyPr wrap="square" lIns="0" tIns="0" rIns="0" bIns="0" anchor="t">
            <a:noAutofit/>
          </a:bodyPr>
          <a:lstStyle>
            <a:defPPr algn="l">
              <a:defRPr sz="975" b="1">
                <a:solidFill>
                  <a:srgbClr val="BFD6D2"/>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975" b="1">
                <a:solidFill>
                  <a:srgbClr val="BFD6D2"/>
                </a:solidFill>
                <a:latin typeface="微软雅黑" panose="020B0503020204020204" charset="-122"/>
                <a:ea typeface="微软雅黑" panose="020B0503020204020204" charset="-122"/>
                <a:cs typeface="微软雅黑" panose="020B0503020204020204" charset="-122"/>
              </a:defRPr>
            </a:pPr>
            <a:r>
              <a:rPr sz="1400" b="1">
                <a:solidFill>
                  <a:srgbClr val="BFD6D2"/>
                </a:solidFill>
                <a:latin typeface="微软雅黑" panose="020B0503020204020204" charset="-122"/>
                <a:ea typeface="微软雅黑" panose="020B0503020204020204" charset="-122"/>
                <a:cs typeface="微软雅黑" panose="020B0503020204020204" charset="-122"/>
              </a:rPr>
              <a:t>课题汇报  /  2026年10月</a:t>
            </a:r>
            <a:endParaRPr sz="1400" b="1">
              <a:solidFill>
                <a:srgbClr val="BFD6D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2322195"/>
            <a:ext cx="10096500" cy="849630"/>
          </a:xfrm>
          <a:prstGeom prst="rect">
            <a:avLst/>
          </a:prstGeom>
          <a:noFill/>
          <a:ln w="0">
            <a:noFill/>
            <a:prstDash val="solid"/>
          </a:ln>
        </p:spPr>
        <p:txBody>
          <a:bodyPr wrap="square" lIns="0" tIns="0" rIns="0" bIns="0" anchor="t">
            <a:noAutofit/>
          </a:bodyPr>
          <a:lstStyle>
            <a:defPPr algn="l">
              <a:defRPr sz="3375" b="1">
                <a:solidFill>
                  <a:srgbClr val="FFFFFF"/>
                </a:solidFill>
                <a:latin typeface="微软雅黑" panose="020B0503020204020204" charset="-122"/>
                <a:ea typeface="微软雅黑" panose="020B0503020204020204" charset="-122"/>
                <a:cs typeface="微软雅黑" panose="020B0503020204020204" charset="-122"/>
              </a:defRPr>
            </a:defPPr>
          </a:lstStyle>
          <a:p>
            <a:pPr algn="l">
              <a:lnSpc>
                <a:spcPct val="112000"/>
              </a:lnSpc>
              <a:buNone/>
              <a:defRPr sz="3375" b="1">
                <a:solidFill>
                  <a:srgbClr val="FFFFFF"/>
                </a:solidFill>
                <a:latin typeface="微软雅黑" panose="020B0503020204020204" charset="-122"/>
                <a:ea typeface="微软雅黑" panose="020B0503020204020204" charset="-122"/>
                <a:cs typeface="微软雅黑" panose="020B0503020204020204" charset="-122"/>
              </a:defRPr>
            </a:pPr>
            <a:r>
              <a:rPr sz="4400" b="1">
                <a:solidFill>
                  <a:srgbClr val="FFFFFF"/>
                </a:solidFill>
                <a:latin typeface="微软雅黑" panose="020B0503020204020204" charset="-122"/>
                <a:ea typeface="微软雅黑" panose="020B0503020204020204" charset="-122"/>
                <a:cs typeface="微软雅黑" panose="020B0503020204020204" charset="-122"/>
              </a:rPr>
              <a:t>车辆移动后，服务如何不中断</a:t>
            </a:r>
            <a:endParaRPr sz="44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3448050"/>
            <a:ext cx="914400" cy="28575"/>
          </a:xfrm>
          <a:prstGeom prst="rect">
            <a:avLst/>
          </a:prstGeom>
          <a:solidFill>
            <a:srgbClr val="8FB8B2"/>
          </a:solidFill>
          <a:ln w="0">
            <a:noFill/>
            <a:prstDash val="solid"/>
          </a:ln>
        </p:spPr>
      </p:sp>
      <p:sp>
        <p:nvSpPr>
          <p:cNvPr id="4" name="矩形 3"/>
          <p:cNvSpPr>
            <a:spLocks noGrp="1"/>
          </p:cNvSpPr>
          <p:nvPr/>
        </p:nvSpPr>
        <p:spPr>
          <a:xfrm>
            <a:off x="685800" y="3733800"/>
            <a:ext cx="9715500" cy="304800"/>
          </a:xfrm>
          <a:prstGeom prst="rect">
            <a:avLst/>
          </a:prstGeom>
          <a:noFill/>
          <a:ln w="0">
            <a:noFill/>
            <a:prstDash val="solid"/>
          </a:ln>
        </p:spPr>
        <p:txBody>
          <a:bodyPr wrap="square" lIns="0" tIns="0" rIns="0" bIns="0" anchor="t">
            <a:noAutofit/>
          </a:bodyPr>
          <a:lstStyle>
            <a:defPPr algn="l">
              <a:defRPr sz="1650" b="0">
                <a:solidFill>
                  <a:srgbClr val="D6E5E2"/>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650" b="0">
                <a:solidFill>
                  <a:srgbClr val="D6E5E2"/>
                </a:solidFill>
                <a:latin typeface="微软雅黑" panose="020B0503020204020204" charset="-122"/>
                <a:ea typeface="微软雅黑" panose="020B0503020204020204" charset="-122"/>
                <a:cs typeface="微软雅黑" panose="020B0503020204020204" charset="-122"/>
              </a:defRPr>
            </a:pPr>
            <a:r>
              <a:rPr sz="2400" b="1">
                <a:solidFill>
                  <a:srgbClr val="D6E5E2"/>
                </a:solidFill>
                <a:latin typeface="微软雅黑" panose="020B0503020204020204" charset="-122"/>
                <a:ea typeface="微软雅黑" panose="020B0503020204020204" charset="-122"/>
                <a:cs typeface="微软雅黑" panose="020B0503020204020204" charset="-122"/>
              </a:rPr>
              <a:t>MEC 服务状态迁移仿真</a:t>
            </a:r>
            <a:endParaRPr sz="2400" b="1">
              <a:solidFill>
                <a:srgbClr val="D6E5E2"/>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85800" y="6096000"/>
            <a:ext cx="7429500" cy="209550"/>
          </a:xfrm>
          <a:prstGeom prst="rect">
            <a:avLst/>
          </a:prstGeom>
          <a:noFill/>
          <a:ln w="0">
            <a:noFill/>
            <a:prstDash val="solid"/>
          </a:ln>
        </p:spPr>
        <p:txBody>
          <a:bodyPr wrap="square" lIns="0" tIns="0" rIns="0" bIns="0" anchor="t">
            <a:noAutofit/>
          </a:bodyPr>
          <a:lstStyle>
            <a:defPPr algn="l">
              <a:defRPr sz="975" b="0">
                <a:solidFill>
                  <a:srgbClr val="A9C6C1"/>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975" b="0">
                <a:solidFill>
                  <a:srgbClr val="A9C6C1"/>
                </a:solidFill>
                <a:latin typeface="微软雅黑" panose="020B0503020204020204" charset="-122"/>
                <a:ea typeface="微软雅黑" panose="020B0503020204020204" charset="-122"/>
                <a:cs typeface="微软雅黑" panose="020B0503020204020204" charset="-122"/>
              </a:defRPr>
            </a:pPr>
            <a:r>
              <a:rPr sz="1400" b="1">
                <a:solidFill>
                  <a:srgbClr val="A9C6C1"/>
                </a:solidFill>
                <a:latin typeface="微软雅黑" panose="020B0503020204020204" charset="-122"/>
                <a:ea typeface="微软雅黑" panose="020B0503020204020204" charset="-122"/>
                <a:cs typeface="微软雅黑" panose="020B0503020204020204" charset="-122"/>
              </a:rPr>
              <a:t>面向云边存储的数据安全缩减技术研究</a:t>
            </a:r>
            <a:endParaRPr sz="1400" b="1">
              <a:solidFill>
                <a:srgbClr val="A9C6C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800" b="1">
                <a:solidFill>
                  <a:srgbClr val="1B1B19"/>
                </a:solidFill>
                <a:latin typeface="微软雅黑" panose="020B0503020204020204" charset="-122"/>
                <a:ea typeface="微软雅黑" panose="020B0503020204020204" charset="-122"/>
                <a:cs typeface="微软雅黑" panose="020B0503020204020204" charset="-122"/>
              </a:rPr>
              <a:t>移动边缘计算（MEC）把计算放到离用户更近的地方</a:t>
            </a:r>
            <a:endParaRPr sz="28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sp>
        <p:nvSpPr>
          <p:cNvPr id="4" name="圆角矩形 3"/>
          <p:cNvSpPr>
            <a:spLocks noGrp="1"/>
          </p:cNvSpPr>
          <p:nvPr>
            <p:custDataLst>
              <p:tags r:id="rId1"/>
            </p:custDataLst>
          </p:nvPr>
        </p:nvSpPr>
        <p:spPr>
          <a:xfrm>
            <a:off x="685800" y="1847850"/>
            <a:ext cx="4762500" cy="2286000"/>
          </a:xfrm>
          <a:prstGeom prst="roundRect">
            <a:avLst>
              <a:gd name="adj" fmla="val 3333"/>
            </a:avLst>
          </a:prstGeom>
          <a:solidFill>
            <a:srgbClr val="FFFFFF"/>
          </a:solidFill>
          <a:ln w="9525">
            <a:solidFill>
              <a:srgbClr val="D9D9D1"/>
            </a:solidFill>
            <a:prstDash val="solid"/>
          </a:ln>
        </p:spPr>
      </p:sp>
      <p:sp>
        <p:nvSpPr>
          <p:cNvPr id="5" name="矩形 4"/>
          <p:cNvSpPr>
            <a:spLocks noGrp="1"/>
          </p:cNvSpPr>
          <p:nvPr>
            <p:custDataLst>
              <p:tags r:id="rId2"/>
            </p:custDataLst>
          </p:nvPr>
        </p:nvSpPr>
        <p:spPr>
          <a:xfrm>
            <a:off x="933450" y="2057400"/>
            <a:ext cx="4267200" cy="285750"/>
          </a:xfrm>
          <a:prstGeom prst="rect">
            <a:avLst/>
          </a:prstGeom>
          <a:noFill/>
          <a:ln w="0">
            <a:noFill/>
            <a:prstDash val="solid"/>
          </a:ln>
        </p:spPr>
        <p:txBody>
          <a:bodyPr wrap="square" lIns="0" tIns="0" rIns="0" bIns="0" anchor="t">
            <a:noAutofit/>
          </a:bodyPr>
          <a:lstStyle>
            <a:defPPr algn="l">
              <a:defRPr sz="165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650" b="1">
                <a:solidFill>
                  <a:srgbClr val="1B1B19"/>
                </a:solidFill>
                <a:latin typeface="微软雅黑" panose="020B0503020204020204" charset="-122"/>
                <a:ea typeface="微软雅黑" panose="020B0503020204020204" charset="-122"/>
                <a:cs typeface="微软雅黑" panose="020B0503020204020204" charset="-122"/>
              </a:defRPr>
            </a:pPr>
            <a:r>
              <a:rPr sz="2000" b="1">
                <a:solidFill>
                  <a:srgbClr val="1B1B19"/>
                </a:solidFill>
                <a:latin typeface="微软雅黑" panose="020B0503020204020204" charset="-122"/>
                <a:ea typeface="微软雅黑" panose="020B0503020204020204" charset="-122"/>
                <a:cs typeface="微软雅黑" panose="020B0503020204020204" charset="-122"/>
              </a:rPr>
              <a:t>云计算</a:t>
            </a:r>
            <a:endParaRPr sz="20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custDataLst>
              <p:tags r:id="rId3"/>
            </p:custDataLst>
          </p:nvPr>
        </p:nvSpPr>
        <p:spPr>
          <a:xfrm>
            <a:off x="933450" y="2476500"/>
            <a:ext cx="4267200" cy="1238250"/>
          </a:xfrm>
          <a:prstGeom prst="rect">
            <a:avLst/>
          </a:prstGeom>
          <a:noFill/>
          <a:ln w="0">
            <a:noFill/>
            <a:prstDash val="solid"/>
          </a:ln>
        </p:spPr>
        <p:txBody>
          <a:bodyPr wrap="square" lIns="0" tIns="0" rIns="0" bIns="0" anchor="t">
            <a:noAutofit/>
          </a:bodyPr>
          <a:lstStyle>
            <a:defPPr algn="l">
              <a:defRPr sz="1200"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42000"/>
              </a:lnSpc>
              <a:buNone/>
              <a:defRPr sz="1200"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城市外的大仓库。</a:t>
            </a:r>
            <a:endParaRPr sz="1600" b="1">
              <a:solidFill>
                <a:srgbClr val="5F5F58"/>
              </a:solidFill>
              <a:latin typeface="微软雅黑" panose="020B0503020204020204" charset="-122"/>
              <a:ea typeface="微软雅黑" panose="020B0503020204020204" charset="-122"/>
              <a:cs typeface="微软雅黑" panose="020B0503020204020204" charset="-122"/>
            </a:endParaRPr>
          </a:p>
          <a:p>
            <a:pPr algn="l">
              <a:lnSpc>
                <a:spcPct val="142000"/>
              </a:lnSpc>
              <a:buNone/>
              <a:defRPr sz="1200"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资源多、成本低，适合长期保存和大规模计算。</a:t>
            </a:r>
            <a:endParaRPr sz="1600" b="1">
              <a:solidFill>
                <a:srgbClr val="5F5F58"/>
              </a:solidFill>
              <a:latin typeface="微软雅黑" panose="020B0503020204020204" charset="-122"/>
              <a:ea typeface="微软雅黑" panose="020B0503020204020204" charset="-122"/>
              <a:cs typeface="微软雅黑" panose="020B0503020204020204" charset="-122"/>
            </a:endParaRPr>
          </a:p>
          <a:p>
            <a:pPr algn="l">
              <a:lnSpc>
                <a:spcPct val="142000"/>
              </a:lnSpc>
              <a:buNone/>
              <a:defRPr sz="1200"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但用户发出的请求要经过更长的网络路径。</a:t>
            </a:r>
            <a:endParaRPr sz="16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custDataLst>
              <p:tags r:id="rId4"/>
            </p:custDataLst>
          </p:nvPr>
        </p:nvSpPr>
        <p:spPr>
          <a:xfrm>
            <a:off x="6667500" y="1847850"/>
            <a:ext cx="4838700" cy="2286000"/>
          </a:xfrm>
          <a:prstGeom prst="roundRect">
            <a:avLst>
              <a:gd name="adj" fmla="val 3333"/>
            </a:avLst>
          </a:prstGeom>
          <a:solidFill>
            <a:srgbClr val="E7F0EE"/>
          </a:solidFill>
          <a:ln w="9525">
            <a:solidFill>
              <a:srgbClr val="0F5B5B"/>
            </a:solidFill>
            <a:prstDash val="solid"/>
          </a:ln>
        </p:spPr>
      </p:sp>
      <p:sp>
        <p:nvSpPr>
          <p:cNvPr id="9" name="矩形 8"/>
          <p:cNvSpPr>
            <a:spLocks noGrp="1"/>
          </p:cNvSpPr>
          <p:nvPr>
            <p:custDataLst>
              <p:tags r:id="rId5"/>
            </p:custDataLst>
          </p:nvPr>
        </p:nvSpPr>
        <p:spPr>
          <a:xfrm>
            <a:off x="6915150" y="2057400"/>
            <a:ext cx="4343400" cy="285750"/>
          </a:xfrm>
          <a:prstGeom prst="rect">
            <a:avLst/>
          </a:prstGeom>
          <a:noFill/>
          <a:ln w="0">
            <a:noFill/>
            <a:prstDash val="solid"/>
          </a:ln>
        </p:spPr>
        <p:txBody>
          <a:bodyPr wrap="square" lIns="0" tIns="0" rIns="0" bIns="0" anchor="t">
            <a:noAutofit/>
          </a:bodyPr>
          <a:lstStyle>
            <a:defPPr algn="l">
              <a:defRPr sz="165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650" b="1">
                <a:solidFill>
                  <a:srgbClr val="0F5B5B"/>
                </a:solidFill>
                <a:latin typeface="微软雅黑" panose="020B0503020204020204" charset="-122"/>
                <a:ea typeface="微软雅黑" panose="020B0503020204020204" charset="-122"/>
                <a:cs typeface="微软雅黑" panose="020B0503020204020204" charset="-122"/>
              </a:defRPr>
            </a:pPr>
            <a:r>
              <a:rPr sz="2000" b="1">
                <a:solidFill>
                  <a:srgbClr val="0F5B5B"/>
                </a:solidFill>
                <a:latin typeface="微软雅黑" panose="020B0503020204020204" charset="-122"/>
                <a:ea typeface="微软雅黑" panose="020B0503020204020204" charset="-122"/>
                <a:cs typeface="微软雅黑" panose="020B0503020204020204" charset="-122"/>
              </a:rPr>
              <a:t>边缘计算</a:t>
            </a:r>
            <a:endParaRPr sz="200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custDataLst>
              <p:tags r:id="rId6"/>
            </p:custDataLst>
          </p:nvPr>
        </p:nvSpPr>
        <p:spPr>
          <a:xfrm>
            <a:off x="6915150" y="2476500"/>
            <a:ext cx="4343400" cy="1238250"/>
          </a:xfrm>
          <a:prstGeom prst="rect">
            <a:avLst/>
          </a:prstGeom>
          <a:noFill/>
          <a:ln w="0">
            <a:noFill/>
            <a:prstDash val="solid"/>
          </a:ln>
        </p:spPr>
        <p:txBody>
          <a:bodyPr wrap="square" lIns="0" tIns="0" rIns="0" bIns="0" anchor="t">
            <a:noAutofit/>
          </a:bodyPr>
          <a:lstStyle>
            <a:defPPr algn="l">
              <a:defRPr sz="120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42000"/>
              </a:lnSpc>
              <a:buNone/>
              <a:defRPr sz="1200" b="0">
                <a:solidFill>
                  <a:srgbClr val="1B1B19"/>
                </a:solidFill>
                <a:latin typeface="微软雅黑" panose="020B0503020204020204" charset="-122"/>
                <a:ea typeface="微软雅黑" panose="020B0503020204020204" charset="-122"/>
                <a:cs typeface="微软雅黑" panose="020B0503020204020204" charset="-122"/>
              </a:defRPr>
            </a:pPr>
            <a:r>
              <a:rPr sz="1600" b="1">
                <a:solidFill>
                  <a:srgbClr val="1B1B19"/>
                </a:solidFill>
                <a:latin typeface="微软雅黑" panose="020B0503020204020204" charset="-122"/>
                <a:ea typeface="微软雅黑" panose="020B0503020204020204" charset="-122"/>
                <a:cs typeface="微软雅黑" panose="020B0503020204020204" charset="-122"/>
              </a:rPr>
              <a:t>每个</a:t>
            </a:r>
            <a:r>
              <a:rPr lang="zh-CN" sz="1600" b="1">
                <a:solidFill>
                  <a:srgbClr val="1B1B19"/>
                </a:solidFill>
                <a:latin typeface="微软雅黑" panose="020B0503020204020204" charset="-122"/>
                <a:ea typeface="微软雅黑" panose="020B0503020204020204" charset="-122"/>
                <a:cs typeface="微软雅黑" panose="020B0503020204020204" charset="-122"/>
              </a:rPr>
              <a:t>片区</a:t>
            </a:r>
            <a:r>
              <a:rPr sz="1600" b="1">
                <a:solidFill>
                  <a:srgbClr val="1B1B19"/>
                </a:solidFill>
                <a:latin typeface="微软雅黑" panose="020B0503020204020204" charset="-122"/>
                <a:ea typeface="微软雅黑" panose="020B0503020204020204" charset="-122"/>
                <a:cs typeface="微软雅黑" panose="020B0503020204020204" charset="-122"/>
              </a:rPr>
              <a:t>的小仓库，离用户很近。</a:t>
            </a:r>
            <a:endParaRPr sz="1600" b="1">
              <a:solidFill>
                <a:srgbClr val="1B1B19"/>
              </a:solidFill>
              <a:latin typeface="微软雅黑" panose="020B0503020204020204" charset="-122"/>
              <a:ea typeface="微软雅黑" panose="020B0503020204020204" charset="-122"/>
              <a:cs typeface="微软雅黑" panose="020B0503020204020204" charset="-122"/>
            </a:endParaRPr>
          </a:p>
          <a:p>
            <a:pPr algn="l">
              <a:lnSpc>
                <a:spcPct val="142000"/>
              </a:lnSpc>
              <a:buNone/>
              <a:defRPr sz="1200" b="0">
                <a:solidFill>
                  <a:srgbClr val="1B1B19"/>
                </a:solidFill>
                <a:latin typeface="微软雅黑" panose="020B0503020204020204" charset="-122"/>
                <a:ea typeface="微软雅黑" panose="020B0503020204020204" charset="-122"/>
                <a:cs typeface="微软雅黑" panose="020B0503020204020204" charset="-122"/>
              </a:defRPr>
            </a:pPr>
            <a:r>
              <a:rPr sz="1600" b="1">
                <a:solidFill>
                  <a:srgbClr val="1B1B19"/>
                </a:solidFill>
                <a:latin typeface="微软雅黑" panose="020B0503020204020204" charset="-122"/>
                <a:ea typeface="微软雅黑" panose="020B0503020204020204" charset="-122"/>
                <a:cs typeface="微软雅黑" panose="020B0503020204020204" charset="-122"/>
              </a:rPr>
              <a:t>导航、告警这类要求快速响应的服务。</a:t>
            </a:r>
            <a:endParaRPr sz="16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685800" y="4438650"/>
            <a:ext cx="10820400" cy="800100"/>
          </a:xfrm>
          <a:prstGeom prst="roundRect">
            <a:avLst>
              <a:gd name="adj" fmla="val 9524"/>
            </a:avLst>
          </a:prstGeom>
          <a:solidFill>
            <a:srgbClr val="F6EEDC"/>
          </a:solidFill>
          <a:ln w="9525">
            <a:solidFill>
              <a:srgbClr val="D7B56A"/>
            </a:solidFill>
            <a:prstDash val="solid"/>
          </a:ln>
        </p:spPr>
      </p:sp>
      <p:sp>
        <p:nvSpPr>
          <p:cNvPr id="13" name="矩形 12"/>
          <p:cNvSpPr>
            <a:spLocks noGrp="1"/>
          </p:cNvSpPr>
          <p:nvPr/>
        </p:nvSpPr>
        <p:spPr>
          <a:xfrm>
            <a:off x="914400" y="4619625"/>
            <a:ext cx="10363200" cy="438150"/>
          </a:xfrm>
          <a:prstGeom prst="rect">
            <a:avLst/>
          </a:prstGeom>
          <a:noFill/>
          <a:ln w="0">
            <a:noFill/>
            <a:prstDash val="solid"/>
          </a:ln>
        </p:spPr>
        <p:txBody>
          <a:bodyPr wrap="square" lIns="0" tIns="0" rIns="0" bIns="0" anchor="t">
            <a:noAutofit/>
          </a:bodyPr>
          <a:lstStyle>
            <a:defPPr algn="l">
              <a:defRPr sz="127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35000"/>
              </a:lnSpc>
              <a:buNone/>
              <a:defRPr sz="1275" b="0">
                <a:solidFill>
                  <a:srgbClr val="1B1B19"/>
                </a:solidFill>
                <a:latin typeface="微软雅黑" panose="020B0503020204020204" charset="-122"/>
                <a:ea typeface="微软雅黑" panose="020B0503020204020204" charset="-122"/>
                <a:cs typeface="微软雅黑" panose="020B0503020204020204" charset="-122"/>
              </a:defRPr>
            </a:pPr>
            <a:r>
              <a:rPr sz="1800" b="1">
                <a:solidFill>
                  <a:srgbClr val="1B1B19"/>
                </a:solidFill>
                <a:latin typeface="微软雅黑" panose="020B0503020204020204" charset="-122"/>
                <a:ea typeface="微软雅黑" panose="020B0503020204020204" charset="-122"/>
                <a:cs typeface="微软雅黑" panose="020B0503020204020204" charset="-122"/>
              </a:rPr>
              <a:t>每个边缘节点容量有限，服务不能同时在所有节点完整运行</a:t>
            </a:r>
            <a:r>
              <a:rPr lang="zh-CN" sz="1800" b="1">
                <a:solidFill>
                  <a:srgbClr val="1B1B19"/>
                </a:solidFill>
                <a:latin typeface="微软雅黑" panose="020B0503020204020204" charset="-122"/>
                <a:ea typeface="微软雅黑" panose="020B0503020204020204" charset="-122"/>
                <a:cs typeface="微软雅黑" panose="020B0503020204020204" charset="-122"/>
              </a:rPr>
              <a:t>：</a:t>
            </a:r>
            <a:r>
              <a:rPr sz="1800" b="1">
                <a:solidFill>
                  <a:srgbClr val="1B1B19"/>
                </a:solidFill>
                <a:latin typeface="微软雅黑" panose="020B0503020204020204" charset="-122"/>
                <a:ea typeface="微软雅黑" panose="020B0503020204020204" charset="-122"/>
                <a:cs typeface="微软雅黑" panose="020B0503020204020204" charset="-122"/>
              </a:rPr>
              <a:t>车一移动，服务可能需要换地方。</a:t>
            </a:r>
            <a:endParaRPr sz="18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85800" y="5772150"/>
            <a:ext cx="10820400" cy="9525"/>
          </a:xfrm>
          <a:prstGeom prst="rect">
            <a:avLst/>
          </a:prstGeom>
          <a:solidFill>
            <a:srgbClr val="D9D9D1"/>
          </a:solidFill>
          <a:ln w="0">
            <a:noFill/>
            <a:prstDash val="solid"/>
          </a:ln>
        </p:spPr>
      </p:sp>
      <p:sp>
        <p:nvSpPr>
          <p:cNvPr id="15" name="矩形 14"/>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800" b="1">
                <a:solidFill>
                  <a:srgbClr val="0F5B5B"/>
                </a:solidFill>
                <a:latin typeface="微软雅黑" panose="020B0503020204020204" charset="-122"/>
                <a:ea typeface="微软雅黑" panose="020B0503020204020204" charset="-122"/>
                <a:cs typeface="微软雅黑" panose="020B0503020204020204" charset="-122"/>
              </a:rPr>
              <a:t>边缘计算用“近”换“快”，代价是用户移动时服务要跟着移动。</a:t>
            </a:r>
            <a:endParaRPr sz="1800"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800" b="1">
                <a:solidFill>
                  <a:srgbClr val="1B1B19"/>
                </a:solidFill>
                <a:latin typeface="微软雅黑" panose="020B0503020204020204" charset="-122"/>
                <a:ea typeface="微软雅黑" panose="020B0503020204020204" charset="-122"/>
                <a:cs typeface="微软雅黑" panose="020B0503020204020204" charset="-122"/>
              </a:rPr>
              <a:t>例子</a:t>
            </a:r>
            <a:endParaRPr sz="28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sp>
        <p:nvSpPr>
          <p:cNvPr id="4" name="圆角矩形 3"/>
          <p:cNvSpPr>
            <a:spLocks noGrp="1"/>
          </p:cNvSpPr>
          <p:nvPr/>
        </p:nvSpPr>
        <p:spPr>
          <a:xfrm>
            <a:off x="685800" y="1866900"/>
            <a:ext cx="3048000" cy="1676400"/>
          </a:xfrm>
          <a:prstGeom prst="roundRect">
            <a:avLst>
              <a:gd name="adj" fmla="val 4545"/>
            </a:avLst>
          </a:prstGeom>
          <a:solidFill>
            <a:srgbClr val="FFFFFF"/>
          </a:solidFill>
          <a:ln w="9525">
            <a:solidFill>
              <a:srgbClr val="D9D9D1"/>
            </a:solidFill>
            <a:prstDash val="solid"/>
          </a:ln>
        </p:spPr>
      </p:sp>
      <p:sp>
        <p:nvSpPr>
          <p:cNvPr id="5" name="矩形 4"/>
          <p:cNvSpPr>
            <a:spLocks noGrp="1"/>
          </p:cNvSpPr>
          <p:nvPr/>
        </p:nvSpPr>
        <p:spPr>
          <a:xfrm>
            <a:off x="914400" y="2076450"/>
            <a:ext cx="2590800" cy="285750"/>
          </a:xfrm>
          <a:prstGeom prst="rect">
            <a:avLst/>
          </a:prstGeom>
          <a:noFill/>
          <a:ln w="0">
            <a:noFill/>
            <a:prstDash val="solid"/>
          </a:ln>
        </p:spPr>
        <p:txBody>
          <a:bodyPr wrap="square" lIns="0" tIns="0" rIns="0" bIns="0" anchor="t">
            <a:noAutofit/>
          </a:bodyPr>
          <a:lstStyle>
            <a:defPPr algn="l">
              <a:defRPr sz="1425"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425" b="1">
                <a:solidFill>
                  <a:srgbClr val="1B1B19"/>
                </a:solidFill>
                <a:latin typeface="微软雅黑" panose="020B0503020204020204" charset="-122"/>
                <a:ea typeface="微软雅黑" panose="020B0503020204020204" charset="-122"/>
                <a:cs typeface="微软雅黑" panose="020B0503020204020204" charset="-122"/>
              </a:defRPr>
            </a:pPr>
            <a:r>
              <a:rPr sz="2000" b="1">
                <a:solidFill>
                  <a:srgbClr val="1B1B19"/>
                </a:solidFill>
                <a:latin typeface="微软雅黑" panose="020B0503020204020204" charset="-122"/>
                <a:ea typeface="微软雅黑" panose="020B0503020204020204" charset="-122"/>
                <a:cs typeface="微软雅黑" panose="020B0503020204020204" charset="-122"/>
              </a:rPr>
              <a:t>车在 A 区</a:t>
            </a:r>
            <a:endParaRPr sz="20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914400" y="2514600"/>
            <a:ext cx="2590800" cy="800100"/>
          </a:xfrm>
          <a:prstGeom prst="rect">
            <a:avLst/>
          </a:prstGeom>
          <a:noFill/>
          <a:ln w="0">
            <a:noFill/>
            <a:prstDash val="solid"/>
          </a:ln>
        </p:spPr>
        <p:txBody>
          <a:bodyPr wrap="square" lIns="0" tIns="0" rIns="0" bIns="0" anchor="t">
            <a:noAutofit/>
          </a:bodyPr>
          <a:lstStyle>
            <a:defPPr algn="l">
              <a:defRPr sz="112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8000"/>
              </a:lnSpc>
              <a:buNone/>
              <a:defRPr sz="112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服务也在 A 区。</a:t>
            </a:r>
            <a:endParaRPr sz="1400" b="1">
              <a:solidFill>
                <a:srgbClr val="5F5F58"/>
              </a:solidFill>
              <a:latin typeface="微软雅黑" panose="020B0503020204020204" charset="-122"/>
              <a:ea typeface="微软雅黑" panose="020B0503020204020204" charset="-122"/>
              <a:cs typeface="微软雅黑" panose="020B0503020204020204" charset="-122"/>
            </a:endParaRPr>
          </a:p>
          <a:p>
            <a:pPr algn="l">
              <a:lnSpc>
                <a:spcPct val="138000"/>
              </a:lnSpc>
              <a:buNone/>
              <a:defRPr sz="112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车离服务器很近，</a:t>
            </a:r>
            <a:endParaRPr sz="1400" b="1">
              <a:solidFill>
                <a:srgbClr val="5F5F58"/>
              </a:solidFill>
              <a:latin typeface="微软雅黑" panose="020B0503020204020204" charset="-122"/>
              <a:ea typeface="微软雅黑" panose="020B0503020204020204" charset="-122"/>
              <a:cs typeface="微软雅黑" panose="020B0503020204020204" charset="-122"/>
            </a:endParaRPr>
          </a:p>
          <a:p>
            <a:pPr algn="l">
              <a:lnSpc>
                <a:spcPct val="138000"/>
              </a:lnSpc>
              <a:buNone/>
              <a:defRPr sz="112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导航和视频响应很快。</a:t>
            </a:r>
            <a:endParaRPr sz="14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4343400" y="1866900"/>
            <a:ext cx="3048000" cy="1676400"/>
          </a:xfrm>
          <a:prstGeom prst="roundRect">
            <a:avLst>
              <a:gd name="adj" fmla="val 4545"/>
            </a:avLst>
          </a:prstGeom>
          <a:solidFill>
            <a:srgbClr val="FFFFFF"/>
          </a:solidFill>
          <a:ln w="9525">
            <a:solidFill>
              <a:srgbClr val="D9D9D1"/>
            </a:solidFill>
            <a:prstDash val="solid"/>
          </a:ln>
        </p:spPr>
      </p:sp>
      <p:sp>
        <p:nvSpPr>
          <p:cNvPr id="8" name="矩形 7"/>
          <p:cNvSpPr>
            <a:spLocks noGrp="1"/>
          </p:cNvSpPr>
          <p:nvPr/>
        </p:nvSpPr>
        <p:spPr>
          <a:xfrm>
            <a:off x="4572000" y="2076450"/>
            <a:ext cx="2590800" cy="285750"/>
          </a:xfrm>
          <a:prstGeom prst="rect">
            <a:avLst/>
          </a:prstGeom>
          <a:noFill/>
          <a:ln w="0">
            <a:noFill/>
            <a:prstDash val="solid"/>
          </a:ln>
        </p:spPr>
        <p:txBody>
          <a:bodyPr wrap="square" lIns="0" tIns="0" rIns="0" bIns="0" anchor="t">
            <a:noAutofit/>
          </a:bodyPr>
          <a:lstStyle>
            <a:defPPr algn="l">
              <a:defRPr sz="1425"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425" b="1">
                <a:solidFill>
                  <a:srgbClr val="1B1B19"/>
                </a:solidFill>
                <a:latin typeface="微软雅黑" panose="020B0503020204020204" charset="-122"/>
                <a:ea typeface="微软雅黑" panose="020B0503020204020204" charset="-122"/>
                <a:cs typeface="微软雅黑" panose="020B0503020204020204" charset="-122"/>
              </a:defRPr>
            </a:pPr>
            <a:r>
              <a:rPr sz="2000" b="1">
                <a:solidFill>
                  <a:srgbClr val="1B1B19"/>
                </a:solidFill>
                <a:latin typeface="微软雅黑" panose="020B0503020204020204" charset="-122"/>
                <a:ea typeface="微软雅黑" panose="020B0503020204020204" charset="-122"/>
                <a:cs typeface="微软雅黑" panose="020B0503020204020204" charset="-122"/>
              </a:rPr>
              <a:t>车开到 B 区</a:t>
            </a:r>
            <a:endParaRPr sz="20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4572000" y="2514600"/>
            <a:ext cx="2590800" cy="800100"/>
          </a:xfrm>
          <a:prstGeom prst="rect">
            <a:avLst/>
          </a:prstGeom>
          <a:noFill/>
          <a:ln w="0">
            <a:noFill/>
            <a:prstDash val="solid"/>
          </a:ln>
        </p:spPr>
        <p:txBody>
          <a:bodyPr wrap="square" lIns="0" tIns="0" rIns="0" bIns="0" anchor="t">
            <a:noAutofit/>
          </a:bodyPr>
          <a:lstStyle>
            <a:defPPr algn="l">
              <a:defRPr sz="112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8000"/>
              </a:lnSpc>
              <a:buNone/>
              <a:defRPr sz="112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无线已经连到 B 区，</a:t>
            </a:r>
            <a:endParaRPr sz="1400" b="1">
              <a:solidFill>
                <a:srgbClr val="5F5F58"/>
              </a:solidFill>
              <a:latin typeface="微软雅黑" panose="020B0503020204020204" charset="-122"/>
              <a:ea typeface="微软雅黑" panose="020B0503020204020204" charset="-122"/>
              <a:cs typeface="微软雅黑" panose="020B0503020204020204" charset="-122"/>
            </a:endParaRPr>
          </a:p>
          <a:p>
            <a:pPr algn="l">
              <a:lnSpc>
                <a:spcPct val="138000"/>
              </a:lnSpc>
              <a:buNone/>
              <a:defRPr sz="112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但服务仍留在 A 区。</a:t>
            </a:r>
            <a:endParaRPr sz="1400" b="1">
              <a:solidFill>
                <a:srgbClr val="5F5F58"/>
              </a:solidFill>
              <a:latin typeface="微软雅黑" panose="020B0503020204020204" charset="-122"/>
              <a:ea typeface="微软雅黑" panose="020B0503020204020204" charset="-122"/>
              <a:cs typeface="微软雅黑" panose="020B0503020204020204" charset="-122"/>
            </a:endParaRPr>
          </a:p>
          <a:p>
            <a:pPr algn="l">
              <a:lnSpc>
                <a:spcPct val="138000"/>
              </a:lnSpc>
              <a:buNone/>
              <a:defRPr sz="112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数据要绕更远的路。</a:t>
            </a:r>
            <a:endParaRPr sz="14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001000" y="1866900"/>
            <a:ext cx="3048000" cy="1676400"/>
          </a:xfrm>
          <a:prstGeom prst="roundRect">
            <a:avLst>
              <a:gd name="adj" fmla="val 4545"/>
            </a:avLst>
          </a:prstGeom>
          <a:solidFill>
            <a:srgbClr val="FFFFFF"/>
          </a:solidFill>
          <a:ln w="9525">
            <a:solidFill>
              <a:srgbClr val="D9D9D1"/>
            </a:solidFill>
            <a:prstDash val="solid"/>
          </a:ln>
        </p:spPr>
      </p:sp>
      <p:sp>
        <p:nvSpPr>
          <p:cNvPr id="11" name="矩形 10"/>
          <p:cNvSpPr>
            <a:spLocks noGrp="1"/>
          </p:cNvSpPr>
          <p:nvPr/>
        </p:nvSpPr>
        <p:spPr>
          <a:xfrm>
            <a:off x="8229600" y="2076450"/>
            <a:ext cx="2590800" cy="285750"/>
          </a:xfrm>
          <a:prstGeom prst="rect">
            <a:avLst/>
          </a:prstGeom>
          <a:noFill/>
          <a:ln w="0">
            <a:noFill/>
            <a:prstDash val="solid"/>
          </a:ln>
        </p:spPr>
        <p:txBody>
          <a:bodyPr wrap="square" lIns="0" tIns="0" rIns="0" bIns="0" anchor="t">
            <a:noAutofit/>
          </a:bodyPr>
          <a:lstStyle>
            <a:defPPr algn="l">
              <a:defRPr sz="142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425" b="1">
                <a:solidFill>
                  <a:srgbClr val="0F5B5B"/>
                </a:solidFill>
                <a:latin typeface="微软雅黑" panose="020B0503020204020204" charset="-122"/>
                <a:ea typeface="微软雅黑" panose="020B0503020204020204" charset="-122"/>
                <a:cs typeface="微软雅黑" panose="020B0503020204020204" charset="-122"/>
              </a:defRPr>
            </a:pPr>
            <a:r>
              <a:rPr sz="2000" b="1">
                <a:solidFill>
                  <a:srgbClr val="0F5B5B"/>
                </a:solidFill>
                <a:latin typeface="微软雅黑" panose="020B0503020204020204" charset="-122"/>
                <a:ea typeface="微软雅黑" panose="020B0503020204020204" charset="-122"/>
                <a:cs typeface="微软雅黑" panose="020B0503020204020204" charset="-122"/>
              </a:rPr>
              <a:t>服务搬到 B 区</a:t>
            </a:r>
            <a:endParaRPr sz="200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229600" y="2514600"/>
            <a:ext cx="2590800" cy="800100"/>
          </a:xfrm>
          <a:prstGeom prst="rect">
            <a:avLst/>
          </a:prstGeom>
          <a:noFill/>
          <a:ln w="0">
            <a:noFill/>
            <a:prstDash val="solid"/>
          </a:ln>
        </p:spPr>
        <p:txBody>
          <a:bodyPr wrap="square" lIns="0" tIns="0" rIns="0" bIns="0" anchor="t">
            <a:noAutofit/>
          </a:bodyPr>
          <a:lstStyle>
            <a:defPPr algn="l">
              <a:defRPr sz="112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8000"/>
              </a:lnSpc>
              <a:buNone/>
              <a:defRPr sz="112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服务重新变近。</a:t>
            </a:r>
            <a:endParaRPr sz="1400" b="1">
              <a:solidFill>
                <a:srgbClr val="5F5F58"/>
              </a:solidFill>
              <a:latin typeface="微软雅黑" panose="020B0503020204020204" charset="-122"/>
              <a:ea typeface="微软雅黑" panose="020B0503020204020204" charset="-122"/>
              <a:cs typeface="微软雅黑" panose="020B0503020204020204" charset="-122"/>
            </a:endParaRPr>
          </a:p>
          <a:p>
            <a:pPr algn="l">
              <a:lnSpc>
                <a:spcPct val="138000"/>
              </a:lnSpc>
              <a:buNone/>
              <a:defRPr sz="112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但搬</a:t>
            </a:r>
            <a:r>
              <a:rPr lang="zh-CN" sz="1400" b="1">
                <a:solidFill>
                  <a:srgbClr val="5F5F58"/>
                </a:solidFill>
                <a:latin typeface="微软雅黑" panose="020B0503020204020204" charset="-122"/>
                <a:ea typeface="微软雅黑" panose="020B0503020204020204" charset="-122"/>
                <a:cs typeface="微软雅黑" panose="020B0503020204020204" charset="-122"/>
              </a:rPr>
              <a:t>服务</a:t>
            </a:r>
            <a:r>
              <a:rPr sz="1400" b="1">
                <a:solidFill>
                  <a:srgbClr val="5F5F58"/>
                </a:solidFill>
                <a:latin typeface="微软雅黑" panose="020B0503020204020204" charset="-122"/>
                <a:ea typeface="微软雅黑" panose="020B0503020204020204" charset="-122"/>
                <a:cs typeface="微软雅黑" panose="020B0503020204020204" charset="-122"/>
              </a:rPr>
              <a:t>要占用网络，</a:t>
            </a:r>
            <a:endParaRPr sz="1400" b="1">
              <a:solidFill>
                <a:srgbClr val="5F5F58"/>
              </a:solidFill>
              <a:latin typeface="微软雅黑" panose="020B0503020204020204" charset="-122"/>
              <a:ea typeface="微软雅黑" panose="020B0503020204020204" charset="-122"/>
              <a:cs typeface="微软雅黑" panose="020B0503020204020204" charset="-122"/>
            </a:endParaRPr>
          </a:p>
          <a:p>
            <a:pPr algn="l">
              <a:lnSpc>
                <a:spcPct val="138000"/>
              </a:lnSpc>
              <a:buNone/>
              <a:defRPr sz="112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还会</a:t>
            </a:r>
            <a:r>
              <a:rPr lang="zh-CN" sz="1400" b="1">
                <a:solidFill>
                  <a:srgbClr val="5F5F58"/>
                </a:solidFill>
                <a:latin typeface="微软雅黑" panose="020B0503020204020204" charset="-122"/>
                <a:ea typeface="微软雅黑" panose="020B0503020204020204" charset="-122"/>
                <a:cs typeface="微软雅黑" panose="020B0503020204020204" charset="-122"/>
              </a:rPr>
              <a:t>造成用户可感的不可用</a:t>
            </a:r>
            <a:r>
              <a:rPr sz="1400" b="1">
                <a:solidFill>
                  <a:srgbClr val="5F5F58"/>
                </a:solidFill>
                <a:latin typeface="微软雅黑" panose="020B0503020204020204" charset="-122"/>
                <a:ea typeface="微软雅黑" panose="020B0503020204020204" charset="-122"/>
                <a:cs typeface="微软雅黑" panose="020B0503020204020204" charset="-122"/>
              </a:rPr>
              <a:t>。</a:t>
            </a:r>
            <a:endParaRPr sz="1400" b="1">
              <a:solidFill>
                <a:srgbClr val="5F5F58"/>
              </a:solidFill>
              <a:latin typeface="微软雅黑" panose="020B0503020204020204" charset="-122"/>
              <a:ea typeface="微软雅黑" panose="020B0503020204020204" charset="-122"/>
              <a:cs typeface="微软雅黑" panose="020B0503020204020204" charset="-122"/>
            </a:endParaRPr>
          </a:p>
        </p:txBody>
      </p:sp>
      <p:cxnSp>
        <p:nvCxnSpPr>
          <p:cNvPr id="13" name="直接箭头连接符 12"/>
          <p:cNvCxnSpPr/>
          <p:nvPr/>
        </p:nvCxnSpPr>
        <p:spPr>
          <a:xfrm>
            <a:off x="3733800" y="2686050"/>
            <a:ext cx="457200" cy="9525"/>
          </a:xfrm>
          <a:prstGeom prst="straightConnector1">
            <a:avLst/>
          </a:prstGeom>
          <a:ln w="19050">
            <a:solidFill>
              <a:srgbClr val="0F5B5B"/>
            </a:solidFill>
            <a:prstDash val="solid"/>
            <a:tailEnd type="arrow" w="med" len="med"/>
          </a:ln>
        </p:spPr>
      </p:cxnSp>
      <p:cxnSp>
        <p:nvCxnSpPr>
          <p:cNvPr id="14" name="直接箭头连接符 13"/>
          <p:cNvCxnSpPr/>
          <p:nvPr/>
        </p:nvCxnSpPr>
        <p:spPr>
          <a:xfrm>
            <a:off x="7391400" y="2686050"/>
            <a:ext cx="457200" cy="9525"/>
          </a:xfrm>
          <a:prstGeom prst="straightConnector1">
            <a:avLst/>
          </a:prstGeom>
          <a:ln w="19050">
            <a:solidFill>
              <a:srgbClr val="0F5B5B"/>
            </a:solidFill>
            <a:prstDash val="solid"/>
            <a:tailEnd type="arrow" w="med" len="med"/>
          </a:ln>
        </p:spPr>
      </p:cxnSp>
      <p:sp>
        <p:nvSpPr>
          <p:cNvPr id="15" name="矩形 14"/>
          <p:cNvSpPr>
            <a:spLocks noGrp="1"/>
          </p:cNvSpPr>
          <p:nvPr/>
        </p:nvSpPr>
        <p:spPr>
          <a:xfrm>
            <a:off x="685800" y="3962400"/>
            <a:ext cx="5191125" cy="1066800"/>
          </a:xfrm>
          <a:prstGeom prst="rect">
            <a:avLst/>
          </a:prstGeom>
          <a:noFill/>
          <a:ln w="0">
            <a:noFill/>
            <a:prstDash val="solid"/>
          </a:ln>
        </p:spPr>
        <p:txBody>
          <a:bodyPr wrap="square" lIns="0" tIns="0" rIns="0" bIns="0" anchor="t">
            <a:noAutofit/>
          </a:bodyPr>
          <a:lstStyle>
            <a:defPPr algn="l">
              <a:defRPr sz="124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42000"/>
              </a:lnSpc>
              <a:buNone/>
              <a:defRPr sz="1240" b="0">
                <a:solidFill>
                  <a:srgbClr val="1B1B19"/>
                </a:solidFill>
                <a:latin typeface="微软雅黑" panose="020B0503020204020204" charset="-122"/>
                <a:ea typeface="微软雅黑" panose="020B0503020204020204" charset="-122"/>
                <a:cs typeface="微软雅黑" panose="020B0503020204020204" charset="-122"/>
              </a:defRPr>
            </a:pPr>
            <a:r>
              <a:rPr sz="1800" b="1">
                <a:solidFill>
                  <a:srgbClr val="1B1B19"/>
                </a:solidFill>
                <a:latin typeface="微软雅黑" panose="020B0503020204020204" charset="-122"/>
                <a:ea typeface="微软雅黑" panose="020B0503020204020204" charset="-122"/>
                <a:cs typeface="微软雅黑" panose="020B0503020204020204" charset="-122"/>
              </a:rPr>
              <a:t>视频要知道播放到第几分钟；导航要知道目的地和当前路线；交通分析还要保留近期统计。</a:t>
            </a:r>
            <a:endParaRPr sz="18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6286500" y="3962400"/>
            <a:ext cx="5219700" cy="1066800"/>
          </a:xfrm>
          <a:prstGeom prst="rect">
            <a:avLst/>
          </a:prstGeom>
          <a:noFill/>
          <a:ln w="0">
            <a:noFill/>
            <a:prstDash val="solid"/>
          </a:ln>
        </p:spPr>
        <p:txBody>
          <a:bodyPr wrap="square" lIns="0" tIns="0" rIns="0" bIns="0" anchor="t">
            <a:noAutofit/>
          </a:bodyPr>
          <a:lstStyle>
            <a:defPPr algn="l">
              <a:defRPr sz="1240"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42000"/>
              </a:lnSpc>
              <a:buNone/>
              <a:defRPr sz="1240" b="0">
                <a:solidFill>
                  <a:srgbClr val="5F5F58"/>
                </a:solidFill>
                <a:latin typeface="微软雅黑" panose="020B0503020204020204" charset="-122"/>
                <a:ea typeface="微软雅黑" panose="020B0503020204020204" charset="-122"/>
                <a:cs typeface="微软雅黑" panose="020B0503020204020204" charset="-122"/>
              </a:defRPr>
            </a:pPr>
            <a:r>
              <a:rPr sz="1800" b="1">
                <a:solidFill>
                  <a:srgbClr val="5F5F58"/>
                </a:solidFill>
                <a:latin typeface="微软雅黑" panose="020B0503020204020204" charset="-122"/>
                <a:ea typeface="微软雅黑" panose="020B0503020204020204" charset="-122"/>
                <a:cs typeface="微软雅黑" panose="020B0503020204020204" charset="-122"/>
              </a:rPr>
              <a:t>这些“记住上次做到哪里”的数据</a:t>
            </a:r>
            <a:r>
              <a:rPr lang="zh-CN" sz="1800" b="1">
                <a:solidFill>
                  <a:srgbClr val="5F5F58"/>
                </a:solidFill>
                <a:latin typeface="微软雅黑" panose="020B0503020204020204" charset="-122"/>
                <a:ea typeface="微软雅黑" panose="020B0503020204020204" charset="-122"/>
                <a:cs typeface="微软雅黑" panose="020B0503020204020204" charset="-122"/>
              </a:rPr>
              <a:t>就是</a:t>
            </a:r>
            <a:r>
              <a:rPr lang="en-US" altLang="zh-CN" sz="1800" b="1">
                <a:solidFill>
                  <a:srgbClr val="5F5F58"/>
                </a:solidFill>
                <a:latin typeface="微软雅黑" panose="020B0503020204020204" charset="-122"/>
                <a:ea typeface="微软雅黑" panose="020B0503020204020204" charset="-122"/>
                <a:cs typeface="微软雅黑" panose="020B0503020204020204" charset="-122"/>
              </a:rPr>
              <a:t> MEC </a:t>
            </a:r>
            <a:r>
              <a:rPr lang="zh-CN" altLang="en-US" sz="1800" b="1">
                <a:solidFill>
                  <a:srgbClr val="5F5F58"/>
                </a:solidFill>
                <a:latin typeface="微软雅黑" panose="020B0503020204020204" charset="-122"/>
                <a:ea typeface="微软雅黑" panose="020B0503020204020204" charset="-122"/>
                <a:cs typeface="微软雅黑" panose="020B0503020204020204" charset="-122"/>
              </a:rPr>
              <a:t>中的</a:t>
            </a:r>
            <a:r>
              <a:rPr lang="en-US" altLang="zh-CN" sz="1800" b="1">
                <a:solidFill>
                  <a:srgbClr val="5F5F58"/>
                </a:solidFill>
                <a:latin typeface="微软雅黑" panose="020B0503020204020204" charset="-122"/>
                <a:ea typeface="微软雅黑" panose="020B0503020204020204" charset="-122"/>
                <a:cs typeface="微软雅黑" panose="020B0503020204020204" charset="-122"/>
              </a:rPr>
              <a:t> state</a:t>
            </a:r>
            <a:r>
              <a:rPr lang="zh-CN" altLang="en-US" sz="1800" b="1">
                <a:solidFill>
                  <a:srgbClr val="5F5F58"/>
                </a:solidFill>
                <a:latin typeface="微软雅黑" panose="020B0503020204020204" charset="-122"/>
                <a:ea typeface="微软雅黑" panose="020B0503020204020204" charset="-122"/>
                <a:cs typeface="微软雅黑" panose="020B0503020204020204" charset="-122"/>
              </a:rPr>
              <a:t>，是服务迁移的对象之一</a:t>
            </a:r>
            <a:r>
              <a:rPr sz="1800" b="1">
                <a:solidFill>
                  <a:srgbClr val="5F5F58"/>
                </a:solidFill>
                <a:latin typeface="微软雅黑" panose="020B0503020204020204" charset="-122"/>
                <a:ea typeface="微软雅黑" panose="020B0503020204020204" charset="-122"/>
                <a:cs typeface="微软雅黑" panose="020B0503020204020204" charset="-122"/>
              </a:rPr>
              <a:t>。</a:t>
            </a:r>
            <a:r>
              <a:rPr lang="zh-CN" altLang="en-US" sz="1800" b="1">
                <a:solidFill>
                  <a:srgbClr val="5F5F58"/>
                </a:solidFill>
                <a:latin typeface="微软雅黑" panose="020B0503020204020204" charset="-122"/>
                <a:ea typeface="微软雅黑" panose="020B0503020204020204" charset="-122"/>
                <a:cs typeface="微软雅黑" panose="020B0503020204020204" charset="-122"/>
              </a:rPr>
              <a:t>迁移对象还包括运行镜像、进程/</a:t>
            </a:r>
            <a:r>
              <a:rPr lang="en-US" altLang="zh-CN" sz="1800" b="1">
                <a:solidFill>
                  <a:srgbClr val="5F5F58"/>
                </a:solidFill>
                <a:latin typeface="微软雅黑" panose="020B0503020204020204" charset="-122"/>
                <a:ea typeface="微软雅黑" panose="020B0503020204020204" charset="-122"/>
                <a:cs typeface="微软雅黑" panose="020B0503020204020204" charset="-122"/>
              </a:rPr>
              <a:t>VM </a:t>
            </a:r>
            <a:r>
              <a:rPr lang="zh-CN" altLang="en-US" sz="1800" b="1">
                <a:solidFill>
                  <a:srgbClr val="5F5F58"/>
                </a:solidFill>
                <a:latin typeface="微软雅黑" panose="020B0503020204020204" charset="-122"/>
                <a:ea typeface="微软雅黑" panose="020B0503020204020204" charset="-122"/>
                <a:cs typeface="微软雅黑" panose="020B0503020204020204" charset="-122"/>
              </a:rPr>
              <a:t>状态和必要的网络连接。</a:t>
            </a:r>
            <a:endParaRPr lang="zh-CN" altLang="en-US" sz="1800" b="1">
              <a:solidFill>
                <a:srgbClr val="5F5F58"/>
              </a:solidFill>
              <a:latin typeface="微软雅黑" panose="020B0503020204020204" charset="-122"/>
              <a:ea typeface="微软雅黑" panose="020B0503020204020204" charset="-122"/>
              <a:cs typeface="微软雅黑" panose="020B0503020204020204" charset="-122"/>
            </a:endParaRPr>
          </a:p>
          <a:p>
            <a:pPr algn="l">
              <a:lnSpc>
                <a:spcPct val="142000"/>
              </a:lnSpc>
              <a:buNone/>
              <a:defRPr sz="1240" b="0">
                <a:solidFill>
                  <a:srgbClr val="5F5F58"/>
                </a:solidFill>
                <a:latin typeface="微软雅黑" panose="020B0503020204020204" charset="-122"/>
                <a:ea typeface="微软雅黑" panose="020B0503020204020204" charset="-122"/>
                <a:cs typeface="微软雅黑" panose="020B0503020204020204" charset="-122"/>
              </a:defRPr>
            </a:pPr>
            <a:endParaRPr lang="zh-CN" altLang="en-US" sz="18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685800" y="5772150"/>
            <a:ext cx="10820400" cy="9525"/>
          </a:xfrm>
          <a:prstGeom prst="rect">
            <a:avLst/>
          </a:prstGeom>
          <a:solidFill>
            <a:srgbClr val="D9D9D1"/>
          </a:solidFill>
          <a:ln w="0">
            <a:noFill/>
            <a:prstDash val="solid"/>
          </a:ln>
        </p:spPr>
      </p:sp>
      <p:sp>
        <p:nvSpPr>
          <p:cNvPr id="18" name="矩形 17"/>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lang="zh-CN" altLang="en-US" sz="1800" b="1">
                <a:solidFill>
                  <a:srgbClr val="0F5B5B"/>
                </a:solidFill>
                <a:latin typeface="微软雅黑" panose="020B0503020204020204" charset="-122"/>
                <a:ea typeface="微软雅黑" panose="020B0503020204020204" charset="-122"/>
                <a:cs typeface="微软雅黑" panose="020B0503020204020204" charset="-122"/>
              </a:rPr>
              <a:t>服务迁移 = 把运行环境、业务状态和继续工作的能力一起交给新节点。</a:t>
            </a:r>
            <a:endParaRPr lang="zh-CN" altLang="en-US" sz="1800" b="1">
              <a:solidFill>
                <a:srgbClr val="0F5B5B"/>
              </a:solidFill>
              <a:latin typeface="微软雅黑" panose="020B0503020204020204" charset="-122"/>
              <a:ea typeface="微软雅黑" panose="020B0503020204020204" charset="-122"/>
              <a:cs typeface="微软雅黑" panose="020B0503020204020204" charset="-122"/>
            </a:endParaRPr>
          </a:p>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endParaRPr lang="zh-CN" altLang="en-US" sz="1800"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800" b="1">
                <a:solidFill>
                  <a:srgbClr val="1B1B19"/>
                </a:solidFill>
                <a:latin typeface="微软雅黑" panose="020B0503020204020204" charset="-122"/>
                <a:ea typeface="微软雅黑" panose="020B0503020204020204" charset="-122"/>
                <a:cs typeface="微软雅黑" panose="020B0503020204020204" charset="-122"/>
              </a:rPr>
              <a:t>例子</a:t>
            </a:r>
            <a:endParaRPr sz="28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sp>
        <p:nvSpPr>
          <p:cNvPr id="20" name="矩形 19"/>
          <p:cNvSpPr>
            <a:spLocks noGrp="1"/>
          </p:cNvSpPr>
          <p:nvPr/>
        </p:nvSpPr>
        <p:spPr>
          <a:xfrm>
            <a:off x="685800" y="5772150"/>
            <a:ext cx="10820400" cy="9525"/>
          </a:xfrm>
          <a:prstGeom prst="rect">
            <a:avLst/>
          </a:prstGeom>
          <a:solidFill>
            <a:srgbClr val="D9D9D1"/>
          </a:solidFill>
          <a:ln w="0">
            <a:noFill/>
            <a:prstDash val="solid"/>
          </a:ln>
        </p:spPr>
      </p:sp>
      <p:sp>
        <p:nvSpPr>
          <p:cNvPr id="21" name="矩形 20"/>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lang="zh-CN" altLang="en-US" sz="1800" b="1">
                <a:solidFill>
                  <a:srgbClr val="0F5B5B"/>
                </a:solidFill>
                <a:latin typeface="微软雅黑" panose="020B0503020204020204" charset="-122"/>
                <a:ea typeface="微软雅黑" panose="020B0503020204020204" charset="-122"/>
                <a:cs typeface="微软雅黑" panose="020B0503020204020204" charset="-122"/>
              </a:rPr>
              <a:t>服务迁移 = 把运行环境、业务状态和继续工作的能力一起交给新节点。</a:t>
            </a:r>
            <a:endParaRPr lang="zh-CN" altLang="en-US" sz="1800" b="1">
              <a:solidFill>
                <a:srgbClr val="0F5B5B"/>
              </a:solidFill>
              <a:latin typeface="微软雅黑" panose="020B0503020204020204" charset="-122"/>
              <a:ea typeface="微软雅黑" panose="020B0503020204020204" charset="-122"/>
              <a:cs typeface="微软雅黑" panose="020B0503020204020204" charset="-122"/>
            </a:endParaRPr>
          </a:p>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endParaRPr lang="zh-CN" altLang="en-US" sz="1800" b="1">
              <a:solidFill>
                <a:srgbClr val="0F5B5B"/>
              </a:solidFill>
              <a:latin typeface="微软雅黑" panose="020B0503020204020204" charset="-122"/>
              <a:ea typeface="微软雅黑" panose="020B0503020204020204" charset="-122"/>
              <a:cs typeface="微软雅黑" panose="020B0503020204020204" charset="-122"/>
            </a:endParaRPr>
          </a:p>
        </p:txBody>
      </p:sp>
      <p:graphicFrame>
        <p:nvGraphicFramePr>
          <p:cNvPr id="22" name="表格 21"/>
          <p:cNvGraphicFramePr/>
          <p:nvPr/>
        </p:nvGraphicFramePr>
        <p:xfrm>
          <a:off x="853440" y="1636395"/>
          <a:ext cx="10485120" cy="3291840"/>
        </p:xfrm>
        <a:graphic>
          <a:graphicData uri="http://schemas.openxmlformats.org/drawingml/2006/table">
            <a:tbl>
              <a:tblPr/>
              <a:tblGrid>
                <a:gridCol w="2418080"/>
                <a:gridCol w="4572000"/>
                <a:gridCol w="3495040"/>
              </a:tblGrid>
              <a:tr h="0">
                <a:tc>
                  <a:txBody>
                    <a:bodyPr/>
                    <a:p>
                      <a:pPr indent="0" algn="ctr" eaLnBrk="1" fontAlgn="auto" latinLnBrk="0" hangingPunct="1">
                        <a:lnSpc>
                          <a:spcPct val="200000"/>
                        </a:lnSpc>
                        <a:spcBef>
                          <a:spcPts val="600"/>
                        </a:spcBef>
                        <a:spcAft>
                          <a:spcPts val="600"/>
                        </a:spcAft>
                      </a:pPr>
                      <a:r>
                        <a:rPr lang="zh-CN" altLang="en-US" sz="1600" b="1"/>
                        <a:t>层级</a:t>
                      </a:r>
                      <a:endParaRPr lang="zh-CN" altLang="en-US" sz="1600" b="1"/>
                    </a:p>
                  </a:txBody>
                  <a:tcPr marL="0" marR="0" marT="0" marB="0" anchor="ctr" anchorCtr="0">
                    <a:lnL>
                      <a:noFill/>
                    </a:lnL>
                    <a:lnR w="12700">
                      <a:solidFill>
                        <a:schemeClr val="tx1"/>
                      </a:solidFill>
                      <a:prstDash val="solid"/>
                    </a:lnR>
                    <a:lnT>
                      <a:noFill/>
                    </a:lnT>
                    <a:lnB w="12700">
                      <a:solidFill>
                        <a:schemeClr val="tx1"/>
                      </a:solidFill>
                      <a:prstDash val="solid"/>
                    </a:lnB>
                    <a:noFill/>
                  </a:tcPr>
                </a:tc>
                <a:tc>
                  <a:txBody>
                    <a:bodyPr/>
                    <a:p>
                      <a:pPr indent="0" algn="ctr" eaLnBrk="1" fontAlgn="auto" latinLnBrk="0" hangingPunct="1">
                        <a:lnSpc>
                          <a:spcPct val="200000"/>
                        </a:lnSpc>
                        <a:spcBef>
                          <a:spcPts val="600"/>
                        </a:spcBef>
                        <a:spcAft>
                          <a:spcPts val="600"/>
                        </a:spcAft>
                      </a:pPr>
                      <a:r>
                        <a:rPr lang="zh-CN" altLang="en-US" sz="1600" b="1"/>
                        <a:t>搬什么</a:t>
                      </a:r>
                      <a:endParaRPr lang="zh-CN" altLang="en-US" sz="1600" b="1"/>
                    </a:p>
                  </a:txBody>
                  <a:tcPr marL="0" marR="0" marT="0" marB="0" anchor="ctr" anchorCtr="0">
                    <a:lnL w="12700">
                      <a:solidFill>
                        <a:schemeClr val="tx1"/>
                      </a:solidFill>
                      <a:prstDash val="solid"/>
                    </a:lnL>
                    <a:lnR w="12700">
                      <a:solidFill>
                        <a:schemeClr val="tx1"/>
                      </a:solidFill>
                      <a:prstDash val="solid"/>
                    </a:lnR>
                    <a:lnT>
                      <a:noFill/>
                    </a:lnT>
                    <a:lnB w="12700">
                      <a:solidFill>
                        <a:schemeClr val="tx1"/>
                      </a:solidFill>
                      <a:prstDash val="solid"/>
                    </a:lnB>
                    <a:noFill/>
                  </a:tcPr>
                </a:tc>
                <a:tc>
                  <a:txBody>
                    <a:bodyPr/>
                    <a:p>
                      <a:pPr indent="0" algn="ctr" eaLnBrk="1" fontAlgn="auto" latinLnBrk="0" hangingPunct="1">
                        <a:lnSpc>
                          <a:spcPct val="200000"/>
                        </a:lnSpc>
                        <a:spcBef>
                          <a:spcPts val="600"/>
                        </a:spcBef>
                        <a:spcAft>
                          <a:spcPts val="600"/>
                        </a:spcAft>
                      </a:pPr>
                      <a:r>
                        <a:rPr lang="zh-CN" altLang="en-US" sz="1600" b="1"/>
                        <a:t>是否每次</a:t>
                      </a:r>
                      <a:r>
                        <a:rPr lang="zh-CN" altLang="en-US" sz="1600" b="1"/>
                        <a:t>移动都搬</a:t>
                      </a:r>
                      <a:endParaRPr lang="zh-CN" altLang="en-US" sz="1600" b="1"/>
                    </a:p>
                  </a:txBody>
                  <a:tcPr marL="0" marR="0" marT="0" marB="0" anchor="ctr" anchorCtr="0">
                    <a:lnL w="12700">
                      <a:solidFill>
                        <a:schemeClr val="tx1"/>
                      </a:solidFill>
                      <a:prstDash val="solid"/>
                    </a:lnL>
                    <a:lnR>
                      <a:noFill/>
                    </a:lnR>
                    <a:lnT>
                      <a:noFill/>
                    </a:lnT>
                    <a:lnB w="12700">
                      <a:solidFill>
                        <a:schemeClr val="tx1"/>
                      </a:solidFill>
                      <a:prstDash val="solid"/>
                    </a:lnB>
                    <a:noFill/>
                  </a:tcPr>
                </a:tc>
              </a:tr>
              <a:tr h="0">
                <a:tc>
                  <a:txBody>
                    <a:bodyPr/>
                    <a:p>
                      <a:pPr indent="0" algn="ctr" eaLnBrk="1" fontAlgn="auto" latinLnBrk="0" hangingPunct="1">
                        <a:lnSpc>
                          <a:spcPct val="200000"/>
                        </a:lnSpc>
                        <a:spcBef>
                          <a:spcPts val="600"/>
                        </a:spcBef>
                        <a:spcAft>
                          <a:spcPts val="600"/>
                        </a:spcAft>
                      </a:pPr>
                      <a:r>
                        <a:rPr lang="en-US" altLang="zh-CN" sz="1600" b="1"/>
                        <a:t>1. </a:t>
                      </a:r>
                      <a:r>
                        <a:rPr lang="zh-CN" altLang="en-US" sz="1600" b="1"/>
                        <a:t>平台底座</a:t>
                      </a:r>
                      <a:endParaRPr lang="zh-CN" altLang="en-US" sz="1600" b="1"/>
                    </a:p>
                  </a:txBody>
                  <a:tcPr marL="0" marR="0" marT="0" marB="0" anchor="ctr" anchorCtr="0">
                    <a:lnL>
                      <a:noFill/>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eaLnBrk="1" fontAlgn="auto" latinLnBrk="0" hangingPunct="1">
                        <a:lnSpc>
                          <a:spcPct val="200000"/>
                        </a:lnSpc>
                        <a:spcBef>
                          <a:spcPts val="600"/>
                        </a:spcBef>
                        <a:spcAft>
                          <a:spcPts val="600"/>
                        </a:spcAft>
                      </a:pPr>
                      <a:r>
                        <a:rPr lang="zh-CN" altLang="en-US" sz="1600" b="0"/>
                        <a:t>操作系统、内核、驱动</a:t>
                      </a:r>
                      <a:endParaRPr lang="zh-CN" altLang="en-US" sz="1600" b="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eaLnBrk="1" fontAlgn="auto" latinLnBrk="0" hangingPunct="1">
                        <a:lnSpc>
                          <a:spcPct val="200000"/>
                        </a:lnSpc>
                        <a:spcBef>
                          <a:spcPts val="600"/>
                        </a:spcBef>
                        <a:spcAft>
                          <a:spcPts val="600"/>
                        </a:spcAft>
                      </a:pPr>
                      <a:r>
                        <a:rPr lang="zh-CN" altLang="en-US" sz="1600" b="0"/>
                        <a:t>不必；</a:t>
                      </a:r>
                      <a:r>
                        <a:rPr lang="zh-CN" altLang="en-US" sz="1600" b="0"/>
                        <a:t>预装</a:t>
                      </a:r>
                      <a:endParaRPr lang="zh-CN" altLang="en-US" sz="1600" b="0"/>
                    </a:p>
                  </a:txBody>
                  <a:tcPr marL="0" marR="0" marT="0" marB="0" anchor="ctr" anchorCtr="0">
                    <a:lnL w="12700">
                      <a:solidFill>
                        <a:schemeClr val="tx1"/>
                      </a:solidFill>
                      <a:prstDash val="solid"/>
                    </a:lnL>
                    <a:lnR>
                      <a:noFill/>
                    </a:lnR>
                    <a:lnT w="12700">
                      <a:solidFill>
                        <a:schemeClr val="tx1"/>
                      </a:solidFill>
                      <a:prstDash val="solid"/>
                    </a:lnT>
                    <a:lnB w="12700">
                      <a:solidFill>
                        <a:schemeClr val="tx1"/>
                      </a:solidFill>
                      <a:prstDash val="solid"/>
                    </a:lnB>
                    <a:noFill/>
                  </a:tcPr>
                </a:tc>
              </a:tr>
              <a:tr h="0">
                <a:tc>
                  <a:txBody>
                    <a:bodyPr/>
                    <a:p>
                      <a:pPr indent="0" algn="ctr" eaLnBrk="1" fontAlgn="auto" latinLnBrk="0" hangingPunct="1">
                        <a:lnSpc>
                          <a:spcPct val="200000"/>
                        </a:lnSpc>
                        <a:spcBef>
                          <a:spcPts val="600"/>
                        </a:spcBef>
                        <a:spcAft>
                          <a:spcPts val="600"/>
                        </a:spcAft>
                      </a:pPr>
                      <a:r>
                        <a:rPr lang="en-US" altLang="zh-CN" sz="1600" b="1"/>
                        <a:t>2. </a:t>
                      </a:r>
                      <a:r>
                        <a:rPr lang="zh-CN" altLang="en-US" sz="1600" b="1"/>
                        <a:t>应用镜像</a:t>
                      </a:r>
                      <a:endParaRPr lang="zh-CN" altLang="en-US" sz="1600" b="1"/>
                    </a:p>
                  </a:txBody>
                  <a:tcPr marL="0" marR="0" marT="0" marB="0" anchor="ctr" anchorCtr="0">
                    <a:lnL>
                      <a:noFill/>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eaLnBrk="1" fontAlgn="auto" latinLnBrk="0" hangingPunct="1">
                        <a:lnSpc>
                          <a:spcPct val="200000"/>
                        </a:lnSpc>
                        <a:spcBef>
                          <a:spcPts val="600"/>
                        </a:spcBef>
                        <a:spcAft>
                          <a:spcPts val="600"/>
                        </a:spcAft>
                      </a:pPr>
                      <a:r>
                        <a:rPr lang="zh-CN" altLang="en-US" sz="1600" b="0"/>
                        <a:t>程序代码、依赖库、容器镜像</a:t>
                      </a:r>
                      <a:endParaRPr lang="zh-CN" altLang="en-US" sz="1600" b="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eaLnBrk="1" fontAlgn="auto" latinLnBrk="0" hangingPunct="1">
                        <a:lnSpc>
                          <a:spcPct val="200000"/>
                        </a:lnSpc>
                        <a:spcBef>
                          <a:spcPts val="600"/>
                        </a:spcBef>
                        <a:spcAft>
                          <a:spcPts val="600"/>
                        </a:spcAft>
                      </a:pPr>
                      <a:r>
                        <a:rPr lang="zh-CN" altLang="en-US" sz="1600" b="0"/>
                        <a:t>没有缓存时才搬</a:t>
                      </a:r>
                      <a:endParaRPr lang="zh-CN" altLang="en-US" sz="1600" b="0"/>
                    </a:p>
                  </a:txBody>
                  <a:tcPr marL="0" marR="0" marT="0" marB="0" anchor="ctr" anchorCtr="0">
                    <a:lnL w="12700">
                      <a:solidFill>
                        <a:schemeClr val="tx1"/>
                      </a:solidFill>
                      <a:prstDash val="solid"/>
                    </a:lnL>
                    <a:lnR>
                      <a:noFill/>
                    </a:lnR>
                    <a:lnT w="12700">
                      <a:solidFill>
                        <a:schemeClr val="tx1"/>
                      </a:solidFill>
                      <a:prstDash val="solid"/>
                    </a:lnT>
                    <a:lnB w="12700">
                      <a:solidFill>
                        <a:schemeClr val="tx1"/>
                      </a:solidFill>
                      <a:prstDash val="solid"/>
                    </a:lnB>
                    <a:noFill/>
                  </a:tcPr>
                </a:tc>
              </a:tr>
              <a:tr h="0">
                <a:tc>
                  <a:txBody>
                    <a:bodyPr/>
                    <a:p>
                      <a:pPr indent="0" algn="ctr" eaLnBrk="1" fontAlgn="auto" latinLnBrk="0" hangingPunct="1">
                        <a:lnSpc>
                          <a:spcPct val="200000"/>
                        </a:lnSpc>
                        <a:spcBef>
                          <a:spcPts val="600"/>
                        </a:spcBef>
                        <a:spcAft>
                          <a:spcPts val="600"/>
                        </a:spcAft>
                      </a:pPr>
                      <a:r>
                        <a:rPr lang="en-US" altLang="zh-CN" sz="1600" b="1"/>
                        <a:t>3. </a:t>
                      </a:r>
                      <a:r>
                        <a:rPr lang="zh-CN" altLang="en-US" sz="1600" b="1"/>
                        <a:t>进程</a:t>
                      </a:r>
                      <a:r>
                        <a:rPr lang="en-US" altLang="zh-CN" sz="1600" b="1"/>
                        <a:t>/VM </a:t>
                      </a:r>
                      <a:r>
                        <a:rPr lang="zh-CN" altLang="en-US" sz="1600" b="1"/>
                        <a:t>状态</a:t>
                      </a:r>
                      <a:endParaRPr lang="zh-CN" altLang="en-US" sz="1600" b="1"/>
                    </a:p>
                  </a:txBody>
                  <a:tcPr marL="0" marR="0" marT="0" marB="0" anchor="ctr" anchorCtr="0">
                    <a:lnL>
                      <a:noFill/>
                    </a:lnL>
                    <a:lnR w="12700">
                      <a:solidFill>
                        <a:schemeClr val="tx1"/>
                      </a:solidFill>
                      <a:prstDash val="solid"/>
                    </a:lnR>
                    <a:lnT w="12700">
                      <a:solidFill>
                        <a:schemeClr val="tx1"/>
                      </a:solidFill>
                      <a:prstDash val="solid"/>
                    </a:lnT>
                    <a:lnB w="12700">
                      <a:solidFill>
                        <a:schemeClr val="tx1"/>
                      </a:solidFill>
                      <a:prstDash val="solid"/>
                    </a:lnB>
                    <a:solidFill>
                      <a:schemeClr val="tx2">
                        <a:lumMod val="10000"/>
                        <a:lumOff val="90000"/>
                      </a:schemeClr>
                    </a:solidFill>
                  </a:tcPr>
                </a:tc>
                <a:tc>
                  <a:txBody>
                    <a:bodyPr/>
                    <a:p>
                      <a:pPr indent="0" algn="ctr" eaLnBrk="1" fontAlgn="auto" latinLnBrk="0" hangingPunct="1">
                        <a:lnSpc>
                          <a:spcPct val="200000"/>
                        </a:lnSpc>
                        <a:spcBef>
                          <a:spcPts val="600"/>
                        </a:spcBef>
                        <a:spcAft>
                          <a:spcPts val="600"/>
                        </a:spcAft>
                      </a:pPr>
                      <a:r>
                        <a:rPr lang="en-US" altLang="zh-CN" sz="1600" b="0"/>
                        <a:t>CPU </a:t>
                      </a:r>
                      <a:r>
                        <a:rPr lang="zh-CN" altLang="en-US" sz="1600" b="0"/>
                        <a:t>寄存器、堆栈、内存页、打开的文件</a:t>
                      </a:r>
                      <a:endParaRPr lang="zh-CN" altLang="en-US" sz="1600" b="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tx2">
                        <a:lumMod val="10000"/>
                        <a:lumOff val="90000"/>
                      </a:schemeClr>
                    </a:solidFill>
                  </a:tcPr>
                </a:tc>
                <a:tc>
                  <a:txBody>
                    <a:bodyPr/>
                    <a:p>
                      <a:pPr indent="0" algn="ctr" eaLnBrk="1" fontAlgn="auto" latinLnBrk="0" hangingPunct="1">
                        <a:lnSpc>
                          <a:spcPct val="200000"/>
                        </a:lnSpc>
                        <a:spcBef>
                          <a:spcPts val="600"/>
                        </a:spcBef>
                        <a:spcAft>
                          <a:spcPts val="600"/>
                        </a:spcAft>
                      </a:pPr>
                      <a:r>
                        <a:rPr lang="zh-CN" altLang="en-US" sz="1600" b="0"/>
                        <a:t>通常是；可重算或共享存储</a:t>
                      </a:r>
                      <a:endParaRPr lang="zh-CN" altLang="en-US" sz="1600" b="0"/>
                    </a:p>
                  </a:txBody>
                  <a:tcPr marL="0" marR="0" marT="0" marB="0" anchor="ctr" anchorCtr="0">
                    <a:lnL w="12700">
                      <a:solidFill>
                        <a:schemeClr val="tx1"/>
                      </a:solidFill>
                      <a:prstDash val="solid"/>
                    </a:lnL>
                    <a:lnR>
                      <a:noFill/>
                    </a:lnR>
                    <a:lnT w="12700">
                      <a:solidFill>
                        <a:schemeClr val="tx1"/>
                      </a:solidFill>
                      <a:prstDash val="solid"/>
                    </a:lnT>
                    <a:lnB w="12700">
                      <a:solidFill>
                        <a:schemeClr val="tx1"/>
                      </a:solidFill>
                      <a:prstDash val="solid"/>
                    </a:lnB>
                    <a:solidFill>
                      <a:schemeClr val="tx2">
                        <a:lumMod val="10000"/>
                        <a:lumOff val="90000"/>
                      </a:schemeClr>
                    </a:solidFill>
                  </a:tcPr>
                </a:tc>
              </a:tr>
              <a:tr h="0">
                <a:tc>
                  <a:txBody>
                    <a:bodyPr/>
                    <a:p>
                      <a:pPr indent="0" algn="ctr" eaLnBrk="1" fontAlgn="auto" latinLnBrk="0" hangingPunct="1">
                        <a:lnSpc>
                          <a:spcPct val="200000"/>
                        </a:lnSpc>
                        <a:spcBef>
                          <a:spcPts val="600"/>
                        </a:spcBef>
                        <a:spcAft>
                          <a:spcPts val="600"/>
                        </a:spcAft>
                      </a:pPr>
                      <a:r>
                        <a:rPr lang="en-US" altLang="zh-CN" sz="1600" b="1"/>
                        <a:t>4. </a:t>
                      </a:r>
                      <a:r>
                        <a:rPr lang="zh-CN" altLang="en-US" sz="1600" b="1"/>
                        <a:t>业务会话</a:t>
                      </a:r>
                      <a:endParaRPr lang="zh-CN" altLang="en-US" sz="1600" b="1"/>
                    </a:p>
                  </a:txBody>
                  <a:tcPr marL="0" marR="0" marT="0" marB="0" anchor="ctr" anchorCtr="0">
                    <a:lnL>
                      <a:noFill/>
                    </a:lnL>
                    <a:lnR w="12700">
                      <a:solidFill>
                        <a:schemeClr val="tx1"/>
                      </a:solidFill>
                      <a:prstDash val="solid"/>
                    </a:lnR>
                    <a:lnT w="12700">
                      <a:solidFill>
                        <a:schemeClr val="tx1"/>
                      </a:solidFill>
                      <a:prstDash val="solid"/>
                    </a:lnT>
                    <a:lnB w="12700">
                      <a:solidFill>
                        <a:schemeClr val="tx1"/>
                      </a:solidFill>
                      <a:prstDash val="solid"/>
                    </a:lnB>
                    <a:solidFill>
                      <a:schemeClr val="tx2">
                        <a:lumMod val="10000"/>
                        <a:lumOff val="90000"/>
                      </a:schemeClr>
                    </a:solidFill>
                  </a:tcPr>
                </a:tc>
                <a:tc>
                  <a:txBody>
                    <a:bodyPr/>
                    <a:p>
                      <a:pPr indent="0" algn="ctr" eaLnBrk="1" fontAlgn="auto" latinLnBrk="0" hangingPunct="1">
                        <a:lnSpc>
                          <a:spcPct val="200000"/>
                        </a:lnSpc>
                        <a:spcBef>
                          <a:spcPts val="600"/>
                        </a:spcBef>
                        <a:spcAft>
                          <a:spcPts val="600"/>
                        </a:spcAft>
                      </a:pPr>
                      <a:r>
                        <a:rPr lang="zh-CN" altLang="en-US" sz="1600" b="0"/>
                        <a:t>视频播放位置、导航路线、告警上下文、统计窗口</a:t>
                      </a:r>
                      <a:endParaRPr lang="zh-CN" altLang="en-US" sz="1600" b="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tx2">
                        <a:lumMod val="10000"/>
                        <a:lumOff val="90000"/>
                      </a:schemeClr>
                    </a:solidFill>
                  </a:tcPr>
                </a:tc>
                <a:tc>
                  <a:txBody>
                    <a:bodyPr/>
                    <a:p>
                      <a:pPr indent="0" algn="ctr" eaLnBrk="1" fontAlgn="auto" latinLnBrk="0" hangingPunct="1">
                        <a:lnSpc>
                          <a:spcPct val="200000"/>
                        </a:lnSpc>
                        <a:spcBef>
                          <a:spcPts val="600"/>
                        </a:spcBef>
                        <a:spcAft>
                          <a:spcPts val="600"/>
                        </a:spcAft>
                      </a:pPr>
                      <a:r>
                        <a:rPr lang="zh-CN" altLang="en-US" sz="1600">
                          <a:sym typeface="+mn-ea"/>
                        </a:rPr>
                        <a:t>通常</a:t>
                      </a:r>
                      <a:r>
                        <a:rPr lang="zh-CN" altLang="en-US" sz="1600" b="0"/>
                        <a:t>是</a:t>
                      </a:r>
                      <a:r>
                        <a:rPr lang="zh-CN" altLang="en-US" sz="1600">
                          <a:sym typeface="+mn-ea"/>
                        </a:rPr>
                        <a:t>；可重算或共享存储</a:t>
                      </a:r>
                      <a:endParaRPr lang="zh-CN" altLang="en-US" sz="1600" b="0"/>
                    </a:p>
                  </a:txBody>
                  <a:tcPr marL="0" marR="0" marT="0" marB="0" anchor="ctr" anchorCtr="0">
                    <a:lnL w="12700">
                      <a:solidFill>
                        <a:schemeClr val="tx1"/>
                      </a:solidFill>
                      <a:prstDash val="solid"/>
                    </a:lnL>
                    <a:lnR>
                      <a:noFill/>
                    </a:lnR>
                    <a:lnT w="12700">
                      <a:solidFill>
                        <a:schemeClr val="tx1"/>
                      </a:solidFill>
                      <a:prstDash val="solid"/>
                    </a:lnT>
                    <a:lnB w="12700">
                      <a:solidFill>
                        <a:schemeClr val="tx1"/>
                      </a:solidFill>
                      <a:prstDash val="solid"/>
                    </a:lnB>
                    <a:solidFill>
                      <a:schemeClr val="tx2">
                        <a:lumMod val="10000"/>
                        <a:lumOff val="90000"/>
                      </a:schemeClr>
                    </a:solidFill>
                  </a:tcPr>
                </a:tc>
              </a:tr>
              <a:tr h="0">
                <a:tc>
                  <a:txBody>
                    <a:bodyPr/>
                    <a:p>
                      <a:pPr indent="0" algn="ctr" eaLnBrk="1" fontAlgn="auto" latinLnBrk="0" hangingPunct="1">
                        <a:lnSpc>
                          <a:spcPct val="200000"/>
                        </a:lnSpc>
                        <a:spcBef>
                          <a:spcPts val="600"/>
                        </a:spcBef>
                        <a:spcAft>
                          <a:spcPts val="600"/>
                        </a:spcAft>
                      </a:pPr>
                      <a:r>
                        <a:rPr lang="en-US" altLang="zh-CN" sz="1600" b="1"/>
                        <a:t>5. </a:t>
                      </a:r>
                      <a:r>
                        <a:rPr lang="zh-CN" altLang="en-US" sz="1600" b="1"/>
                        <a:t>网络连接状态</a:t>
                      </a:r>
                      <a:endParaRPr lang="zh-CN" altLang="en-US" sz="1600" b="1"/>
                    </a:p>
                  </a:txBody>
                  <a:tcPr marL="0" marR="0" marT="0" marB="0" anchor="ctr" anchorCtr="0">
                    <a:lnL>
                      <a:noFill/>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eaLnBrk="1" fontAlgn="auto" latinLnBrk="0" hangingPunct="1">
                        <a:lnSpc>
                          <a:spcPct val="200000"/>
                        </a:lnSpc>
                        <a:spcBef>
                          <a:spcPts val="600"/>
                        </a:spcBef>
                        <a:spcAft>
                          <a:spcPts val="600"/>
                        </a:spcAft>
                      </a:pPr>
                      <a:r>
                        <a:rPr lang="en-US" altLang="zh-CN" sz="1600" b="0"/>
                        <a:t>IP/</a:t>
                      </a:r>
                      <a:r>
                        <a:rPr lang="zh-CN" altLang="en-US" sz="1600" b="0"/>
                        <a:t>端口、</a:t>
                      </a:r>
                      <a:r>
                        <a:rPr lang="en-US" altLang="zh-CN" sz="1600" b="0"/>
                        <a:t>TCP </a:t>
                      </a:r>
                      <a:r>
                        <a:rPr lang="zh-CN" altLang="en-US" sz="1600" b="0"/>
                        <a:t>连接、</a:t>
                      </a:r>
                      <a:r>
                        <a:rPr lang="en-US" altLang="zh-CN" sz="1600" b="0"/>
                        <a:t>NAT/</a:t>
                      </a:r>
                      <a:r>
                        <a:rPr lang="zh-CN" altLang="en-US" sz="1600" b="0"/>
                        <a:t>防火墙流表、路由状态</a:t>
                      </a:r>
                      <a:endParaRPr lang="zh-CN" altLang="en-US" sz="1600" b="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eaLnBrk="1" fontAlgn="auto" latinLnBrk="0" hangingPunct="1">
                        <a:lnSpc>
                          <a:spcPct val="200000"/>
                        </a:lnSpc>
                        <a:spcBef>
                          <a:spcPts val="600"/>
                        </a:spcBef>
                        <a:spcAft>
                          <a:spcPts val="600"/>
                        </a:spcAft>
                      </a:pPr>
                      <a:r>
                        <a:rPr lang="zh-CN" altLang="en-US" sz="1600" b="0"/>
                        <a:t>不处理会断连接；可规避</a:t>
                      </a:r>
                      <a:endParaRPr lang="zh-CN" altLang="en-US" sz="1600" b="0"/>
                    </a:p>
                  </a:txBody>
                  <a:tcPr marL="0" marR="0" marT="0" marB="0" anchor="ctr" anchorCtr="0">
                    <a:lnL w="12700">
                      <a:solidFill>
                        <a:schemeClr val="tx1"/>
                      </a:solidFill>
                      <a:prstDash val="solid"/>
                    </a:lnL>
                    <a:lnR>
                      <a:noFill/>
                    </a:lnR>
                    <a:lnT w="12700">
                      <a:solidFill>
                        <a:schemeClr val="tx1"/>
                      </a:solidFill>
                      <a:prstDash val="solid"/>
                    </a:lnT>
                    <a:lnB w="12700">
                      <a:solidFill>
                        <a:schemeClr val="tx1"/>
                      </a:solidFill>
                      <a:prstDash val="solid"/>
                    </a:lnB>
                    <a:noFill/>
                  </a:tcPr>
                </a:tc>
              </a:tr>
              <a:tr h="0">
                <a:tc>
                  <a:txBody>
                    <a:bodyPr/>
                    <a:p>
                      <a:pPr indent="0" algn="ctr" eaLnBrk="1" fontAlgn="auto" latinLnBrk="0" hangingPunct="1">
                        <a:lnSpc>
                          <a:spcPct val="200000"/>
                        </a:lnSpc>
                        <a:spcBef>
                          <a:spcPts val="600"/>
                        </a:spcBef>
                        <a:spcAft>
                          <a:spcPts val="600"/>
                        </a:spcAft>
                      </a:pPr>
                      <a:r>
                        <a:rPr lang="en-US" altLang="zh-CN" sz="1600" b="1"/>
                        <a:t>6. </a:t>
                      </a:r>
                      <a:r>
                        <a:rPr lang="zh-CN" altLang="en-US" sz="1600" b="1"/>
                        <a:t>持久化数据</a:t>
                      </a:r>
                      <a:endParaRPr lang="zh-CN" altLang="en-US" sz="1600" b="1"/>
                    </a:p>
                  </a:txBody>
                  <a:tcPr marL="0" marR="0" marT="0" marB="0" anchor="ctr" anchorCtr="0">
                    <a:lnL>
                      <a:noFill/>
                    </a:lnL>
                    <a:lnR w="12700">
                      <a:solidFill>
                        <a:schemeClr val="tx1"/>
                      </a:solidFill>
                      <a:prstDash val="solid"/>
                    </a:lnR>
                    <a:lnT w="12700">
                      <a:solidFill>
                        <a:schemeClr val="tx1"/>
                      </a:solidFill>
                      <a:prstDash val="solid"/>
                    </a:lnT>
                    <a:lnB>
                      <a:noFill/>
                    </a:lnB>
                    <a:noFill/>
                  </a:tcPr>
                </a:tc>
                <a:tc>
                  <a:txBody>
                    <a:bodyPr/>
                    <a:p>
                      <a:pPr indent="0" algn="ctr" eaLnBrk="1" fontAlgn="auto" latinLnBrk="0" hangingPunct="1">
                        <a:lnSpc>
                          <a:spcPct val="200000"/>
                        </a:lnSpc>
                        <a:spcBef>
                          <a:spcPts val="600"/>
                        </a:spcBef>
                        <a:spcAft>
                          <a:spcPts val="600"/>
                        </a:spcAft>
                      </a:pPr>
                      <a:r>
                        <a:rPr lang="zh-CN" altLang="en-US" sz="1600" b="0"/>
                        <a:t>数据库、对象存储、模型文件、用户资料</a:t>
                      </a:r>
                      <a:endParaRPr lang="zh-CN" altLang="en-US" sz="1600" b="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a:noFill/>
                    </a:lnB>
                    <a:noFill/>
                  </a:tcPr>
                </a:tc>
                <a:tc>
                  <a:txBody>
                    <a:bodyPr/>
                    <a:p>
                      <a:pPr indent="0" algn="ctr" eaLnBrk="1" fontAlgn="auto" latinLnBrk="0" hangingPunct="1">
                        <a:lnSpc>
                          <a:spcPct val="200000"/>
                        </a:lnSpc>
                        <a:spcBef>
                          <a:spcPts val="600"/>
                        </a:spcBef>
                        <a:spcAft>
                          <a:spcPts val="600"/>
                        </a:spcAft>
                      </a:pPr>
                      <a:r>
                        <a:rPr lang="zh-CN" altLang="en-US" sz="1600">
                          <a:sym typeface="+mn-ea"/>
                        </a:rPr>
                        <a:t>不必；</a:t>
                      </a:r>
                      <a:r>
                        <a:rPr lang="zh-CN" altLang="en-US" sz="1600">
                          <a:sym typeface="+mn-ea"/>
                        </a:rPr>
                        <a:t>通常共享存储</a:t>
                      </a:r>
                      <a:endParaRPr lang="zh-CN" altLang="en-US" sz="1600">
                        <a:sym typeface="+mn-ea"/>
                      </a:endParaRPr>
                    </a:p>
                  </a:txBody>
                  <a:tcPr marL="0" marR="0" marT="0" marB="0" anchor="ctr" anchorCtr="0">
                    <a:lnL w="12700">
                      <a:solidFill>
                        <a:schemeClr val="tx1"/>
                      </a:solidFill>
                      <a:prstDash val="solid"/>
                    </a:lnL>
                    <a:lnR>
                      <a:noFill/>
                    </a:lnR>
                    <a:lnT w="12700">
                      <a:solidFill>
                        <a:schemeClr val="tx1"/>
                      </a:solidFill>
                      <a:prstDash val="solid"/>
                    </a:lnT>
                    <a:lnB>
                      <a:noFill/>
                    </a:lnB>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800" b="1">
                <a:solidFill>
                  <a:srgbClr val="1B1B19"/>
                </a:solidFill>
                <a:latin typeface="微软雅黑" panose="020B0503020204020204" charset="-122"/>
                <a:ea typeface="微软雅黑" panose="020B0503020204020204" charset="-122"/>
                <a:cs typeface="微软雅黑" panose="020B0503020204020204" charset="-122"/>
              </a:rPr>
              <a:t>cell</a:t>
            </a:r>
            <a:endParaRPr sz="28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sp>
        <p:nvSpPr>
          <p:cNvPr id="4" name="圆角矩形 3"/>
          <p:cNvSpPr>
            <a:spLocks noGrp="1"/>
          </p:cNvSpPr>
          <p:nvPr/>
        </p:nvSpPr>
        <p:spPr>
          <a:xfrm>
            <a:off x="685800" y="1790700"/>
            <a:ext cx="5905500" cy="3371850"/>
          </a:xfrm>
          <a:prstGeom prst="roundRect">
            <a:avLst>
              <a:gd name="adj" fmla="val 2260"/>
            </a:avLst>
          </a:prstGeom>
          <a:solidFill>
            <a:srgbClr val="FBFBF8"/>
          </a:solidFill>
          <a:ln w="19050">
            <a:solidFill>
              <a:srgbClr val="0F5B5B"/>
            </a:solidFill>
            <a:prstDash val="solid"/>
          </a:ln>
        </p:spPr>
      </p:sp>
      <p:sp>
        <p:nvSpPr>
          <p:cNvPr id="5" name="矩形 4"/>
          <p:cNvSpPr>
            <a:spLocks noGrp="1"/>
          </p:cNvSpPr>
          <p:nvPr/>
        </p:nvSpPr>
        <p:spPr>
          <a:xfrm>
            <a:off x="914400" y="1971675"/>
            <a:ext cx="4857750" cy="266700"/>
          </a:xfrm>
          <a:prstGeom prst="rect">
            <a:avLst/>
          </a:prstGeom>
          <a:noFill/>
          <a:ln w="0">
            <a:noFill/>
            <a:prstDash val="solid"/>
          </a:ln>
        </p:spPr>
        <p:txBody>
          <a:bodyPr wrap="square" lIns="0" tIns="0" rIns="0" bIns="0" anchor="t">
            <a:noAutofit/>
          </a:bodyPr>
          <a:lstStyle>
            <a:defPPr algn="l">
              <a:defRPr sz="135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50" b="1">
                <a:solidFill>
                  <a:srgbClr val="0F5B5B"/>
                </a:solidFill>
                <a:latin typeface="微软雅黑" panose="020B0503020204020204" charset="-122"/>
                <a:ea typeface="微软雅黑" panose="020B0503020204020204" charset="-122"/>
                <a:cs typeface="微软雅黑" panose="020B0503020204020204" charset="-122"/>
              </a:defRPr>
            </a:pPr>
            <a:r>
              <a:rPr sz="1800" b="1">
                <a:solidFill>
                  <a:srgbClr val="0F5B5B"/>
                </a:solidFill>
                <a:latin typeface="微软雅黑" panose="020B0503020204020204" charset="-122"/>
                <a:ea typeface="微软雅黑" panose="020B0503020204020204" charset="-122"/>
                <a:cs typeface="微软雅黑" panose="020B0503020204020204" charset="-122"/>
              </a:rPr>
              <a:t>cell 的简化组成</a:t>
            </a:r>
            <a:endParaRPr sz="180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custDataLst>
              <p:tags r:id="rId1"/>
            </p:custDataLst>
          </p:nvPr>
        </p:nvSpPr>
        <p:spPr>
          <a:xfrm>
            <a:off x="1009650" y="2400300"/>
            <a:ext cx="3371850" cy="609600"/>
          </a:xfrm>
          <a:prstGeom prst="roundRect">
            <a:avLst>
              <a:gd name="adj" fmla="val 12500"/>
            </a:avLst>
          </a:prstGeom>
          <a:solidFill>
            <a:srgbClr val="FFFFFF"/>
          </a:solidFill>
          <a:ln w="9525">
            <a:solidFill>
              <a:srgbClr val="D9D9D1"/>
            </a:solidFill>
            <a:prstDash val="solid"/>
          </a:ln>
        </p:spPr>
      </p:sp>
      <p:sp>
        <p:nvSpPr>
          <p:cNvPr id="7" name="矩形 6"/>
          <p:cNvSpPr>
            <a:spLocks noGrp="1"/>
          </p:cNvSpPr>
          <p:nvPr>
            <p:custDataLst>
              <p:tags r:id="rId2"/>
            </p:custDataLst>
          </p:nvPr>
        </p:nvSpPr>
        <p:spPr>
          <a:xfrm>
            <a:off x="1181100" y="2421255"/>
            <a:ext cx="3028950" cy="209550"/>
          </a:xfrm>
          <a:prstGeom prst="rect">
            <a:avLst/>
          </a:prstGeom>
          <a:noFill/>
          <a:ln w="0">
            <a:noFill/>
            <a:prstDash val="solid"/>
          </a:ln>
        </p:spPr>
        <p:txBody>
          <a:bodyPr wrap="square" lIns="0" tIns="0" rIns="0" bIns="0" anchor="t">
            <a:noAutofit/>
          </a:bodyPr>
          <a:lstStyle>
            <a:defPPr algn="l">
              <a:defRPr sz="124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40" b="1">
                <a:solidFill>
                  <a:srgbClr val="1B1B19"/>
                </a:solidFill>
                <a:latin typeface="微软雅黑" panose="020B0503020204020204" charset="-122"/>
                <a:ea typeface="微软雅黑" panose="020B0503020204020204" charset="-122"/>
                <a:cs typeface="微软雅黑" panose="020B0503020204020204" charset="-122"/>
              </a:defRPr>
            </a:pPr>
            <a:r>
              <a:rPr sz="1600" b="1">
                <a:solidFill>
                  <a:srgbClr val="1B1B19"/>
                </a:solidFill>
                <a:latin typeface="微软雅黑" panose="020B0503020204020204" charset="-122"/>
                <a:ea typeface="微软雅黑" panose="020B0503020204020204" charset="-122"/>
                <a:cs typeface="微软雅黑" panose="020B0503020204020204" charset="-122"/>
              </a:rPr>
              <a:t>基站 gNB</a:t>
            </a:r>
            <a:endParaRPr sz="16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custDataLst>
              <p:tags r:id="rId3"/>
            </p:custDataLst>
          </p:nvPr>
        </p:nvSpPr>
        <p:spPr>
          <a:xfrm>
            <a:off x="1199515" y="2733675"/>
            <a:ext cx="3028950" cy="209550"/>
          </a:xfrm>
          <a:prstGeom prst="rect">
            <a:avLst/>
          </a:prstGeom>
          <a:noFill/>
          <a:ln w="0">
            <a:noFill/>
            <a:prstDash val="solid"/>
          </a:ln>
        </p:spPr>
        <p:txBody>
          <a:bodyPr wrap="square" lIns="0" tIns="0" rIns="0" bIns="0" anchor="t">
            <a:noAutofit/>
          </a:bodyPr>
          <a:lstStyle>
            <a:defPPr algn="l">
              <a:defRPr sz="86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865" b="0">
                <a:solidFill>
                  <a:srgbClr val="5F5F58"/>
                </a:solidFill>
                <a:latin typeface="微软雅黑" panose="020B0503020204020204" charset="-122"/>
                <a:ea typeface="微软雅黑" panose="020B0503020204020204" charset="-122"/>
                <a:cs typeface="微软雅黑" panose="020B0503020204020204" charset="-122"/>
              </a:defRPr>
            </a:pPr>
            <a:r>
              <a:rPr sz="1200" b="1">
                <a:solidFill>
                  <a:srgbClr val="5F5F58"/>
                </a:solidFill>
                <a:latin typeface="微软雅黑" panose="020B0503020204020204" charset="-122"/>
                <a:ea typeface="微软雅黑" panose="020B0503020204020204" charset="-122"/>
                <a:cs typeface="微软雅黑" panose="020B0503020204020204" charset="-122"/>
              </a:rPr>
              <a:t>负责车辆的无线接入</a:t>
            </a:r>
            <a:endParaRPr sz="12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custDataLst>
              <p:tags r:id="rId4"/>
            </p:custDataLst>
          </p:nvPr>
        </p:nvSpPr>
        <p:spPr>
          <a:xfrm>
            <a:off x="1009650" y="3219450"/>
            <a:ext cx="3371850" cy="609600"/>
          </a:xfrm>
          <a:prstGeom prst="roundRect">
            <a:avLst>
              <a:gd name="adj" fmla="val 12500"/>
            </a:avLst>
          </a:prstGeom>
          <a:solidFill>
            <a:srgbClr val="FFFFFF"/>
          </a:solidFill>
          <a:ln w="9525">
            <a:solidFill>
              <a:srgbClr val="D9D9D1"/>
            </a:solidFill>
            <a:prstDash val="solid"/>
          </a:ln>
        </p:spPr>
      </p:sp>
      <p:sp>
        <p:nvSpPr>
          <p:cNvPr id="10" name="矩形 9"/>
          <p:cNvSpPr>
            <a:spLocks noGrp="1"/>
          </p:cNvSpPr>
          <p:nvPr>
            <p:custDataLst>
              <p:tags r:id="rId5"/>
            </p:custDataLst>
          </p:nvPr>
        </p:nvSpPr>
        <p:spPr>
          <a:xfrm>
            <a:off x="1181100" y="3253105"/>
            <a:ext cx="3028950" cy="209550"/>
          </a:xfrm>
          <a:prstGeom prst="rect">
            <a:avLst/>
          </a:prstGeom>
          <a:noFill/>
          <a:ln w="0">
            <a:noFill/>
            <a:prstDash val="solid"/>
          </a:ln>
        </p:spPr>
        <p:txBody>
          <a:bodyPr wrap="square" lIns="0" tIns="0" rIns="0" bIns="0" anchor="t">
            <a:noAutofit/>
          </a:bodyPr>
          <a:lstStyle>
            <a:defPPr algn="l">
              <a:defRPr sz="124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40" b="1">
                <a:solidFill>
                  <a:srgbClr val="1B1B19"/>
                </a:solidFill>
                <a:latin typeface="微软雅黑" panose="020B0503020204020204" charset="-122"/>
                <a:ea typeface="微软雅黑" panose="020B0503020204020204" charset="-122"/>
                <a:cs typeface="微软雅黑" panose="020B0503020204020204" charset="-122"/>
              </a:defRPr>
            </a:pPr>
            <a:r>
              <a:rPr sz="1600" b="1">
                <a:solidFill>
                  <a:srgbClr val="1B1B19"/>
                </a:solidFill>
                <a:latin typeface="微软雅黑" panose="020B0503020204020204" charset="-122"/>
                <a:ea typeface="微软雅黑" panose="020B0503020204020204" charset="-122"/>
                <a:cs typeface="微软雅黑" panose="020B0503020204020204" charset="-122"/>
              </a:rPr>
              <a:t>交换机</a:t>
            </a:r>
            <a:endParaRPr sz="16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custDataLst>
              <p:tags r:id="rId6"/>
            </p:custDataLst>
          </p:nvPr>
        </p:nvSpPr>
        <p:spPr>
          <a:xfrm>
            <a:off x="1181100" y="3552825"/>
            <a:ext cx="3028950" cy="209550"/>
          </a:xfrm>
          <a:prstGeom prst="rect">
            <a:avLst/>
          </a:prstGeom>
          <a:noFill/>
          <a:ln w="0">
            <a:noFill/>
            <a:prstDash val="solid"/>
          </a:ln>
        </p:spPr>
        <p:txBody>
          <a:bodyPr wrap="square" lIns="0" tIns="0" rIns="0" bIns="0" anchor="t">
            <a:noAutofit/>
          </a:bodyPr>
          <a:lstStyle>
            <a:defPPr algn="l">
              <a:defRPr sz="86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865" b="0">
                <a:solidFill>
                  <a:srgbClr val="5F5F58"/>
                </a:solidFill>
                <a:latin typeface="微软雅黑" panose="020B0503020204020204" charset="-122"/>
                <a:ea typeface="微软雅黑" panose="020B0503020204020204" charset="-122"/>
                <a:cs typeface="微软雅黑" panose="020B0503020204020204" charset="-122"/>
              </a:defRPr>
            </a:pPr>
            <a:r>
              <a:rPr sz="1200" b="1">
                <a:solidFill>
                  <a:srgbClr val="5F5F58"/>
                </a:solidFill>
                <a:latin typeface="微软雅黑" panose="020B0503020204020204" charset="-122"/>
                <a:ea typeface="微软雅黑" panose="020B0503020204020204" charset="-122"/>
                <a:cs typeface="微软雅黑" panose="020B0503020204020204" charset="-122"/>
              </a:rPr>
              <a:t>本地流量送进</a:t>
            </a:r>
            <a:r>
              <a:rPr lang="zh-CN" sz="1200" b="1">
                <a:solidFill>
                  <a:srgbClr val="5F5F58"/>
                </a:solidFill>
                <a:latin typeface="微软雅黑" panose="020B0503020204020204" charset="-122"/>
                <a:ea typeface="微软雅黑" panose="020B0503020204020204" charset="-122"/>
                <a:cs typeface="微软雅黑" panose="020B0503020204020204" charset="-122"/>
              </a:rPr>
              <a:t>其他</a:t>
            </a:r>
            <a:r>
              <a:rPr sz="1200" b="1">
                <a:solidFill>
                  <a:srgbClr val="5F5F58"/>
                </a:solidFill>
                <a:latin typeface="微软雅黑" panose="020B0503020204020204" charset="-122"/>
                <a:ea typeface="微软雅黑" panose="020B0503020204020204" charset="-122"/>
                <a:cs typeface="微软雅黑" panose="020B0503020204020204" charset="-122"/>
              </a:rPr>
              <a:t>服务器，连接不同节点</a:t>
            </a:r>
            <a:endParaRPr sz="12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custDataLst>
              <p:tags r:id="rId7"/>
            </p:custDataLst>
          </p:nvPr>
        </p:nvSpPr>
        <p:spPr>
          <a:xfrm>
            <a:off x="1009650" y="4038600"/>
            <a:ext cx="3371850" cy="609600"/>
          </a:xfrm>
          <a:prstGeom prst="roundRect">
            <a:avLst>
              <a:gd name="adj" fmla="val 12500"/>
            </a:avLst>
          </a:prstGeom>
          <a:solidFill>
            <a:srgbClr val="FFFFFF"/>
          </a:solidFill>
          <a:ln w="9525">
            <a:solidFill>
              <a:srgbClr val="D9D9D1"/>
            </a:solidFill>
            <a:prstDash val="solid"/>
          </a:ln>
        </p:spPr>
      </p:sp>
      <p:sp>
        <p:nvSpPr>
          <p:cNvPr id="13" name="矩形 12"/>
          <p:cNvSpPr>
            <a:spLocks noGrp="1"/>
          </p:cNvSpPr>
          <p:nvPr>
            <p:custDataLst>
              <p:tags r:id="rId8"/>
            </p:custDataLst>
          </p:nvPr>
        </p:nvSpPr>
        <p:spPr>
          <a:xfrm>
            <a:off x="1181100" y="4077335"/>
            <a:ext cx="3028950" cy="209550"/>
          </a:xfrm>
          <a:prstGeom prst="rect">
            <a:avLst/>
          </a:prstGeom>
          <a:noFill/>
          <a:ln w="0">
            <a:noFill/>
            <a:prstDash val="solid"/>
          </a:ln>
        </p:spPr>
        <p:txBody>
          <a:bodyPr wrap="square" lIns="0" tIns="0" rIns="0" bIns="0" anchor="t">
            <a:noAutofit/>
          </a:bodyPr>
          <a:lstStyle>
            <a:defPPr algn="l">
              <a:defRPr sz="124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40" b="1">
                <a:solidFill>
                  <a:srgbClr val="1B1B19"/>
                </a:solidFill>
                <a:latin typeface="微软雅黑" panose="020B0503020204020204" charset="-122"/>
                <a:ea typeface="微软雅黑" panose="020B0503020204020204" charset="-122"/>
                <a:cs typeface="微软雅黑" panose="020B0503020204020204" charset="-122"/>
              </a:defRPr>
            </a:pPr>
            <a:r>
              <a:rPr sz="1600" b="1">
                <a:solidFill>
                  <a:srgbClr val="1B1B19"/>
                </a:solidFill>
                <a:latin typeface="微软雅黑" panose="020B0503020204020204" charset="-122"/>
                <a:ea typeface="微软雅黑" panose="020B0503020204020204" charset="-122"/>
                <a:cs typeface="微软雅黑" panose="020B0503020204020204" charset="-122"/>
              </a:rPr>
              <a:t>边缘服务器</a:t>
            </a:r>
            <a:endParaRPr sz="16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custDataLst>
              <p:tags r:id="rId9"/>
            </p:custDataLst>
          </p:nvPr>
        </p:nvSpPr>
        <p:spPr>
          <a:xfrm>
            <a:off x="1181100" y="4371975"/>
            <a:ext cx="3028950" cy="209550"/>
          </a:xfrm>
          <a:prstGeom prst="rect">
            <a:avLst/>
          </a:prstGeom>
          <a:noFill/>
          <a:ln w="0">
            <a:noFill/>
            <a:prstDash val="solid"/>
          </a:ln>
        </p:spPr>
        <p:txBody>
          <a:bodyPr wrap="square" lIns="0" tIns="0" rIns="0" bIns="0" anchor="t">
            <a:noAutofit/>
          </a:bodyPr>
          <a:lstStyle>
            <a:defPPr algn="l">
              <a:defRPr sz="86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865" b="0">
                <a:solidFill>
                  <a:srgbClr val="5F5F58"/>
                </a:solidFill>
                <a:latin typeface="微软雅黑" panose="020B0503020204020204" charset="-122"/>
                <a:ea typeface="微软雅黑" panose="020B0503020204020204" charset="-122"/>
                <a:cs typeface="微软雅黑" panose="020B0503020204020204" charset="-122"/>
              </a:defRPr>
            </a:pPr>
            <a:r>
              <a:rPr sz="1200" b="1">
                <a:solidFill>
                  <a:srgbClr val="5F5F58"/>
                </a:solidFill>
                <a:latin typeface="微软雅黑" panose="020B0503020204020204" charset="-122"/>
                <a:ea typeface="微软雅黑" panose="020B0503020204020204" charset="-122"/>
                <a:cs typeface="微软雅黑" panose="020B0503020204020204" charset="-122"/>
              </a:rPr>
              <a:t>运行导航、视频和告警服务，保存服务状态</a:t>
            </a:r>
            <a:endParaRPr sz="12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4810125" y="2428875"/>
            <a:ext cx="514350" cy="209550"/>
          </a:xfrm>
          <a:prstGeom prst="rect">
            <a:avLst/>
          </a:prstGeom>
          <a:noFill/>
          <a:ln w="0">
            <a:noFill/>
            <a:prstDash val="solid"/>
          </a:ln>
        </p:spPr>
        <p:txBody>
          <a:bodyPr wrap="square" lIns="0" tIns="0" rIns="0" bIns="0" anchor="t">
            <a:noAutofit/>
          </a:bodyPr>
          <a:lstStyle>
            <a:defPPr algn="ctr">
              <a:defRPr sz="1125" b="1">
                <a:solidFill>
                  <a:srgbClr val="1B1B19"/>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1125" b="1">
                <a:solidFill>
                  <a:srgbClr val="1B1B19"/>
                </a:solidFill>
                <a:latin typeface="微软雅黑" panose="020B0503020204020204" charset="-122"/>
                <a:ea typeface="微软雅黑" panose="020B0503020204020204" charset="-122"/>
                <a:cs typeface="微软雅黑" panose="020B0503020204020204" charset="-122"/>
              </a:defRPr>
            </a:pPr>
            <a:r>
              <a:rPr sz="1800" b="1">
                <a:solidFill>
                  <a:srgbClr val="1B1B19"/>
                </a:solidFill>
                <a:latin typeface="微软雅黑" panose="020B0503020204020204" charset="-122"/>
                <a:ea typeface="微软雅黑" panose="020B0503020204020204" charset="-122"/>
                <a:cs typeface="微软雅黑" panose="020B0503020204020204" charset="-122"/>
              </a:rPr>
              <a:t>车辆</a:t>
            </a:r>
            <a:endParaRPr sz="18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6" name="椭圆 15"/>
          <p:cNvSpPr>
            <a:spLocks noGrp="1"/>
          </p:cNvSpPr>
          <p:nvPr/>
        </p:nvSpPr>
        <p:spPr>
          <a:xfrm>
            <a:off x="5048250" y="2876550"/>
            <a:ext cx="95250" cy="95250"/>
          </a:xfrm>
          <a:prstGeom prst="ellipse">
            <a:avLst/>
          </a:prstGeom>
          <a:solidFill>
            <a:srgbClr val="0F5B5B"/>
          </a:solidFill>
          <a:ln w="0">
            <a:noFill/>
            <a:prstDash val="solid"/>
          </a:ln>
        </p:spPr>
      </p:sp>
      <p:sp>
        <p:nvSpPr>
          <p:cNvPr id="17" name="矩形 16"/>
          <p:cNvSpPr>
            <a:spLocks noGrp="1"/>
          </p:cNvSpPr>
          <p:nvPr/>
        </p:nvSpPr>
        <p:spPr>
          <a:xfrm>
            <a:off x="4457700" y="3105150"/>
            <a:ext cx="1257300" cy="381000"/>
          </a:xfrm>
          <a:prstGeom prst="rect">
            <a:avLst/>
          </a:prstGeom>
          <a:noFill/>
          <a:ln w="0">
            <a:noFill/>
            <a:prstDash val="solid"/>
          </a:ln>
        </p:spPr>
        <p:txBody>
          <a:bodyPr wrap="square" lIns="0" tIns="0" rIns="0" bIns="0" anchor="t">
            <a:noAutofit/>
          </a:bodyPr>
          <a:lstStyle>
            <a:defPPr algn="ctr">
              <a:defRPr sz="825" b="0">
                <a:solidFill>
                  <a:srgbClr val="5F5F58"/>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82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无线连接</a:t>
            </a:r>
            <a:endParaRPr sz="1400" b="1">
              <a:solidFill>
                <a:srgbClr val="5F5F58"/>
              </a:solidFill>
              <a:latin typeface="微软雅黑" panose="020B0503020204020204" charset="-122"/>
              <a:ea typeface="微软雅黑" panose="020B0503020204020204" charset="-122"/>
              <a:cs typeface="微软雅黑" panose="020B0503020204020204" charset="-122"/>
            </a:endParaRPr>
          </a:p>
          <a:p>
            <a:pPr algn="ctr">
              <a:lnSpc>
                <a:spcPct val="128000"/>
              </a:lnSpc>
              <a:buNone/>
              <a:defRPr sz="82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到本</a:t>
            </a:r>
            <a:r>
              <a:rPr lang="en-US" sz="1400" b="1">
                <a:solidFill>
                  <a:srgbClr val="5F5F58"/>
                </a:solidFill>
                <a:latin typeface="微软雅黑" panose="020B0503020204020204" charset="-122"/>
                <a:ea typeface="微软雅黑" panose="020B0503020204020204" charset="-122"/>
                <a:cs typeface="微软雅黑" panose="020B0503020204020204" charset="-122"/>
              </a:rPr>
              <a:t> </a:t>
            </a:r>
            <a:r>
              <a:rPr sz="1400" b="1">
                <a:solidFill>
                  <a:srgbClr val="5F5F58"/>
                </a:solidFill>
                <a:latin typeface="微软雅黑" panose="020B0503020204020204" charset="-122"/>
                <a:ea typeface="微软雅黑" panose="020B0503020204020204" charset="-122"/>
                <a:cs typeface="微软雅黑" panose="020B0503020204020204" charset="-122"/>
              </a:rPr>
              <a:t>cell</a:t>
            </a:r>
            <a:endParaRPr sz="14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6953250" y="1790700"/>
            <a:ext cx="4552950" cy="2762250"/>
          </a:xfrm>
          <a:prstGeom prst="rect">
            <a:avLst/>
          </a:prstGeom>
          <a:noFill/>
          <a:ln w="0">
            <a:noFill/>
            <a:prstDash val="solid"/>
          </a:ln>
        </p:spPr>
        <p:txBody>
          <a:bodyPr wrap="square" lIns="0" tIns="0" rIns="0" bIns="0" anchor="t">
            <a:noAutofit/>
          </a:bodyPr>
          <a:lstStyle>
            <a:defPPr algn="l">
              <a:defRPr sz="1140"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42000"/>
              </a:lnSpc>
              <a:buNone/>
              <a:defRPr sz="1140"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第一，仿真关心“服务应该归哪个节点管”</a:t>
            </a:r>
            <a:endParaRPr sz="1600" b="1">
              <a:solidFill>
                <a:srgbClr val="5F5F58"/>
              </a:solidFill>
              <a:latin typeface="微软雅黑" panose="020B0503020204020204" charset="-122"/>
              <a:ea typeface="微软雅黑" panose="020B0503020204020204" charset="-122"/>
              <a:cs typeface="微软雅黑" panose="020B0503020204020204" charset="-122"/>
            </a:endParaRPr>
          </a:p>
          <a:p>
            <a:endParaRPr sz="1600" b="1"/>
          </a:p>
          <a:p>
            <a:pPr algn="l">
              <a:lnSpc>
                <a:spcPct val="142000"/>
              </a:lnSpc>
              <a:buNone/>
              <a:defRPr sz="1140"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第二，真实数据提供的是基站位置和车辆经过的区域，cell 能把二维移动</a:t>
            </a:r>
            <a:r>
              <a:rPr lang="zh-CN" sz="1600" b="1">
                <a:solidFill>
                  <a:srgbClr val="5F5F58"/>
                </a:solidFill>
                <a:latin typeface="微软雅黑" panose="020B0503020204020204" charset="-122"/>
                <a:ea typeface="微软雅黑" panose="020B0503020204020204" charset="-122"/>
                <a:cs typeface="微软雅黑" panose="020B0503020204020204" charset="-122"/>
              </a:rPr>
              <a:t>映射到</a:t>
            </a:r>
            <a:r>
              <a:rPr sz="1600" b="1">
                <a:solidFill>
                  <a:srgbClr val="5F5F58"/>
                </a:solidFill>
                <a:latin typeface="微软雅黑" panose="020B0503020204020204" charset="-122"/>
                <a:ea typeface="微软雅黑" panose="020B0503020204020204" charset="-122"/>
                <a:cs typeface="微软雅黑" panose="020B0503020204020204" charset="-122"/>
              </a:rPr>
              <a:t>计算节点</a:t>
            </a:r>
            <a:endParaRPr sz="1600" b="1">
              <a:solidFill>
                <a:srgbClr val="5F5F58"/>
              </a:solidFill>
              <a:latin typeface="微软雅黑" panose="020B0503020204020204" charset="-122"/>
              <a:ea typeface="微软雅黑" panose="020B0503020204020204" charset="-122"/>
              <a:cs typeface="微软雅黑" panose="020B0503020204020204" charset="-122"/>
            </a:endParaRPr>
          </a:p>
          <a:p>
            <a:endParaRPr sz="1600" b="1"/>
          </a:p>
          <a:p>
            <a:pPr algn="l">
              <a:lnSpc>
                <a:spcPct val="142000"/>
              </a:lnSpc>
              <a:buNone/>
              <a:defRPr sz="1140"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第三，可以</a:t>
            </a:r>
            <a:r>
              <a:rPr lang="zh-CN" sz="1600" b="1">
                <a:solidFill>
                  <a:srgbClr val="5F5F58"/>
                </a:solidFill>
                <a:latin typeface="微软雅黑" panose="020B0503020204020204" charset="-122"/>
                <a:ea typeface="微软雅黑" panose="020B0503020204020204" charset="-122"/>
                <a:cs typeface="微软雅黑" panose="020B0503020204020204" charset="-122"/>
              </a:rPr>
              <a:t>量化</a:t>
            </a:r>
            <a:r>
              <a:rPr sz="1600" b="1">
                <a:solidFill>
                  <a:srgbClr val="5F5F58"/>
                </a:solidFill>
                <a:latin typeface="微软雅黑" panose="020B0503020204020204" charset="-122"/>
                <a:ea typeface="微软雅黑" panose="020B0503020204020204" charset="-122"/>
                <a:cs typeface="微软雅黑" panose="020B0503020204020204" charset="-122"/>
              </a:rPr>
              <a:t>车辆移动</a:t>
            </a:r>
            <a:r>
              <a:rPr lang="zh-CN" sz="1600" b="1">
                <a:solidFill>
                  <a:srgbClr val="5F5F58"/>
                </a:solidFill>
                <a:latin typeface="微软雅黑" panose="020B0503020204020204" charset="-122"/>
                <a:ea typeface="微软雅黑" panose="020B0503020204020204" charset="-122"/>
                <a:cs typeface="微软雅黑" panose="020B0503020204020204" charset="-122"/>
              </a:rPr>
              <a:t>对</a:t>
            </a:r>
            <a:r>
              <a:rPr sz="1600" b="1">
                <a:solidFill>
                  <a:srgbClr val="5F5F58"/>
                </a:solidFill>
                <a:latin typeface="微软雅黑" panose="020B0503020204020204" charset="-122"/>
                <a:ea typeface="微软雅黑" panose="020B0503020204020204" charset="-122"/>
                <a:cs typeface="微软雅黑" panose="020B0503020204020204" charset="-122"/>
              </a:rPr>
              <a:t>节点之间的</a:t>
            </a:r>
            <a:r>
              <a:rPr lang="zh-CN" sz="1600" b="1">
                <a:solidFill>
                  <a:srgbClr val="5F5F58"/>
                </a:solidFill>
                <a:latin typeface="微软雅黑" panose="020B0503020204020204" charset="-122"/>
                <a:ea typeface="微软雅黑" panose="020B0503020204020204" charset="-122"/>
                <a:cs typeface="微软雅黑" panose="020B0503020204020204" charset="-122"/>
              </a:rPr>
              <a:t>迁移流量、时延</a:t>
            </a:r>
            <a:r>
              <a:rPr lang="zh-CN" sz="1600" b="1">
                <a:solidFill>
                  <a:srgbClr val="5F5F58"/>
                </a:solidFill>
                <a:latin typeface="微软雅黑" panose="020B0503020204020204" charset="-122"/>
                <a:ea typeface="微软雅黑" panose="020B0503020204020204" charset="-122"/>
                <a:cs typeface="微软雅黑" panose="020B0503020204020204" charset="-122"/>
              </a:rPr>
              <a:t>的影响</a:t>
            </a:r>
            <a:endParaRPr sz="16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6953250" y="4686300"/>
            <a:ext cx="4552950" cy="381000"/>
          </a:xfrm>
          <a:prstGeom prst="rect">
            <a:avLst/>
          </a:prstGeom>
          <a:noFill/>
          <a:ln w="0">
            <a:noFill/>
            <a:prstDash val="solid"/>
          </a:ln>
        </p:spPr>
        <p:txBody>
          <a:bodyPr wrap="square" lIns="0" tIns="0" rIns="0" bIns="0" anchor="t">
            <a:noAutofit/>
          </a:bodyPr>
          <a:lstStyle>
            <a:defPPr algn="l">
              <a:defRPr sz="105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50" b="1">
                <a:solidFill>
                  <a:srgbClr val="0F5B5B"/>
                </a:solidFill>
                <a:latin typeface="微软雅黑" panose="020B0503020204020204" charset="-122"/>
                <a:ea typeface="微软雅黑" panose="020B0503020204020204" charset="-122"/>
                <a:cs typeface="微软雅黑" panose="020B0503020204020204" charset="-122"/>
              </a:defRPr>
            </a:pPr>
            <a:r>
              <a:rPr sz="1400" b="1">
                <a:solidFill>
                  <a:srgbClr val="0F5B5B"/>
                </a:solidFill>
                <a:latin typeface="微软雅黑" panose="020B0503020204020204" charset="-122"/>
                <a:ea typeface="微软雅黑" panose="020B0503020204020204" charset="-122"/>
                <a:cs typeface="微软雅黑" panose="020B0503020204020204" charset="-122"/>
              </a:rPr>
              <a:t>cell = 服务区域 + 无线接入 + 网络连接 + 边缘服务器</a:t>
            </a:r>
            <a:endParaRPr sz="140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685800" y="5772150"/>
            <a:ext cx="10820400" cy="9525"/>
          </a:xfrm>
          <a:prstGeom prst="rect">
            <a:avLst/>
          </a:prstGeom>
          <a:solidFill>
            <a:srgbClr val="D9D9D1"/>
          </a:solidFill>
          <a:ln w="0">
            <a:noFill/>
            <a:prstDash val="solid"/>
          </a:ln>
        </p:spPr>
      </p:sp>
      <p:sp>
        <p:nvSpPr>
          <p:cNvPr id="22" name="矩形 21"/>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800" b="1">
                <a:solidFill>
                  <a:srgbClr val="0F5B5B"/>
                </a:solidFill>
                <a:latin typeface="微软雅黑" panose="020B0503020204020204" charset="-122"/>
                <a:ea typeface="微软雅黑" panose="020B0503020204020204" charset="-122"/>
                <a:cs typeface="微软雅黑" panose="020B0503020204020204" charset="-122"/>
              </a:rPr>
              <a:t>cell 是仿真中的服务归属单元</a:t>
            </a:r>
            <a:endParaRPr sz="1800"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800" b="1">
                <a:solidFill>
                  <a:srgbClr val="1B1B19"/>
                </a:solidFill>
                <a:latin typeface="微软雅黑" panose="020B0503020204020204" charset="-122"/>
                <a:ea typeface="微软雅黑" panose="020B0503020204020204" charset="-122"/>
                <a:cs typeface="微软雅黑" panose="020B0503020204020204" charset="-122"/>
              </a:rPr>
              <a:t>两张图</a:t>
            </a:r>
            <a:endParaRPr sz="28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sp>
        <p:nvSpPr>
          <p:cNvPr id="4" name="圆角矩形 3"/>
          <p:cNvSpPr>
            <a:spLocks noGrp="1"/>
          </p:cNvSpPr>
          <p:nvPr/>
        </p:nvSpPr>
        <p:spPr>
          <a:xfrm>
            <a:off x="647700" y="1943100"/>
            <a:ext cx="781050" cy="666750"/>
          </a:xfrm>
          <a:prstGeom prst="roundRect">
            <a:avLst>
              <a:gd name="adj" fmla="val 11429"/>
            </a:avLst>
          </a:prstGeom>
          <a:solidFill>
            <a:srgbClr val="FFFFFF"/>
          </a:solidFill>
          <a:ln w="9525">
            <a:solidFill>
              <a:srgbClr val="D9D9D1"/>
            </a:solidFill>
            <a:prstDash val="solid"/>
          </a:ln>
        </p:spPr>
      </p:sp>
      <p:sp>
        <p:nvSpPr>
          <p:cNvPr id="5" name="矩形 4"/>
          <p:cNvSpPr>
            <a:spLocks noGrp="1"/>
          </p:cNvSpPr>
          <p:nvPr/>
        </p:nvSpPr>
        <p:spPr>
          <a:xfrm>
            <a:off x="742950" y="2019300"/>
            <a:ext cx="571500" cy="152400"/>
          </a:xfrm>
          <a:prstGeom prst="rect">
            <a:avLst/>
          </a:prstGeom>
          <a:noFill/>
          <a:ln w="0">
            <a:noFill/>
            <a:prstDash val="solid"/>
          </a:ln>
        </p:spPr>
        <p:txBody>
          <a:bodyPr wrap="square" lIns="0" tIns="0" rIns="0" bIns="0" anchor="t">
            <a:noAutofit/>
          </a:bodyPr>
          <a:lstStyle>
            <a:defPPr algn="l">
              <a:defRPr sz="675" b="1">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675" b="1">
                <a:solidFill>
                  <a:srgbClr val="5F5F58"/>
                </a:solidFill>
                <a:latin typeface="微软雅黑" panose="020B0503020204020204" charset="-122"/>
                <a:ea typeface="微软雅黑" panose="020B0503020204020204" charset="-122"/>
                <a:cs typeface="微软雅黑" panose="020B0503020204020204" charset="-122"/>
              </a:defRPr>
            </a:pPr>
            <a:r>
              <a:rPr sz="1080">
                <a:solidFill>
                  <a:srgbClr val="5F5F58"/>
                </a:solidFill>
                <a:latin typeface="微软雅黑" panose="020B0503020204020204" charset="-122"/>
                <a:ea typeface="微软雅黑" panose="020B0503020204020204" charset="-122"/>
                <a:cs typeface="微软雅黑" panose="020B0503020204020204" charset="-122"/>
              </a:rPr>
              <a:t>cell</a:t>
            </a:r>
            <a:endParaRPr sz="108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6" name="椭圆 5"/>
          <p:cNvSpPr>
            <a:spLocks noGrp="1"/>
          </p:cNvSpPr>
          <p:nvPr/>
        </p:nvSpPr>
        <p:spPr>
          <a:xfrm>
            <a:off x="742950" y="2247900"/>
            <a:ext cx="66675" cy="66675"/>
          </a:xfrm>
          <a:prstGeom prst="ellipse">
            <a:avLst/>
          </a:prstGeom>
          <a:solidFill>
            <a:srgbClr val="0F5B5B"/>
          </a:solidFill>
          <a:ln w="0">
            <a:noFill/>
            <a:prstDash val="solid"/>
          </a:ln>
        </p:spPr>
      </p:sp>
      <p:sp>
        <p:nvSpPr>
          <p:cNvPr id="7" name="圆角矩形 6"/>
          <p:cNvSpPr>
            <a:spLocks noGrp="1"/>
          </p:cNvSpPr>
          <p:nvPr/>
        </p:nvSpPr>
        <p:spPr>
          <a:xfrm>
            <a:off x="1104900" y="2400300"/>
            <a:ext cx="238125" cy="123825"/>
          </a:xfrm>
          <a:prstGeom prst="roundRect">
            <a:avLst>
              <a:gd name="adj" fmla="val 50000"/>
            </a:avLst>
          </a:prstGeom>
          <a:solidFill>
            <a:srgbClr val="E7F0EE"/>
          </a:solidFill>
          <a:ln w="9525">
            <a:solidFill>
              <a:srgbClr val="0F5B5B"/>
            </a:solidFill>
            <a:prstDash val="solid"/>
          </a:ln>
        </p:spPr>
      </p:sp>
      <p:sp>
        <p:nvSpPr>
          <p:cNvPr id="8" name="矩形 7"/>
          <p:cNvSpPr>
            <a:spLocks noGrp="1"/>
          </p:cNvSpPr>
          <p:nvPr/>
        </p:nvSpPr>
        <p:spPr>
          <a:xfrm>
            <a:off x="1114425" y="2409825"/>
            <a:ext cx="228600" cy="95250"/>
          </a:xfrm>
          <a:prstGeom prst="rect">
            <a:avLst/>
          </a:prstGeom>
          <a:noFill/>
          <a:ln w="0">
            <a:noFill/>
            <a:prstDash val="solid"/>
          </a:ln>
        </p:spPr>
        <p:txBody>
          <a:bodyPr wrap="square" lIns="0" tIns="0" rIns="0" bIns="0" anchor="t">
            <a:noAutofit/>
          </a:bodyPr>
          <a:lstStyle>
            <a:defPPr algn="ctr">
              <a:defRPr sz="490" b="0">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490" b="0">
                <a:solidFill>
                  <a:srgbClr val="0F5B5B"/>
                </a:solidFill>
                <a:latin typeface="微软雅黑" panose="020B0503020204020204" charset="-122"/>
                <a:ea typeface="微软雅黑" panose="020B0503020204020204" charset="-122"/>
                <a:cs typeface="微软雅黑" panose="020B0503020204020204" charset="-122"/>
              </a:defRPr>
            </a:pPr>
            <a:r>
              <a:rPr sz="890" b="1">
                <a:solidFill>
                  <a:srgbClr val="0F5B5B"/>
                </a:solidFill>
                <a:latin typeface="微软雅黑" panose="020B0503020204020204" charset="-122"/>
                <a:ea typeface="微软雅黑" panose="020B0503020204020204" charset="-122"/>
                <a:cs typeface="微软雅黑" panose="020B0503020204020204" charset="-122"/>
              </a:rPr>
              <a:t>edge</a:t>
            </a:r>
            <a:endParaRPr sz="8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1428750" y="2276475"/>
            <a:ext cx="114300" cy="9525"/>
          </a:xfrm>
          <a:prstGeom prst="rect">
            <a:avLst/>
          </a:prstGeom>
          <a:solidFill>
            <a:srgbClr val="BDBDB5"/>
          </a:solidFill>
          <a:ln w="0">
            <a:noFill/>
            <a:prstDash val="solid"/>
          </a:ln>
        </p:spPr>
      </p:sp>
      <p:sp>
        <p:nvSpPr>
          <p:cNvPr id="10" name="矩形 9"/>
          <p:cNvSpPr>
            <a:spLocks noGrp="1"/>
          </p:cNvSpPr>
          <p:nvPr/>
        </p:nvSpPr>
        <p:spPr>
          <a:xfrm>
            <a:off x="1038225" y="2609850"/>
            <a:ext cx="9525" cy="114300"/>
          </a:xfrm>
          <a:prstGeom prst="rect">
            <a:avLst/>
          </a:prstGeom>
          <a:solidFill>
            <a:srgbClr val="BDBDB5"/>
          </a:solidFill>
          <a:ln w="0">
            <a:noFill/>
            <a:prstDash val="solid"/>
          </a:ln>
        </p:spPr>
      </p:sp>
      <p:sp>
        <p:nvSpPr>
          <p:cNvPr id="11" name="圆角矩形 10"/>
          <p:cNvSpPr>
            <a:spLocks noGrp="1"/>
          </p:cNvSpPr>
          <p:nvPr/>
        </p:nvSpPr>
        <p:spPr>
          <a:xfrm>
            <a:off x="1543050" y="1943100"/>
            <a:ext cx="781050" cy="666750"/>
          </a:xfrm>
          <a:prstGeom prst="roundRect">
            <a:avLst>
              <a:gd name="adj" fmla="val 11429"/>
            </a:avLst>
          </a:prstGeom>
          <a:solidFill>
            <a:srgbClr val="FFFFFF"/>
          </a:solidFill>
          <a:ln w="9525">
            <a:solidFill>
              <a:srgbClr val="D9D9D1"/>
            </a:solidFill>
            <a:prstDash val="solid"/>
          </a:ln>
        </p:spPr>
      </p:sp>
      <p:sp>
        <p:nvSpPr>
          <p:cNvPr id="12" name="矩形 11"/>
          <p:cNvSpPr>
            <a:spLocks noGrp="1"/>
          </p:cNvSpPr>
          <p:nvPr/>
        </p:nvSpPr>
        <p:spPr>
          <a:xfrm>
            <a:off x="1638300" y="2019300"/>
            <a:ext cx="571500" cy="152400"/>
          </a:xfrm>
          <a:prstGeom prst="rect">
            <a:avLst/>
          </a:prstGeom>
          <a:noFill/>
          <a:ln w="0">
            <a:noFill/>
            <a:prstDash val="solid"/>
          </a:ln>
        </p:spPr>
        <p:txBody>
          <a:bodyPr wrap="square" lIns="0" tIns="0" rIns="0" bIns="0" anchor="t">
            <a:noAutofit/>
          </a:bodyPr>
          <a:lstStyle>
            <a:defPPr algn="l">
              <a:defRPr sz="675" b="1">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675" b="1">
                <a:solidFill>
                  <a:srgbClr val="5F5F58"/>
                </a:solidFill>
                <a:latin typeface="微软雅黑" panose="020B0503020204020204" charset="-122"/>
                <a:ea typeface="微软雅黑" panose="020B0503020204020204" charset="-122"/>
                <a:cs typeface="微软雅黑" panose="020B0503020204020204" charset="-122"/>
              </a:defRPr>
            </a:pPr>
            <a:r>
              <a:rPr sz="1080">
                <a:solidFill>
                  <a:srgbClr val="5F5F58"/>
                </a:solidFill>
                <a:latin typeface="微软雅黑" panose="020B0503020204020204" charset="-122"/>
                <a:ea typeface="微软雅黑" panose="020B0503020204020204" charset="-122"/>
                <a:cs typeface="微软雅黑" panose="020B0503020204020204" charset="-122"/>
              </a:rPr>
              <a:t>cell</a:t>
            </a:r>
            <a:endParaRPr sz="108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3" name="椭圆 12"/>
          <p:cNvSpPr>
            <a:spLocks noGrp="1"/>
          </p:cNvSpPr>
          <p:nvPr/>
        </p:nvSpPr>
        <p:spPr>
          <a:xfrm>
            <a:off x="1638300" y="2247900"/>
            <a:ext cx="66675" cy="66675"/>
          </a:xfrm>
          <a:prstGeom prst="ellipse">
            <a:avLst/>
          </a:prstGeom>
          <a:solidFill>
            <a:srgbClr val="0F5B5B"/>
          </a:solidFill>
          <a:ln w="0">
            <a:noFill/>
            <a:prstDash val="solid"/>
          </a:ln>
        </p:spPr>
      </p:sp>
      <p:sp>
        <p:nvSpPr>
          <p:cNvPr id="14" name="圆角矩形 13"/>
          <p:cNvSpPr>
            <a:spLocks noGrp="1"/>
          </p:cNvSpPr>
          <p:nvPr/>
        </p:nvSpPr>
        <p:spPr>
          <a:xfrm>
            <a:off x="2000250" y="2400300"/>
            <a:ext cx="238125" cy="123825"/>
          </a:xfrm>
          <a:prstGeom prst="roundRect">
            <a:avLst>
              <a:gd name="adj" fmla="val 50000"/>
            </a:avLst>
          </a:prstGeom>
          <a:solidFill>
            <a:srgbClr val="E7F0EE"/>
          </a:solidFill>
          <a:ln w="9525">
            <a:solidFill>
              <a:srgbClr val="0F5B5B"/>
            </a:solidFill>
            <a:prstDash val="solid"/>
          </a:ln>
        </p:spPr>
      </p:sp>
      <p:sp>
        <p:nvSpPr>
          <p:cNvPr id="15" name="矩形 14"/>
          <p:cNvSpPr>
            <a:spLocks noGrp="1"/>
          </p:cNvSpPr>
          <p:nvPr/>
        </p:nvSpPr>
        <p:spPr>
          <a:xfrm>
            <a:off x="2009775" y="2409825"/>
            <a:ext cx="228600" cy="95250"/>
          </a:xfrm>
          <a:prstGeom prst="rect">
            <a:avLst/>
          </a:prstGeom>
          <a:noFill/>
          <a:ln w="0">
            <a:noFill/>
            <a:prstDash val="solid"/>
          </a:ln>
        </p:spPr>
        <p:txBody>
          <a:bodyPr wrap="square" lIns="0" tIns="0" rIns="0" bIns="0" anchor="t">
            <a:noAutofit/>
          </a:bodyPr>
          <a:lstStyle>
            <a:defPPr algn="ctr">
              <a:defRPr sz="490" b="0">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490" b="0">
                <a:solidFill>
                  <a:srgbClr val="0F5B5B"/>
                </a:solidFill>
                <a:latin typeface="微软雅黑" panose="020B0503020204020204" charset="-122"/>
                <a:ea typeface="微软雅黑" panose="020B0503020204020204" charset="-122"/>
                <a:cs typeface="微软雅黑" panose="020B0503020204020204" charset="-122"/>
              </a:defRPr>
            </a:pPr>
            <a:r>
              <a:rPr sz="890" b="1">
                <a:solidFill>
                  <a:srgbClr val="0F5B5B"/>
                </a:solidFill>
                <a:latin typeface="微软雅黑" panose="020B0503020204020204" charset="-122"/>
                <a:ea typeface="微软雅黑" panose="020B0503020204020204" charset="-122"/>
                <a:cs typeface="微软雅黑" panose="020B0503020204020204" charset="-122"/>
              </a:rPr>
              <a:t>edge</a:t>
            </a:r>
            <a:endParaRPr sz="8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2324100" y="2276475"/>
            <a:ext cx="114300" cy="9525"/>
          </a:xfrm>
          <a:prstGeom prst="rect">
            <a:avLst/>
          </a:prstGeom>
          <a:solidFill>
            <a:srgbClr val="BDBDB5"/>
          </a:solidFill>
          <a:ln w="0">
            <a:noFill/>
            <a:prstDash val="solid"/>
          </a:ln>
        </p:spPr>
      </p:sp>
      <p:sp>
        <p:nvSpPr>
          <p:cNvPr id="17" name="矩形 16"/>
          <p:cNvSpPr>
            <a:spLocks noGrp="1"/>
          </p:cNvSpPr>
          <p:nvPr/>
        </p:nvSpPr>
        <p:spPr>
          <a:xfrm>
            <a:off x="1933575" y="2609850"/>
            <a:ext cx="9525" cy="114300"/>
          </a:xfrm>
          <a:prstGeom prst="rect">
            <a:avLst/>
          </a:prstGeom>
          <a:solidFill>
            <a:srgbClr val="BDBDB5"/>
          </a:solidFill>
          <a:ln w="0">
            <a:noFill/>
            <a:prstDash val="solid"/>
          </a:ln>
        </p:spPr>
      </p:sp>
      <p:sp>
        <p:nvSpPr>
          <p:cNvPr id="18" name="圆角矩形 17"/>
          <p:cNvSpPr>
            <a:spLocks noGrp="1"/>
          </p:cNvSpPr>
          <p:nvPr/>
        </p:nvSpPr>
        <p:spPr>
          <a:xfrm>
            <a:off x="2438400" y="1943100"/>
            <a:ext cx="781050" cy="666750"/>
          </a:xfrm>
          <a:prstGeom prst="roundRect">
            <a:avLst>
              <a:gd name="adj" fmla="val 11429"/>
            </a:avLst>
          </a:prstGeom>
          <a:solidFill>
            <a:srgbClr val="FFFFFF"/>
          </a:solidFill>
          <a:ln w="9525">
            <a:solidFill>
              <a:srgbClr val="D9D9D1"/>
            </a:solidFill>
            <a:prstDash val="solid"/>
          </a:ln>
        </p:spPr>
      </p:sp>
      <p:sp>
        <p:nvSpPr>
          <p:cNvPr id="19" name="矩形 18"/>
          <p:cNvSpPr>
            <a:spLocks noGrp="1"/>
          </p:cNvSpPr>
          <p:nvPr/>
        </p:nvSpPr>
        <p:spPr>
          <a:xfrm>
            <a:off x="2533650" y="2019300"/>
            <a:ext cx="571500" cy="152400"/>
          </a:xfrm>
          <a:prstGeom prst="rect">
            <a:avLst/>
          </a:prstGeom>
          <a:noFill/>
          <a:ln w="0">
            <a:noFill/>
            <a:prstDash val="solid"/>
          </a:ln>
        </p:spPr>
        <p:txBody>
          <a:bodyPr wrap="square" lIns="0" tIns="0" rIns="0" bIns="0" anchor="t">
            <a:noAutofit/>
          </a:bodyPr>
          <a:lstStyle>
            <a:defPPr algn="l">
              <a:defRPr sz="675" b="1">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675" b="1">
                <a:solidFill>
                  <a:srgbClr val="5F5F58"/>
                </a:solidFill>
                <a:latin typeface="微软雅黑" panose="020B0503020204020204" charset="-122"/>
                <a:ea typeface="微软雅黑" panose="020B0503020204020204" charset="-122"/>
                <a:cs typeface="微软雅黑" panose="020B0503020204020204" charset="-122"/>
              </a:defRPr>
            </a:pPr>
            <a:r>
              <a:rPr sz="1080">
                <a:solidFill>
                  <a:srgbClr val="5F5F58"/>
                </a:solidFill>
                <a:latin typeface="微软雅黑" panose="020B0503020204020204" charset="-122"/>
                <a:ea typeface="微软雅黑" panose="020B0503020204020204" charset="-122"/>
                <a:cs typeface="微软雅黑" panose="020B0503020204020204" charset="-122"/>
              </a:rPr>
              <a:t>cell</a:t>
            </a:r>
            <a:endParaRPr sz="108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20" name="椭圆 19"/>
          <p:cNvSpPr>
            <a:spLocks noGrp="1"/>
          </p:cNvSpPr>
          <p:nvPr/>
        </p:nvSpPr>
        <p:spPr>
          <a:xfrm>
            <a:off x="2533650" y="2247900"/>
            <a:ext cx="66675" cy="66675"/>
          </a:xfrm>
          <a:prstGeom prst="ellipse">
            <a:avLst/>
          </a:prstGeom>
          <a:solidFill>
            <a:srgbClr val="0F5B5B"/>
          </a:solidFill>
          <a:ln w="0">
            <a:noFill/>
            <a:prstDash val="solid"/>
          </a:ln>
        </p:spPr>
      </p:sp>
      <p:sp>
        <p:nvSpPr>
          <p:cNvPr id="21" name="圆角矩形 20"/>
          <p:cNvSpPr>
            <a:spLocks noGrp="1"/>
          </p:cNvSpPr>
          <p:nvPr/>
        </p:nvSpPr>
        <p:spPr>
          <a:xfrm>
            <a:off x="2895600" y="2400300"/>
            <a:ext cx="238125" cy="123825"/>
          </a:xfrm>
          <a:prstGeom prst="roundRect">
            <a:avLst>
              <a:gd name="adj" fmla="val 50000"/>
            </a:avLst>
          </a:prstGeom>
          <a:solidFill>
            <a:srgbClr val="E7F0EE"/>
          </a:solidFill>
          <a:ln w="9525">
            <a:solidFill>
              <a:srgbClr val="0F5B5B"/>
            </a:solidFill>
            <a:prstDash val="solid"/>
          </a:ln>
        </p:spPr>
      </p:sp>
      <p:sp>
        <p:nvSpPr>
          <p:cNvPr id="22" name="矩形 21"/>
          <p:cNvSpPr>
            <a:spLocks noGrp="1"/>
          </p:cNvSpPr>
          <p:nvPr/>
        </p:nvSpPr>
        <p:spPr>
          <a:xfrm>
            <a:off x="2905125" y="2409825"/>
            <a:ext cx="228600" cy="95250"/>
          </a:xfrm>
          <a:prstGeom prst="rect">
            <a:avLst/>
          </a:prstGeom>
          <a:noFill/>
          <a:ln w="0">
            <a:noFill/>
            <a:prstDash val="solid"/>
          </a:ln>
        </p:spPr>
        <p:txBody>
          <a:bodyPr wrap="square" lIns="0" tIns="0" rIns="0" bIns="0" anchor="t">
            <a:noAutofit/>
          </a:bodyPr>
          <a:lstStyle>
            <a:defPPr algn="ctr">
              <a:defRPr sz="490" b="0">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490" b="0">
                <a:solidFill>
                  <a:srgbClr val="0F5B5B"/>
                </a:solidFill>
                <a:latin typeface="微软雅黑" panose="020B0503020204020204" charset="-122"/>
                <a:ea typeface="微软雅黑" panose="020B0503020204020204" charset="-122"/>
                <a:cs typeface="微软雅黑" panose="020B0503020204020204" charset="-122"/>
              </a:defRPr>
            </a:pPr>
            <a:r>
              <a:rPr sz="890" b="1">
                <a:solidFill>
                  <a:srgbClr val="0F5B5B"/>
                </a:solidFill>
                <a:latin typeface="微软雅黑" panose="020B0503020204020204" charset="-122"/>
                <a:ea typeface="微软雅黑" panose="020B0503020204020204" charset="-122"/>
                <a:cs typeface="微软雅黑" panose="020B0503020204020204" charset="-122"/>
              </a:rPr>
              <a:t>edge</a:t>
            </a:r>
            <a:endParaRPr sz="8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3219450" y="2276475"/>
            <a:ext cx="114300" cy="9525"/>
          </a:xfrm>
          <a:prstGeom prst="rect">
            <a:avLst/>
          </a:prstGeom>
          <a:solidFill>
            <a:srgbClr val="BDBDB5"/>
          </a:solidFill>
          <a:ln w="0">
            <a:noFill/>
            <a:prstDash val="solid"/>
          </a:ln>
        </p:spPr>
      </p:sp>
      <p:sp>
        <p:nvSpPr>
          <p:cNvPr id="24" name="矩形 23"/>
          <p:cNvSpPr>
            <a:spLocks noGrp="1"/>
          </p:cNvSpPr>
          <p:nvPr/>
        </p:nvSpPr>
        <p:spPr>
          <a:xfrm>
            <a:off x="2828925" y="2609850"/>
            <a:ext cx="9525" cy="114300"/>
          </a:xfrm>
          <a:prstGeom prst="rect">
            <a:avLst/>
          </a:prstGeom>
          <a:solidFill>
            <a:srgbClr val="BDBDB5"/>
          </a:solidFill>
          <a:ln w="0">
            <a:noFill/>
            <a:prstDash val="solid"/>
          </a:ln>
        </p:spPr>
      </p:sp>
      <p:sp>
        <p:nvSpPr>
          <p:cNvPr id="25" name="圆角矩形 24"/>
          <p:cNvSpPr>
            <a:spLocks noGrp="1"/>
          </p:cNvSpPr>
          <p:nvPr/>
        </p:nvSpPr>
        <p:spPr>
          <a:xfrm>
            <a:off x="3333750" y="1943100"/>
            <a:ext cx="781050" cy="666750"/>
          </a:xfrm>
          <a:prstGeom prst="roundRect">
            <a:avLst>
              <a:gd name="adj" fmla="val 11429"/>
            </a:avLst>
          </a:prstGeom>
          <a:solidFill>
            <a:srgbClr val="FFFFFF"/>
          </a:solidFill>
          <a:ln w="9525">
            <a:solidFill>
              <a:srgbClr val="D9D9D1"/>
            </a:solidFill>
            <a:prstDash val="solid"/>
          </a:ln>
        </p:spPr>
      </p:sp>
      <p:sp>
        <p:nvSpPr>
          <p:cNvPr id="26" name="矩形 25"/>
          <p:cNvSpPr>
            <a:spLocks noGrp="1"/>
          </p:cNvSpPr>
          <p:nvPr/>
        </p:nvSpPr>
        <p:spPr>
          <a:xfrm>
            <a:off x="3429000" y="2019300"/>
            <a:ext cx="571500" cy="152400"/>
          </a:xfrm>
          <a:prstGeom prst="rect">
            <a:avLst/>
          </a:prstGeom>
          <a:noFill/>
          <a:ln w="0">
            <a:noFill/>
            <a:prstDash val="solid"/>
          </a:ln>
        </p:spPr>
        <p:txBody>
          <a:bodyPr wrap="square" lIns="0" tIns="0" rIns="0" bIns="0" anchor="t">
            <a:noAutofit/>
          </a:bodyPr>
          <a:lstStyle>
            <a:defPPr algn="l">
              <a:defRPr sz="675" b="1">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675" b="1">
                <a:solidFill>
                  <a:srgbClr val="5F5F58"/>
                </a:solidFill>
                <a:latin typeface="微软雅黑" panose="020B0503020204020204" charset="-122"/>
                <a:ea typeface="微软雅黑" panose="020B0503020204020204" charset="-122"/>
                <a:cs typeface="微软雅黑" panose="020B0503020204020204" charset="-122"/>
              </a:defRPr>
            </a:pPr>
            <a:r>
              <a:rPr sz="1080">
                <a:solidFill>
                  <a:srgbClr val="5F5F58"/>
                </a:solidFill>
                <a:latin typeface="微软雅黑" panose="020B0503020204020204" charset="-122"/>
                <a:ea typeface="微软雅黑" panose="020B0503020204020204" charset="-122"/>
                <a:cs typeface="微软雅黑" panose="020B0503020204020204" charset="-122"/>
              </a:rPr>
              <a:t>cell</a:t>
            </a:r>
            <a:endParaRPr sz="108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27" name="椭圆 26"/>
          <p:cNvSpPr>
            <a:spLocks noGrp="1"/>
          </p:cNvSpPr>
          <p:nvPr/>
        </p:nvSpPr>
        <p:spPr>
          <a:xfrm>
            <a:off x="3429000" y="2247900"/>
            <a:ext cx="66675" cy="66675"/>
          </a:xfrm>
          <a:prstGeom prst="ellipse">
            <a:avLst/>
          </a:prstGeom>
          <a:solidFill>
            <a:srgbClr val="0F5B5B"/>
          </a:solidFill>
          <a:ln w="0">
            <a:noFill/>
            <a:prstDash val="solid"/>
          </a:ln>
        </p:spPr>
      </p:sp>
      <p:sp>
        <p:nvSpPr>
          <p:cNvPr id="28" name="圆角矩形 27"/>
          <p:cNvSpPr>
            <a:spLocks noGrp="1"/>
          </p:cNvSpPr>
          <p:nvPr/>
        </p:nvSpPr>
        <p:spPr>
          <a:xfrm>
            <a:off x="3790950" y="2400300"/>
            <a:ext cx="238125" cy="123825"/>
          </a:xfrm>
          <a:prstGeom prst="roundRect">
            <a:avLst>
              <a:gd name="adj" fmla="val 50000"/>
            </a:avLst>
          </a:prstGeom>
          <a:solidFill>
            <a:srgbClr val="E7F0EE"/>
          </a:solidFill>
          <a:ln w="9525">
            <a:solidFill>
              <a:srgbClr val="0F5B5B"/>
            </a:solidFill>
            <a:prstDash val="solid"/>
          </a:ln>
        </p:spPr>
      </p:sp>
      <p:sp>
        <p:nvSpPr>
          <p:cNvPr id="29" name="矩形 28"/>
          <p:cNvSpPr>
            <a:spLocks noGrp="1"/>
          </p:cNvSpPr>
          <p:nvPr/>
        </p:nvSpPr>
        <p:spPr>
          <a:xfrm>
            <a:off x="3800475" y="2409825"/>
            <a:ext cx="228600" cy="95250"/>
          </a:xfrm>
          <a:prstGeom prst="rect">
            <a:avLst/>
          </a:prstGeom>
          <a:noFill/>
          <a:ln w="0">
            <a:noFill/>
            <a:prstDash val="solid"/>
          </a:ln>
        </p:spPr>
        <p:txBody>
          <a:bodyPr wrap="square" lIns="0" tIns="0" rIns="0" bIns="0" anchor="t">
            <a:noAutofit/>
          </a:bodyPr>
          <a:lstStyle>
            <a:defPPr algn="ctr">
              <a:defRPr sz="490" b="0">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490" b="0">
                <a:solidFill>
                  <a:srgbClr val="0F5B5B"/>
                </a:solidFill>
                <a:latin typeface="微软雅黑" panose="020B0503020204020204" charset="-122"/>
                <a:ea typeface="微软雅黑" panose="020B0503020204020204" charset="-122"/>
                <a:cs typeface="微软雅黑" panose="020B0503020204020204" charset="-122"/>
              </a:defRPr>
            </a:pPr>
            <a:r>
              <a:rPr sz="890" b="1">
                <a:solidFill>
                  <a:srgbClr val="0F5B5B"/>
                </a:solidFill>
                <a:latin typeface="微软雅黑" panose="020B0503020204020204" charset="-122"/>
                <a:ea typeface="微软雅黑" panose="020B0503020204020204" charset="-122"/>
                <a:cs typeface="微软雅黑" panose="020B0503020204020204" charset="-122"/>
              </a:rPr>
              <a:t>edge</a:t>
            </a:r>
            <a:endParaRPr sz="8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3724275" y="2609850"/>
            <a:ext cx="9525" cy="114300"/>
          </a:xfrm>
          <a:prstGeom prst="rect">
            <a:avLst/>
          </a:prstGeom>
          <a:solidFill>
            <a:srgbClr val="BDBDB5"/>
          </a:solidFill>
          <a:ln w="0">
            <a:noFill/>
            <a:prstDash val="solid"/>
          </a:ln>
        </p:spPr>
      </p:sp>
      <p:sp>
        <p:nvSpPr>
          <p:cNvPr id="31" name="圆角矩形 30"/>
          <p:cNvSpPr>
            <a:spLocks noGrp="1"/>
          </p:cNvSpPr>
          <p:nvPr/>
        </p:nvSpPr>
        <p:spPr>
          <a:xfrm>
            <a:off x="647700" y="2724150"/>
            <a:ext cx="781050" cy="666750"/>
          </a:xfrm>
          <a:prstGeom prst="roundRect">
            <a:avLst>
              <a:gd name="adj" fmla="val 11429"/>
            </a:avLst>
          </a:prstGeom>
          <a:solidFill>
            <a:srgbClr val="FFFFFF"/>
          </a:solidFill>
          <a:ln w="9525">
            <a:solidFill>
              <a:srgbClr val="D9D9D1"/>
            </a:solidFill>
            <a:prstDash val="solid"/>
          </a:ln>
        </p:spPr>
      </p:sp>
      <p:sp>
        <p:nvSpPr>
          <p:cNvPr id="32" name="矩形 31"/>
          <p:cNvSpPr>
            <a:spLocks noGrp="1"/>
          </p:cNvSpPr>
          <p:nvPr/>
        </p:nvSpPr>
        <p:spPr>
          <a:xfrm>
            <a:off x="742950" y="2800350"/>
            <a:ext cx="571500" cy="152400"/>
          </a:xfrm>
          <a:prstGeom prst="rect">
            <a:avLst/>
          </a:prstGeom>
          <a:noFill/>
          <a:ln w="0">
            <a:noFill/>
            <a:prstDash val="solid"/>
          </a:ln>
        </p:spPr>
        <p:txBody>
          <a:bodyPr wrap="square" lIns="0" tIns="0" rIns="0" bIns="0" anchor="t">
            <a:noAutofit/>
          </a:bodyPr>
          <a:lstStyle>
            <a:defPPr algn="l">
              <a:defRPr sz="675" b="1">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675" b="1">
                <a:solidFill>
                  <a:srgbClr val="5F5F58"/>
                </a:solidFill>
                <a:latin typeface="微软雅黑" panose="020B0503020204020204" charset="-122"/>
                <a:ea typeface="微软雅黑" panose="020B0503020204020204" charset="-122"/>
                <a:cs typeface="微软雅黑" panose="020B0503020204020204" charset="-122"/>
              </a:defRPr>
            </a:pPr>
            <a:r>
              <a:rPr sz="1080">
                <a:solidFill>
                  <a:srgbClr val="5F5F58"/>
                </a:solidFill>
                <a:latin typeface="微软雅黑" panose="020B0503020204020204" charset="-122"/>
                <a:ea typeface="微软雅黑" panose="020B0503020204020204" charset="-122"/>
                <a:cs typeface="微软雅黑" panose="020B0503020204020204" charset="-122"/>
              </a:rPr>
              <a:t>cell</a:t>
            </a:r>
            <a:endParaRPr sz="108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33" name="椭圆 32"/>
          <p:cNvSpPr>
            <a:spLocks noGrp="1"/>
          </p:cNvSpPr>
          <p:nvPr/>
        </p:nvSpPr>
        <p:spPr>
          <a:xfrm>
            <a:off x="742950" y="3028950"/>
            <a:ext cx="66675" cy="66675"/>
          </a:xfrm>
          <a:prstGeom prst="ellipse">
            <a:avLst/>
          </a:prstGeom>
          <a:solidFill>
            <a:srgbClr val="0F5B5B"/>
          </a:solidFill>
          <a:ln w="0">
            <a:noFill/>
            <a:prstDash val="solid"/>
          </a:ln>
        </p:spPr>
      </p:sp>
      <p:sp>
        <p:nvSpPr>
          <p:cNvPr id="34" name="圆角矩形 33"/>
          <p:cNvSpPr>
            <a:spLocks noGrp="1"/>
          </p:cNvSpPr>
          <p:nvPr/>
        </p:nvSpPr>
        <p:spPr>
          <a:xfrm>
            <a:off x="1104900" y="3181350"/>
            <a:ext cx="238125" cy="123825"/>
          </a:xfrm>
          <a:prstGeom prst="roundRect">
            <a:avLst>
              <a:gd name="adj" fmla="val 50000"/>
            </a:avLst>
          </a:prstGeom>
          <a:solidFill>
            <a:srgbClr val="E7F0EE"/>
          </a:solidFill>
          <a:ln w="9525">
            <a:solidFill>
              <a:srgbClr val="0F5B5B"/>
            </a:solidFill>
            <a:prstDash val="solid"/>
          </a:ln>
        </p:spPr>
      </p:sp>
      <p:sp>
        <p:nvSpPr>
          <p:cNvPr id="35" name="矩形 34"/>
          <p:cNvSpPr>
            <a:spLocks noGrp="1"/>
          </p:cNvSpPr>
          <p:nvPr/>
        </p:nvSpPr>
        <p:spPr>
          <a:xfrm>
            <a:off x="1114425" y="3190875"/>
            <a:ext cx="228600" cy="95250"/>
          </a:xfrm>
          <a:prstGeom prst="rect">
            <a:avLst/>
          </a:prstGeom>
          <a:noFill/>
          <a:ln w="0">
            <a:noFill/>
            <a:prstDash val="solid"/>
          </a:ln>
        </p:spPr>
        <p:txBody>
          <a:bodyPr wrap="square" lIns="0" tIns="0" rIns="0" bIns="0" anchor="t">
            <a:noAutofit/>
          </a:bodyPr>
          <a:lstStyle>
            <a:defPPr algn="ctr">
              <a:defRPr sz="490" b="0">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490" b="0">
                <a:solidFill>
                  <a:srgbClr val="0F5B5B"/>
                </a:solidFill>
                <a:latin typeface="微软雅黑" panose="020B0503020204020204" charset="-122"/>
                <a:ea typeface="微软雅黑" panose="020B0503020204020204" charset="-122"/>
                <a:cs typeface="微软雅黑" panose="020B0503020204020204" charset="-122"/>
              </a:defRPr>
            </a:pPr>
            <a:r>
              <a:rPr sz="890" b="1">
                <a:solidFill>
                  <a:srgbClr val="0F5B5B"/>
                </a:solidFill>
                <a:latin typeface="微软雅黑" panose="020B0503020204020204" charset="-122"/>
                <a:ea typeface="微软雅黑" panose="020B0503020204020204" charset="-122"/>
                <a:cs typeface="微软雅黑" panose="020B0503020204020204" charset="-122"/>
              </a:rPr>
              <a:t>edge</a:t>
            </a:r>
            <a:endParaRPr sz="8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36" name="矩形 35"/>
          <p:cNvSpPr>
            <a:spLocks noGrp="1"/>
          </p:cNvSpPr>
          <p:nvPr/>
        </p:nvSpPr>
        <p:spPr>
          <a:xfrm>
            <a:off x="1428750" y="3057525"/>
            <a:ext cx="114300" cy="9525"/>
          </a:xfrm>
          <a:prstGeom prst="rect">
            <a:avLst/>
          </a:prstGeom>
          <a:solidFill>
            <a:srgbClr val="BDBDB5"/>
          </a:solidFill>
          <a:ln w="0">
            <a:noFill/>
            <a:prstDash val="solid"/>
          </a:ln>
        </p:spPr>
      </p:sp>
      <p:sp>
        <p:nvSpPr>
          <p:cNvPr id="37" name="矩形 36"/>
          <p:cNvSpPr>
            <a:spLocks noGrp="1"/>
          </p:cNvSpPr>
          <p:nvPr/>
        </p:nvSpPr>
        <p:spPr>
          <a:xfrm>
            <a:off x="1038225" y="3390900"/>
            <a:ext cx="9525" cy="114300"/>
          </a:xfrm>
          <a:prstGeom prst="rect">
            <a:avLst/>
          </a:prstGeom>
          <a:solidFill>
            <a:srgbClr val="BDBDB5"/>
          </a:solidFill>
          <a:ln w="0">
            <a:noFill/>
            <a:prstDash val="solid"/>
          </a:ln>
        </p:spPr>
      </p:sp>
      <p:sp>
        <p:nvSpPr>
          <p:cNvPr id="38" name="圆角矩形 37"/>
          <p:cNvSpPr>
            <a:spLocks noGrp="1"/>
          </p:cNvSpPr>
          <p:nvPr/>
        </p:nvSpPr>
        <p:spPr>
          <a:xfrm>
            <a:off x="1543050" y="2724150"/>
            <a:ext cx="781050" cy="666750"/>
          </a:xfrm>
          <a:prstGeom prst="roundRect">
            <a:avLst>
              <a:gd name="adj" fmla="val 11429"/>
            </a:avLst>
          </a:prstGeom>
          <a:solidFill>
            <a:srgbClr val="FFFFFF"/>
          </a:solidFill>
          <a:ln w="9525">
            <a:solidFill>
              <a:srgbClr val="D9D9D1"/>
            </a:solidFill>
            <a:prstDash val="solid"/>
          </a:ln>
        </p:spPr>
      </p:sp>
      <p:sp>
        <p:nvSpPr>
          <p:cNvPr id="39" name="矩形 38"/>
          <p:cNvSpPr>
            <a:spLocks noGrp="1"/>
          </p:cNvSpPr>
          <p:nvPr/>
        </p:nvSpPr>
        <p:spPr>
          <a:xfrm>
            <a:off x="1638300" y="2800350"/>
            <a:ext cx="571500" cy="152400"/>
          </a:xfrm>
          <a:prstGeom prst="rect">
            <a:avLst/>
          </a:prstGeom>
          <a:noFill/>
          <a:ln w="0">
            <a:noFill/>
            <a:prstDash val="solid"/>
          </a:ln>
        </p:spPr>
        <p:txBody>
          <a:bodyPr wrap="square" lIns="0" tIns="0" rIns="0" bIns="0" anchor="t">
            <a:noAutofit/>
          </a:bodyPr>
          <a:lstStyle>
            <a:defPPr algn="l">
              <a:defRPr sz="675" b="1">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675" b="1">
                <a:solidFill>
                  <a:srgbClr val="5F5F58"/>
                </a:solidFill>
                <a:latin typeface="微软雅黑" panose="020B0503020204020204" charset="-122"/>
                <a:ea typeface="微软雅黑" panose="020B0503020204020204" charset="-122"/>
                <a:cs typeface="微软雅黑" panose="020B0503020204020204" charset="-122"/>
              </a:defRPr>
            </a:pPr>
            <a:r>
              <a:rPr sz="1080">
                <a:solidFill>
                  <a:srgbClr val="5F5F58"/>
                </a:solidFill>
                <a:latin typeface="微软雅黑" panose="020B0503020204020204" charset="-122"/>
                <a:ea typeface="微软雅黑" panose="020B0503020204020204" charset="-122"/>
                <a:cs typeface="微软雅黑" panose="020B0503020204020204" charset="-122"/>
              </a:rPr>
              <a:t>cell</a:t>
            </a:r>
            <a:endParaRPr sz="108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40" name="椭圆 39"/>
          <p:cNvSpPr>
            <a:spLocks noGrp="1"/>
          </p:cNvSpPr>
          <p:nvPr/>
        </p:nvSpPr>
        <p:spPr>
          <a:xfrm>
            <a:off x="1638300" y="3028950"/>
            <a:ext cx="66675" cy="66675"/>
          </a:xfrm>
          <a:prstGeom prst="ellipse">
            <a:avLst/>
          </a:prstGeom>
          <a:solidFill>
            <a:srgbClr val="0F5B5B"/>
          </a:solidFill>
          <a:ln w="0">
            <a:noFill/>
            <a:prstDash val="solid"/>
          </a:ln>
        </p:spPr>
      </p:sp>
      <p:sp>
        <p:nvSpPr>
          <p:cNvPr id="41" name="圆角矩形 40"/>
          <p:cNvSpPr>
            <a:spLocks noGrp="1"/>
          </p:cNvSpPr>
          <p:nvPr/>
        </p:nvSpPr>
        <p:spPr>
          <a:xfrm>
            <a:off x="2000250" y="3181350"/>
            <a:ext cx="238125" cy="123825"/>
          </a:xfrm>
          <a:prstGeom prst="roundRect">
            <a:avLst>
              <a:gd name="adj" fmla="val 50000"/>
            </a:avLst>
          </a:prstGeom>
          <a:solidFill>
            <a:srgbClr val="E7F0EE"/>
          </a:solidFill>
          <a:ln w="9525">
            <a:solidFill>
              <a:srgbClr val="0F5B5B"/>
            </a:solidFill>
            <a:prstDash val="solid"/>
          </a:ln>
        </p:spPr>
      </p:sp>
      <p:sp>
        <p:nvSpPr>
          <p:cNvPr id="42" name="矩形 41"/>
          <p:cNvSpPr>
            <a:spLocks noGrp="1"/>
          </p:cNvSpPr>
          <p:nvPr/>
        </p:nvSpPr>
        <p:spPr>
          <a:xfrm>
            <a:off x="2009775" y="3190875"/>
            <a:ext cx="228600" cy="95250"/>
          </a:xfrm>
          <a:prstGeom prst="rect">
            <a:avLst/>
          </a:prstGeom>
          <a:noFill/>
          <a:ln w="0">
            <a:noFill/>
            <a:prstDash val="solid"/>
          </a:ln>
        </p:spPr>
        <p:txBody>
          <a:bodyPr wrap="square" lIns="0" tIns="0" rIns="0" bIns="0" anchor="t">
            <a:noAutofit/>
          </a:bodyPr>
          <a:lstStyle>
            <a:defPPr algn="ctr">
              <a:defRPr sz="490" b="0">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490" b="0">
                <a:solidFill>
                  <a:srgbClr val="0F5B5B"/>
                </a:solidFill>
                <a:latin typeface="微软雅黑" panose="020B0503020204020204" charset="-122"/>
                <a:ea typeface="微软雅黑" panose="020B0503020204020204" charset="-122"/>
                <a:cs typeface="微软雅黑" panose="020B0503020204020204" charset="-122"/>
              </a:defRPr>
            </a:pPr>
            <a:r>
              <a:rPr sz="890" b="1">
                <a:solidFill>
                  <a:srgbClr val="0F5B5B"/>
                </a:solidFill>
                <a:latin typeface="微软雅黑" panose="020B0503020204020204" charset="-122"/>
                <a:ea typeface="微软雅黑" panose="020B0503020204020204" charset="-122"/>
                <a:cs typeface="微软雅黑" panose="020B0503020204020204" charset="-122"/>
              </a:rPr>
              <a:t>edge</a:t>
            </a:r>
            <a:endParaRPr sz="8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43" name="矩形 42"/>
          <p:cNvSpPr>
            <a:spLocks noGrp="1"/>
          </p:cNvSpPr>
          <p:nvPr/>
        </p:nvSpPr>
        <p:spPr>
          <a:xfrm>
            <a:off x="2324100" y="3057525"/>
            <a:ext cx="114300" cy="9525"/>
          </a:xfrm>
          <a:prstGeom prst="rect">
            <a:avLst/>
          </a:prstGeom>
          <a:solidFill>
            <a:srgbClr val="BDBDB5"/>
          </a:solidFill>
          <a:ln w="0">
            <a:noFill/>
            <a:prstDash val="solid"/>
          </a:ln>
        </p:spPr>
      </p:sp>
      <p:sp>
        <p:nvSpPr>
          <p:cNvPr id="44" name="矩形 43"/>
          <p:cNvSpPr>
            <a:spLocks noGrp="1"/>
          </p:cNvSpPr>
          <p:nvPr/>
        </p:nvSpPr>
        <p:spPr>
          <a:xfrm>
            <a:off x="1933575" y="3390900"/>
            <a:ext cx="9525" cy="114300"/>
          </a:xfrm>
          <a:prstGeom prst="rect">
            <a:avLst/>
          </a:prstGeom>
          <a:solidFill>
            <a:srgbClr val="BDBDB5"/>
          </a:solidFill>
          <a:ln w="0">
            <a:noFill/>
            <a:prstDash val="solid"/>
          </a:ln>
        </p:spPr>
      </p:sp>
      <p:sp>
        <p:nvSpPr>
          <p:cNvPr id="45" name="圆角矩形 44"/>
          <p:cNvSpPr>
            <a:spLocks noGrp="1"/>
          </p:cNvSpPr>
          <p:nvPr/>
        </p:nvSpPr>
        <p:spPr>
          <a:xfrm>
            <a:off x="2438400" y="2724150"/>
            <a:ext cx="781050" cy="666750"/>
          </a:xfrm>
          <a:prstGeom prst="roundRect">
            <a:avLst>
              <a:gd name="adj" fmla="val 11429"/>
            </a:avLst>
          </a:prstGeom>
          <a:solidFill>
            <a:srgbClr val="FFFFFF"/>
          </a:solidFill>
          <a:ln w="9525">
            <a:solidFill>
              <a:srgbClr val="D9D9D1"/>
            </a:solidFill>
            <a:prstDash val="solid"/>
          </a:ln>
        </p:spPr>
      </p:sp>
      <p:sp>
        <p:nvSpPr>
          <p:cNvPr id="46" name="矩形 45"/>
          <p:cNvSpPr>
            <a:spLocks noGrp="1"/>
          </p:cNvSpPr>
          <p:nvPr/>
        </p:nvSpPr>
        <p:spPr>
          <a:xfrm>
            <a:off x="2533650" y="2800350"/>
            <a:ext cx="571500" cy="152400"/>
          </a:xfrm>
          <a:prstGeom prst="rect">
            <a:avLst/>
          </a:prstGeom>
          <a:noFill/>
          <a:ln w="0">
            <a:noFill/>
            <a:prstDash val="solid"/>
          </a:ln>
        </p:spPr>
        <p:txBody>
          <a:bodyPr wrap="square" lIns="0" tIns="0" rIns="0" bIns="0" anchor="t">
            <a:noAutofit/>
          </a:bodyPr>
          <a:lstStyle>
            <a:defPPr algn="l">
              <a:defRPr sz="675" b="1">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675" b="1">
                <a:solidFill>
                  <a:srgbClr val="5F5F58"/>
                </a:solidFill>
                <a:latin typeface="微软雅黑" panose="020B0503020204020204" charset="-122"/>
                <a:ea typeface="微软雅黑" panose="020B0503020204020204" charset="-122"/>
                <a:cs typeface="微软雅黑" panose="020B0503020204020204" charset="-122"/>
              </a:defRPr>
            </a:pPr>
            <a:r>
              <a:rPr sz="1080">
                <a:solidFill>
                  <a:srgbClr val="5F5F58"/>
                </a:solidFill>
                <a:latin typeface="微软雅黑" panose="020B0503020204020204" charset="-122"/>
                <a:ea typeface="微软雅黑" panose="020B0503020204020204" charset="-122"/>
                <a:cs typeface="微软雅黑" panose="020B0503020204020204" charset="-122"/>
              </a:rPr>
              <a:t>cell</a:t>
            </a:r>
            <a:endParaRPr sz="108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47" name="椭圆 46"/>
          <p:cNvSpPr>
            <a:spLocks noGrp="1"/>
          </p:cNvSpPr>
          <p:nvPr/>
        </p:nvSpPr>
        <p:spPr>
          <a:xfrm>
            <a:off x="2533650" y="3028950"/>
            <a:ext cx="66675" cy="66675"/>
          </a:xfrm>
          <a:prstGeom prst="ellipse">
            <a:avLst/>
          </a:prstGeom>
          <a:solidFill>
            <a:srgbClr val="0F5B5B"/>
          </a:solidFill>
          <a:ln w="0">
            <a:noFill/>
            <a:prstDash val="solid"/>
          </a:ln>
        </p:spPr>
      </p:sp>
      <p:sp>
        <p:nvSpPr>
          <p:cNvPr id="48" name="圆角矩形 47"/>
          <p:cNvSpPr>
            <a:spLocks noGrp="1"/>
          </p:cNvSpPr>
          <p:nvPr/>
        </p:nvSpPr>
        <p:spPr>
          <a:xfrm>
            <a:off x="2895600" y="3181350"/>
            <a:ext cx="238125" cy="123825"/>
          </a:xfrm>
          <a:prstGeom prst="roundRect">
            <a:avLst>
              <a:gd name="adj" fmla="val 50000"/>
            </a:avLst>
          </a:prstGeom>
          <a:solidFill>
            <a:srgbClr val="E7F0EE"/>
          </a:solidFill>
          <a:ln w="9525">
            <a:solidFill>
              <a:srgbClr val="0F5B5B"/>
            </a:solidFill>
            <a:prstDash val="solid"/>
          </a:ln>
        </p:spPr>
      </p:sp>
      <p:sp>
        <p:nvSpPr>
          <p:cNvPr id="49" name="矩形 48"/>
          <p:cNvSpPr>
            <a:spLocks noGrp="1"/>
          </p:cNvSpPr>
          <p:nvPr/>
        </p:nvSpPr>
        <p:spPr>
          <a:xfrm>
            <a:off x="2905125" y="3190875"/>
            <a:ext cx="228600" cy="95250"/>
          </a:xfrm>
          <a:prstGeom prst="rect">
            <a:avLst/>
          </a:prstGeom>
          <a:noFill/>
          <a:ln w="0">
            <a:noFill/>
            <a:prstDash val="solid"/>
          </a:ln>
        </p:spPr>
        <p:txBody>
          <a:bodyPr wrap="square" lIns="0" tIns="0" rIns="0" bIns="0" anchor="t">
            <a:noAutofit/>
          </a:bodyPr>
          <a:lstStyle>
            <a:defPPr algn="ctr">
              <a:defRPr sz="490" b="0">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490" b="0">
                <a:solidFill>
                  <a:srgbClr val="0F5B5B"/>
                </a:solidFill>
                <a:latin typeface="微软雅黑" panose="020B0503020204020204" charset="-122"/>
                <a:ea typeface="微软雅黑" panose="020B0503020204020204" charset="-122"/>
                <a:cs typeface="微软雅黑" panose="020B0503020204020204" charset="-122"/>
              </a:defRPr>
            </a:pPr>
            <a:r>
              <a:rPr sz="890" b="1">
                <a:solidFill>
                  <a:srgbClr val="0F5B5B"/>
                </a:solidFill>
                <a:latin typeface="微软雅黑" panose="020B0503020204020204" charset="-122"/>
                <a:ea typeface="微软雅黑" panose="020B0503020204020204" charset="-122"/>
                <a:cs typeface="微软雅黑" panose="020B0503020204020204" charset="-122"/>
              </a:rPr>
              <a:t>edge</a:t>
            </a:r>
            <a:endParaRPr sz="8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50" name="矩形 49"/>
          <p:cNvSpPr>
            <a:spLocks noGrp="1"/>
          </p:cNvSpPr>
          <p:nvPr/>
        </p:nvSpPr>
        <p:spPr>
          <a:xfrm>
            <a:off x="3219450" y="3057525"/>
            <a:ext cx="114300" cy="9525"/>
          </a:xfrm>
          <a:prstGeom prst="rect">
            <a:avLst/>
          </a:prstGeom>
          <a:solidFill>
            <a:srgbClr val="BDBDB5"/>
          </a:solidFill>
          <a:ln w="0">
            <a:noFill/>
            <a:prstDash val="solid"/>
          </a:ln>
        </p:spPr>
      </p:sp>
      <p:sp>
        <p:nvSpPr>
          <p:cNvPr id="51" name="矩形 50"/>
          <p:cNvSpPr>
            <a:spLocks noGrp="1"/>
          </p:cNvSpPr>
          <p:nvPr/>
        </p:nvSpPr>
        <p:spPr>
          <a:xfrm>
            <a:off x="2828925" y="3390900"/>
            <a:ext cx="9525" cy="114300"/>
          </a:xfrm>
          <a:prstGeom prst="rect">
            <a:avLst/>
          </a:prstGeom>
          <a:solidFill>
            <a:srgbClr val="BDBDB5"/>
          </a:solidFill>
          <a:ln w="0">
            <a:noFill/>
            <a:prstDash val="solid"/>
          </a:ln>
        </p:spPr>
      </p:sp>
      <p:sp>
        <p:nvSpPr>
          <p:cNvPr id="52" name="圆角矩形 51"/>
          <p:cNvSpPr>
            <a:spLocks noGrp="1"/>
          </p:cNvSpPr>
          <p:nvPr/>
        </p:nvSpPr>
        <p:spPr>
          <a:xfrm>
            <a:off x="3333750" y="2724150"/>
            <a:ext cx="781050" cy="666750"/>
          </a:xfrm>
          <a:prstGeom prst="roundRect">
            <a:avLst>
              <a:gd name="adj" fmla="val 11429"/>
            </a:avLst>
          </a:prstGeom>
          <a:solidFill>
            <a:srgbClr val="FFFFFF"/>
          </a:solidFill>
          <a:ln w="9525">
            <a:solidFill>
              <a:srgbClr val="D9D9D1"/>
            </a:solidFill>
            <a:prstDash val="solid"/>
          </a:ln>
        </p:spPr>
      </p:sp>
      <p:sp>
        <p:nvSpPr>
          <p:cNvPr id="53" name="矩形 52"/>
          <p:cNvSpPr>
            <a:spLocks noGrp="1"/>
          </p:cNvSpPr>
          <p:nvPr/>
        </p:nvSpPr>
        <p:spPr>
          <a:xfrm>
            <a:off x="3429000" y="2800350"/>
            <a:ext cx="571500" cy="152400"/>
          </a:xfrm>
          <a:prstGeom prst="rect">
            <a:avLst/>
          </a:prstGeom>
          <a:noFill/>
          <a:ln w="0">
            <a:noFill/>
            <a:prstDash val="solid"/>
          </a:ln>
        </p:spPr>
        <p:txBody>
          <a:bodyPr wrap="square" lIns="0" tIns="0" rIns="0" bIns="0" anchor="t">
            <a:noAutofit/>
          </a:bodyPr>
          <a:lstStyle>
            <a:defPPr algn="l">
              <a:defRPr sz="675" b="1">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675" b="1">
                <a:solidFill>
                  <a:srgbClr val="5F5F58"/>
                </a:solidFill>
                <a:latin typeface="微软雅黑" panose="020B0503020204020204" charset="-122"/>
                <a:ea typeface="微软雅黑" panose="020B0503020204020204" charset="-122"/>
                <a:cs typeface="微软雅黑" panose="020B0503020204020204" charset="-122"/>
              </a:defRPr>
            </a:pPr>
            <a:r>
              <a:rPr sz="1080">
                <a:solidFill>
                  <a:srgbClr val="5F5F58"/>
                </a:solidFill>
                <a:latin typeface="微软雅黑" panose="020B0503020204020204" charset="-122"/>
                <a:ea typeface="微软雅黑" panose="020B0503020204020204" charset="-122"/>
                <a:cs typeface="微软雅黑" panose="020B0503020204020204" charset="-122"/>
              </a:rPr>
              <a:t>cell</a:t>
            </a:r>
            <a:endParaRPr sz="108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54" name="椭圆 53"/>
          <p:cNvSpPr>
            <a:spLocks noGrp="1"/>
          </p:cNvSpPr>
          <p:nvPr/>
        </p:nvSpPr>
        <p:spPr>
          <a:xfrm>
            <a:off x="3429000" y="3028950"/>
            <a:ext cx="66675" cy="66675"/>
          </a:xfrm>
          <a:prstGeom prst="ellipse">
            <a:avLst/>
          </a:prstGeom>
          <a:solidFill>
            <a:srgbClr val="0F5B5B"/>
          </a:solidFill>
          <a:ln w="0">
            <a:noFill/>
            <a:prstDash val="solid"/>
          </a:ln>
        </p:spPr>
      </p:sp>
      <p:sp>
        <p:nvSpPr>
          <p:cNvPr id="55" name="圆角矩形 54"/>
          <p:cNvSpPr>
            <a:spLocks noGrp="1"/>
          </p:cNvSpPr>
          <p:nvPr/>
        </p:nvSpPr>
        <p:spPr>
          <a:xfrm>
            <a:off x="3790950" y="3181350"/>
            <a:ext cx="238125" cy="123825"/>
          </a:xfrm>
          <a:prstGeom prst="roundRect">
            <a:avLst>
              <a:gd name="adj" fmla="val 50000"/>
            </a:avLst>
          </a:prstGeom>
          <a:solidFill>
            <a:srgbClr val="E7F0EE"/>
          </a:solidFill>
          <a:ln w="9525">
            <a:solidFill>
              <a:srgbClr val="0F5B5B"/>
            </a:solidFill>
            <a:prstDash val="solid"/>
          </a:ln>
        </p:spPr>
      </p:sp>
      <p:sp>
        <p:nvSpPr>
          <p:cNvPr id="56" name="矩形 55"/>
          <p:cNvSpPr>
            <a:spLocks noGrp="1"/>
          </p:cNvSpPr>
          <p:nvPr/>
        </p:nvSpPr>
        <p:spPr>
          <a:xfrm>
            <a:off x="3800475" y="3190875"/>
            <a:ext cx="228600" cy="95250"/>
          </a:xfrm>
          <a:prstGeom prst="rect">
            <a:avLst/>
          </a:prstGeom>
          <a:noFill/>
          <a:ln w="0">
            <a:noFill/>
            <a:prstDash val="solid"/>
          </a:ln>
        </p:spPr>
        <p:txBody>
          <a:bodyPr wrap="square" lIns="0" tIns="0" rIns="0" bIns="0" anchor="t">
            <a:noAutofit/>
          </a:bodyPr>
          <a:lstStyle>
            <a:defPPr algn="ctr">
              <a:defRPr sz="490" b="0">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490" b="0">
                <a:solidFill>
                  <a:srgbClr val="0F5B5B"/>
                </a:solidFill>
                <a:latin typeface="微软雅黑" panose="020B0503020204020204" charset="-122"/>
                <a:ea typeface="微软雅黑" panose="020B0503020204020204" charset="-122"/>
                <a:cs typeface="微软雅黑" panose="020B0503020204020204" charset="-122"/>
              </a:defRPr>
            </a:pPr>
            <a:r>
              <a:rPr sz="890" b="1">
                <a:solidFill>
                  <a:srgbClr val="0F5B5B"/>
                </a:solidFill>
                <a:latin typeface="微软雅黑" panose="020B0503020204020204" charset="-122"/>
                <a:ea typeface="微软雅黑" panose="020B0503020204020204" charset="-122"/>
                <a:cs typeface="微软雅黑" panose="020B0503020204020204" charset="-122"/>
              </a:rPr>
              <a:t>edge</a:t>
            </a:r>
            <a:endParaRPr sz="8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57" name="矩形 56"/>
          <p:cNvSpPr>
            <a:spLocks noGrp="1"/>
          </p:cNvSpPr>
          <p:nvPr/>
        </p:nvSpPr>
        <p:spPr>
          <a:xfrm>
            <a:off x="3724275" y="3390900"/>
            <a:ext cx="9525" cy="114300"/>
          </a:xfrm>
          <a:prstGeom prst="rect">
            <a:avLst/>
          </a:prstGeom>
          <a:solidFill>
            <a:srgbClr val="BDBDB5"/>
          </a:solidFill>
          <a:ln w="0">
            <a:noFill/>
            <a:prstDash val="solid"/>
          </a:ln>
        </p:spPr>
      </p:sp>
      <p:sp>
        <p:nvSpPr>
          <p:cNvPr id="58" name="圆角矩形 57"/>
          <p:cNvSpPr>
            <a:spLocks noGrp="1"/>
          </p:cNvSpPr>
          <p:nvPr/>
        </p:nvSpPr>
        <p:spPr>
          <a:xfrm>
            <a:off x="647700" y="3505200"/>
            <a:ext cx="781050" cy="666750"/>
          </a:xfrm>
          <a:prstGeom prst="roundRect">
            <a:avLst>
              <a:gd name="adj" fmla="val 11429"/>
            </a:avLst>
          </a:prstGeom>
          <a:solidFill>
            <a:srgbClr val="FFFFFF"/>
          </a:solidFill>
          <a:ln w="9525">
            <a:solidFill>
              <a:srgbClr val="D9D9D1"/>
            </a:solidFill>
            <a:prstDash val="solid"/>
          </a:ln>
        </p:spPr>
      </p:sp>
      <p:sp>
        <p:nvSpPr>
          <p:cNvPr id="59" name="矩形 58"/>
          <p:cNvSpPr>
            <a:spLocks noGrp="1"/>
          </p:cNvSpPr>
          <p:nvPr/>
        </p:nvSpPr>
        <p:spPr>
          <a:xfrm>
            <a:off x="742950" y="3581400"/>
            <a:ext cx="571500" cy="152400"/>
          </a:xfrm>
          <a:prstGeom prst="rect">
            <a:avLst/>
          </a:prstGeom>
          <a:noFill/>
          <a:ln w="0">
            <a:noFill/>
            <a:prstDash val="solid"/>
          </a:ln>
        </p:spPr>
        <p:txBody>
          <a:bodyPr wrap="square" lIns="0" tIns="0" rIns="0" bIns="0" anchor="t">
            <a:noAutofit/>
          </a:bodyPr>
          <a:lstStyle>
            <a:defPPr algn="l">
              <a:defRPr sz="675" b="1">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675" b="1">
                <a:solidFill>
                  <a:srgbClr val="5F5F58"/>
                </a:solidFill>
                <a:latin typeface="微软雅黑" panose="020B0503020204020204" charset="-122"/>
                <a:ea typeface="微软雅黑" panose="020B0503020204020204" charset="-122"/>
                <a:cs typeface="微软雅黑" panose="020B0503020204020204" charset="-122"/>
              </a:defRPr>
            </a:pPr>
            <a:r>
              <a:rPr sz="1080">
                <a:solidFill>
                  <a:srgbClr val="5F5F58"/>
                </a:solidFill>
                <a:latin typeface="微软雅黑" panose="020B0503020204020204" charset="-122"/>
                <a:ea typeface="微软雅黑" panose="020B0503020204020204" charset="-122"/>
                <a:cs typeface="微软雅黑" panose="020B0503020204020204" charset="-122"/>
              </a:rPr>
              <a:t>cell</a:t>
            </a:r>
            <a:endParaRPr sz="108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60" name="椭圆 59"/>
          <p:cNvSpPr>
            <a:spLocks noGrp="1"/>
          </p:cNvSpPr>
          <p:nvPr/>
        </p:nvSpPr>
        <p:spPr>
          <a:xfrm>
            <a:off x="742950" y="3810000"/>
            <a:ext cx="66675" cy="66675"/>
          </a:xfrm>
          <a:prstGeom prst="ellipse">
            <a:avLst/>
          </a:prstGeom>
          <a:solidFill>
            <a:srgbClr val="0F5B5B"/>
          </a:solidFill>
          <a:ln w="0">
            <a:noFill/>
            <a:prstDash val="solid"/>
          </a:ln>
        </p:spPr>
      </p:sp>
      <p:sp>
        <p:nvSpPr>
          <p:cNvPr id="61" name="圆角矩形 60"/>
          <p:cNvSpPr>
            <a:spLocks noGrp="1"/>
          </p:cNvSpPr>
          <p:nvPr/>
        </p:nvSpPr>
        <p:spPr>
          <a:xfrm>
            <a:off x="1104900" y="3962400"/>
            <a:ext cx="238125" cy="123825"/>
          </a:xfrm>
          <a:prstGeom prst="roundRect">
            <a:avLst>
              <a:gd name="adj" fmla="val 50000"/>
            </a:avLst>
          </a:prstGeom>
          <a:solidFill>
            <a:srgbClr val="E7F0EE"/>
          </a:solidFill>
          <a:ln w="9525">
            <a:solidFill>
              <a:srgbClr val="0F5B5B"/>
            </a:solidFill>
            <a:prstDash val="solid"/>
          </a:ln>
        </p:spPr>
      </p:sp>
      <p:sp>
        <p:nvSpPr>
          <p:cNvPr id="62" name="矩形 61"/>
          <p:cNvSpPr>
            <a:spLocks noGrp="1"/>
          </p:cNvSpPr>
          <p:nvPr/>
        </p:nvSpPr>
        <p:spPr>
          <a:xfrm>
            <a:off x="1114425" y="3971925"/>
            <a:ext cx="228600" cy="95250"/>
          </a:xfrm>
          <a:prstGeom prst="rect">
            <a:avLst/>
          </a:prstGeom>
          <a:noFill/>
          <a:ln w="0">
            <a:noFill/>
            <a:prstDash val="solid"/>
          </a:ln>
        </p:spPr>
        <p:txBody>
          <a:bodyPr wrap="square" lIns="0" tIns="0" rIns="0" bIns="0" anchor="t">
            <a:noAutofit/>
          </a:bodyPr>
          <a:lstStyle>
            <a:defPPr algn="ctr">
              <a:defRPr sz="490" b="0">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490" b="0">
                <a:solidFill>
                  <a:srgbClr val="0F5B5B"/>
                </a:solidFill>
                <a:latin typeface="微软雅黑" panose="020B0503020204020204" charset="-122"/>
                <a:ea typeface="微软雅黑" panose="020B0503020204020204" charset="-122"/>
                <a:cs typeface="微软雅黑" panose="020B0503020204020204" charset="-122"/>
              </a:defRPr>
            </a:pPr>
            <a:r>
              <a:rPr sz="890" b="1">
                <a:solidFill>
                  <a:srgbClr val="0F5B5B"/>
                </a:solidFill>
                <a:latin typeface="微软雅黑" panose="020B0503020204020204" charset="-122"/>
                <a:ea typeface="微软雅黑" panose="020B0503020204020204" charset="-122"/>
                <a:cs typeface="微软雅黑" panose="020B0503020204020204" charset="-122"/>
              </a:rPr>
              <a:t>edge</a:t>
            </a:r>
            <a:endParaRPr sz="8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63" name="矩形 62"/>
          <p:cNvSpPr>
            <a:spLocks noGrp="1"/>
          </p:cNvSpPr>
          <p:nvPr/>
        </p:nvSpPr>
        <p:spPr>
          <a:xfrm>
            <a:off x="1428750" y="3838575"/>
            <a:ext cx="114300" cy="9525"/>
          </a:xfrm>
          <a:prstGeom prst="rect">
            <a:avLst/>
          </a:prstGeom>
          <a:solidFill>
            <a:srgbClr val="BDBDB5"/>
          </a:solidFill>
          <a:ln w="0">
            <a:noFill/>
            <a:prstDash val="solid"/>
          </a:ln>
        </p:spPr>
      </p:sp>
      <p:sp>
        <p:nvSpPr>
          <p:cNvPr id="64" name="圆角矩形 63"/>
          <p:cNvSpPr>
            <a:spLocks noGrp="1"/>
          </p:cNvSpPr>
          <p:nvPr/>
        </p:nvSpPr>
        <p:spPr>
          <a:xfrm>
            <a:off x="1543050" y="3505200"/>
            <a:ext cx="781050" cy="666750"/>
          </a:xfrm>
          <a:prstGeom prst="roundRect">
            <a:avLst>
              <a:gd name="adj" fmla="val 11429"/>
            </a:avLst>
          </a:prstGeom>
          <a:solidFill>
            <a:srgbClr val="FFFFFF"/>
          </a:solidFill>
          <a:ln w="9525">
            <a:solidFill>
              <a:srgbClr val="D9D9D1"/>
            </a:solidFill>
            <a:prstDash val="solid"/>
          </a:ln>
        </p:spPr>
      </p:sp>
      <p:sp>
        <p:nvSpPr>
          <p:cNvPr id="65" name="矩形 64"/>
          <p:cNvSpPr>
            <a:spLocks noGrp="1"/>
          </p:cNvSpPr>
          <p:nvPr/>
        </p:nvSpPr>
        <p:spPr>
          <a:xfrm>
            <a:off x="1638300" y="3581400"/>
            <a:ext cx="571500" cy="152400"/>
          </a:xfrm>
          <a:prstGeom prst="rect">
            <a:avLst/>
          </a:prstGeom>
          <a:noFill/>
          <a:ln w="0">
            <a:noFill/>
            <a:prstDash val="solid"/>
          </a:ln>
        </p:spPr>
        <p:txBody>
          <a:bodyPr wrap="square" lIns="0" tIns="0" rIns="0" bIns="0" anchor="t">
            <a:noAutofit/>
          </a:bodyPr>
          <a:lstStyle>
            <a:defPPr algn="l">
              <a:defRPr sz="675" b="1">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675" b="1">
                <a:solidFill>
                  <a:srgbClr val="5F5F58"/>
                </a:solidFill>
                <a:latin typeface="微软雅黑" panose="020B0503020204020204" charset="-122"/>
                <a:ea typeface="微软雅黑" panose="020B0503020204020204" charset="-122"/>
                <a:cs typeface="微软雅黑" panose="020B0503020204020204" charset="-122"/>
              </a:defRPr>
            </a:pPr>
            <a:r>
              <a:rPr sz="1080">
                <a:solidFill>
                  <a:srgbClr val="5F5F58"/>
                </a:solidFill>
                <a:latin typeface="微软雅黑" panose="020B0503020204020204" charset="-122"/>
                <a:ea typeface="微软雅黑" panose="020B0503020204020204" charset="-122"/>
                <a:cs typeface="微软雅黑" panose="020B0503020204020204" charset="-122"/>
              </a:rPr>
              <a:t>cell</a:t>
            </a:r>
            <a:endParaRPr sz="108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66" name="椭圆 65"/>
          <p:cNvSpPr>
            <a:spLocks noGrp="1"/>
          </p:cNvSpPr>
          <p:nvPr/>
        </p:nvSpPr>
        <p:spPr>
          <a:xfrm>
            <a:off x="1638300" y="3810000"/>
            <a:ext cx="66675" cy="66675"/>
          </a:xfrm>
          <a:prstGeom prst="ellipse">
            <a:avLst/>
          </a:prstGeom>
          <a:solidFill>
            <a:srgbClr val="0F5B5B"/>
          </a:solidFill>
          <a:ln w="0">
            <a:noFill/>
            <a:prstDash val="solid"/>
          </a:ln>
        </p:spPr>
      </p:sp>
      <p:sp>
        <p:nvSpPr>
          <p:cNvPr id="67" name="圆角矩形 66"/>
          <p:cNvSpPr>
            <a:spLocks noGrp="1"/>
          </p:cNvSpPr>
          <p:nvPr/>
        </p:nvSpPr>
        <p:spPr>
          <a:xfrm>
            <a:off x="2000250" y="3962400"/>
            <a:ext cx="238125" cy="123825"/>
          </a:xfrm>
          <a:prstGeom prst="roundRect">
            <a:avLst>
              <a:gd name="adj" fmla="val 50000"/>
            </a:avLst>
          </a:prstGeom>
          <a:solidFill>
            <a:srgbClr val="E7F0EE"/>
          </a:solidFill>
          <a:ln w="9525">
            <a:solidFill>
              <a:srgbClr val="0F5B5B"/>
            </a:solidFill>
            <a:prstDash val="solid"/>
          </a:ln>
        </p:spPr>
      </p:sp>
      <p:sp>
        <p:nvSpPr>
          <p:cNvPr id="68" name="矩形 67"/>
          <p:cNvSpPr>
            <a:spLocks noGrp="1"/>
          </p:cNvSpPr>
          <p:nvPr/>
        </p:nvSpPr>
        <p:spPr>
          <a:xfrm>
            <a:off x="2009775" y="3971925"/>
            <a:ext cx="228600" cy="95250"/>
          </a:xfrm>
          <a:prstGeom prst="rect">
            <a:avLst/>
          </a:prstGeom>
          <a:noFill/>
          <a:ln w="0">
            <a:noFill/>
            <a:prstDash val="solid"/>
          </a:ln>
        </p:spPr>
        <p:txBody>
          <a:bodyPr wrap="square" lIns="0" tIns="0" rIns="0" bIns="0" anchor="t">
            <a:noAutofit/>
          </a:bodyPr>
          <a:lstStyle>
            <a:defPPr algn="ctr">
              <a:defRPr sz="490" b="0">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490" b="0">
                <a:solidFill>
                  <a:srgbClr val="0F5B5B"/>
                </a:solidFill>
                <a:latin typeface="微软雅黑" panose="020B0503020204020204" charset="-122"/>
                <a:ea typeface="微软雅黑" panose="020B0503020204020204" charset="-122"/>
                <a:cs typeface="微软雅黑" panose="020B0503020204020204" charset="-122"/>
              </a:defRPr>
            </a:pPr>
            <a:r>
              <a:rPr sz="890" b="1">
                <a:solidFill>
                  <a:srgbClr val="0F5B5B"/>
                </a:solidFill>
                <a:latin typeface="微软雅黑" panose="020B0503020204020204" charset="-122"/>
                <a:ea typeface="微软雅黑" panose="020B0503020204020204" charset="-122"/>
                <a:cs typeface="微软雅黑" panose="020B0503020204020204" charset="-122"/>
              </a:rPr>
              <a:t>edge</a:t>
            </a:r>
            <a:endParaRPr sz="8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69" name="矩形 68"/>
          <p:cNvSpPr>
            <a:spLocks noGrp="1"/>
          </p:cNvSpPr>
          <p:nvPr/>
        </p:nvSpPr>
        <p:spPr>
          <a:xfrm>
            <a:off x="2324100" y="3838575"/>
            <a:ext cx="114300" cy="9525"/>
          </a:xfrm>
          <a:prstGeom prst="rect">
            <a:avLst/>
          </a:prstGeom>
          <a:solidFill>
            <a:srgbClr val="BDBDB5"/>
          </a:solidFill>
          <a:ln w="0">
            <a:noFill/>
            <a:prstDash val="solid"/>
          </a:ln>
        </p:spPr>
      </p:sp>
      <p:sp>
        <p:nvSpPr>
          <p:cNvPr id="70" name="圆角矩形 69"/>
          <p:cNvSpPr>
            <a:spLocks noGrp="1"/>
          </p:cNvSpPr>
          <p:nvPr/>
        </p:nvSpPr>
        <p:spPr>
          <a:xfrm>
            <a:off x="2438400" y="3505200"/>
            <a:ext cx="781050" cy="666750"/>
          </a:xfrm>
          <a:prstGeom prst="roundRect">
            <a:avLst>
              <a:gd name="adj" fmla="val 11429"/>
            </a:avLst>
          </a:prstGeom>
          <a:solidFill>
            <a:srgbClr val="FFFFFF"/>
          </a:solidFill>
          <a:ln w="9525">
            <a:solidFill>
              <a:srgbClr val="D9D9D1"/>
            </a:solidFill>
            <a:prstDash val="solid"/>
          </a:ln>
        </p:spPr>
      </p:sp>
      <p:sp>
        <p:nvSpPr>
          <p:cNvPr id="71" name="矩形 70"/>
          <p:cNvSpPr>
            <a:spLocks noGrp="1"/>
          </p:cNvSpPr>
          <p:nvPr/>
        </p:nvSpPr>
        <p:spPr>
          <a:xfrm>
            <a:off x="2533650" y="3581400"/>
            <a:ext cx="571500" cy="152400"/>
          </a:xfrm>
          <a:prstGeom prst="rect">
            <a:avLst/>
          </a:prstGeom>
          <a:noFill/>
          <a:ln w="0">
            <a:noFill/>
            <a:prstDash val="solid"/>
          </a:ln>
        </p:spPr>
        <p:txBody>
          <a:bodyPr wrap="square" lIns="0" tIns="0" rIns="0" bIns="0" anchor="t">
            <a:noAutofit/>
          </a:bodyPr>
          <a:lstStyle>
            <a:defPPr algn="l">
              <a:defRPr sz="675" b="1">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675" b="1">
                <a:solidFill>
                  <a:srgbClr val="5F5F58"/>
                </a:solidFill>
                <a:latin typeface="微软雅黑" panose="020B0503020204020204" charset="-122"/>
                <a:ea typeface="微软雅黑" panose="020B0503020204020204" charset="-122"/>
                <a:cs typeface="微软雅黑" panose="020B0503020204020204" charset="-122"/>
              </a:defRPr>
            </a:pPr>
            <a:r>
              <a:rPr sz="1080">
                <a:solidFill>
                  <a:srgbClr val="5F5F58"/>
                </a:solidFill>
                <a:latin typeface="微软雅黑" panose="020B0503020204020204" charset="-122"/>
                <a:ea typeface="微软雅黑" panose="020B0503020204020204" charset="-122"/>
                <a:cs typeface="微软雅黑" panose="020B0503020204020204" charset="-122"/>
              </a:rPr>
              <a:t>cell</a:t>
            </a:r>
            <a:endParaRPr sz="108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72" name="椭圆 71"/>
          <p:cNvSpPr>
            <a:spLocks noGrp="1"/>
          </p:cNvSpPr>
          <p:nvPr/>
        </p:nvSpPr>
        <p:spPr>
          <a:xfrm>
            <a:off x="2533650" y="3810000"/>
            <a:ext cx="66675" cy="66675"/>
          </a:xfrm>
          <a:prstGeom prst="ellipse">
            <a:avLst/>
          </a:prstGeom>
          <a:solidFill>
            <a:srgbClr val="0F5B5B"/>
          </a:solidFill>
          <a:ln w="0">
            <a:noFill/>
            <a:prstDash val="solid"/>
          </a:ln>
        </p:spPr>
      </p:sp>
      <p:sp>
        <p:nvSpPr>
          <p:cNvPr id="73" name="圆角矩形 72"/>
          <p:cNvSpPr>
            <a:spLocks noGrp="1"/>
          </p:cNvSpPr>
          <p:nvPr/>
        </p:nvSpPr>
        <p:spPr>
          <a:xfrm>
            <a:off x="2895600" y="3962400"/>
            <a:ext cx="238125" cy="123825"/>
          </a:xfrm>
          <a:prstGeom prst="roundRect">
            <a:avLst>
              <a:gd name="adj" fmla="val 50000"/>
            </a:avLst>
          </a:prstGeom>
          <a:solidFill>
            <a:srgbClr val="E7F0EE"/>
          </a:solidFill>
          <a:ln w="9525">
            <a:solidFill>
              <a:srgbClr val="0F5B5B"/>
            </a:solidFill>
            <a:prstDash val="solid"/>
          </a:ln>
        </p:spPr>
      </p:sp>
      <p:sp>
        <p:nvSpPr>
          <p:cNvPr id="74" name="矩形 73"/>
          <p:cNvSpPr>
            <a:spLocks noGrp="1"/>
          </p:cNvSpPr>
          <p:nvPr/>
        </p:nvSpPr>
        <p:spPr>
          <a:xfrm>
            <a:off x="2905125" y="3971925"/>
            <a:ext cx="228600" cy="95250"/>
          </a:xfrm>
          <a:prstGeom prst="rect">
            <a:avLst/>
          </a:prstGeom>
          <a:noFill/>
          <a:ln w="0">
            <a:noFill/>
            <a:prstDash val="solid"/>
          </a:ln>
        </p:spPr>
        <p:txBody>
          <a:bodyPr wrap="square" lIns="0" tIns="0" rIns="0" bIns="0" anchor="t">
            <a:noAutofit/>
          </a:bodyPr>
          <a:lstStyle>
            <a:defPPr algn="ctr">
              <a:defRPr sz="490" b="0">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490" b="0">
                <a:solidFill>
                  <a:srgbClr val="0F5B5B"/>
                </a:solidFill>
                <a:latin typeface="微软雅黑" panose="020B0503020204020204" charset="-122"/>
                <a:ea typeface="微软雅黑" panose="020B0503020204020204" charset="-122"/>
                <a:cs typeface="微软雅黑" panose="020B0503020204020204" charset="-122"/>
              </a:defRPr>
            </a:pPr>
            <a:r>
              <a:rPr sz="890" b="1">
                <a:solidFill>
                  <a:srgbClr val="0F5B5B"/>
                </a:solidFill>
                <a:latin typeface="微软雅黑" panose="020B0503020204020204" charset="-122"/>
                <a:ea typeface="微软雅黑" panose="020B0503020204020204" charset="-122"/>
                <a:cs typeface="微软雅黑" panose="020B0503020204020204" charset="-122"/>
              </a:rPr>
              <a:t>edge</a:t>
            </a:r>
            <a:endParaRPr sz="8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75" name="矩形 74"/>
          <p:cNvSpPr>
            <a:spLocks noGrp="1"/>
          </p:cNvSpPr>
          <p:nvPr/>
        </p:nvSpPr>
        <p:spPr>
          <a:xfrm>
            <a:off x="3219450" y="3838575"/>
            <a:ext cx="114300" cy="9525"/>
          </a:xfrm>
          <a:prstGeom prst="rect">
            <a:avLst/>
          </a:prstGeom>
          <a:solidFill>
            <a:srgbClr val="BDBDB5"/>
          </a:solidFill>
          <a:ln w="0">
            <a:noFill/>
            <a:prstDash val="solid"/>
          </a:ln>
        </p:spPr>
      </p:sp>
      <p:sp>
        <p:nvSpPr>
          <p:cNvPr id="76" name="圆角矩形 75"/>
          <p:cNvSpPr>
            <a:spLocks noGrp="1"/>
          </p:cNvSpPr>
          <p:nvPr/>
        </p:nvSpPr>
        <p:spPr>
          <a:xfrm>
            <a:off x="3333750" y="3505200"/>
            <a:ext cx="781050" cy="666750"/>
          </a:xfrm>
          <a:prstGeom prst="roundRect">
            <a:avLst>
              <a:gd name="adj" fmla="val 11429"/>
            </a:avLst>
          </a:prstGeom>
          <a:solidFill>
            <a:srgbClr val="FFFFFF"/>
          </a:solidFill>
          <a:ln w="9525">
            <a:solidFill>
              <a:srgbClr val="D9D9D1"/>
            </a:solidFill>
            <a:prstDash val="solid"/>
          </a:ln>
        </p:spPr>
      </p:sp>
      <p:sp>
        <p:nvSpPr>
          <p:cNvPr id="77" name="矩形 76"/>
          <p:cNvSpPr>
            <a:spLocks noGrp="1"/>
          </p:cNvSpPr>
          <p:nvPr/>
        </p:nvSpPr>
        <p:spPr>
          <a:xfrm>
            <a:off x="3429000" y="3581400"/>
            <a:ext cx="571500" cy="152400"/>
          </a:xfrm>
          <a:prstGeom prst="rect">
            <a:avLst/>
          </a:prstGeom>
          <a:noFill/>
          <a:ln w="0">
            <a:noFill/>
            <a:prstDash val="solid"/>
          </a:ln>
        </p:spPr>
        <p:txBody>
          <a:bodyPr wrap="square" lIns="0" tIns="0" rIns="0" bIns="0" anchor="t">
            <a:noAutofit/>
          </a:bodyPr>
          <a:lstStyle>
            <a:defPPr algn="l">
              <a:defRPr sz="675" b="1">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675" b="1">
                <a:solidFill>
                  <a:srgbClr val="5F5F58"/>
                </a:solidFill>
                <a:latin typeface="微软雅黑" panose="020B0503020204020204" charset="-122"/>
                <a:ea typeface="微软雅黑" panose="020B0503020204020204" charset="-122"/>
                <a:cs typeface="微软雅黑" panose="020B0503020204020204" charset="-122"/>
              </a:defRPr>
            </a:pPr>
            <a:r>
              <a:rPr sz="1080">
                <a:solidFill>
                  <a:srgbClr val="5F5F58"/>
                </a:solidFill>
                <a:latin typeface="微软雅黑" panose="020B0503020204020204" charset="-122"/>
                <a:ea typeface="微软雅黑" panose="020B0503020204020204" charset="-122"/>
                <a:cs typeface="微软雅黑" panose="020B0503020204020204" charset="-122"/>
              </a:rPr>
              <a:t>cell</a:t>
            </a:r>
            <a:endParaRPr sz="108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78" name="椭圆 77"/>
          <p:cNvSpPr>
            <a:spLocks noGrp="1"/>
          </p:cNvSpPr>
          <p:nvPr/>
        </p:nvSpPr>
        <p:spPr>
          <a:xfrm>
            <a:off x="3429000" y="3810000"/>
            <a:ext cx="66675" cy="66675"/>
          </a:xfrm>
          <a:prstGeom prst="ellipse">
            <a:avLst/>
          </a:prstGeom>
          <a:solidFill>
            <a:srgbClr val="0F5B5B"/>
          </a:solidFill>
          <a:ln w="0">
            <a:noFill/>
            <a:prstDash val="solid"/>
          </a:ln>
        </p:spPr>
      </p:sp>
      <p:sp>
        <p:nvSpPr>
          <p:cNvPr id="79" name="圆角矩形 78"/>
          <p:cNvSpPr>
            <a:spLocks noGrp="1"/>
          </p:cNvSpPr>
          <p:nvPr/>
        </p:nvSpPr>
        <p:spPr>
          <a:xfrm>
            <a:off x="3790950" y="3962400"/>
            <a:ext cx="238125" cy="123825"/>
          </a:xfrm>
          <a:prstGeom prst="roundRect">
            <a:avLst>
              <a:gd name="adj" fmla="val 50000"/>
            </a:avLst>
          </a:prstGeom>
          <a:solidFill>
            <a:srgbClr val="E7F0EE"/>
          </a:solidFill>
          <a:ln w="9525">
            <a:solidFill>
              <a:srgbClr val="0F5B5B"/>
            </a:solidFill>
            <a:prstDash val="solid"/>
          </a:ln>
        </p:spPr>
      </p:sp>
      <p:sp>
        <p:nvSpPr>
          <p:cNvPr id="80" name="矩形 79"/>
          <p:cNvSpPr>
            <a:spLocks noGrp="1"/>
          </p:cNvSpPr>
          <p:nvPr/>
        </p:nvSpPr>
        <p:spPr>
          <a:xfrm>
            <a:off x="3800475" y="3971925"/>
            <a:ext cx="228600" cy="95250"/>
          </a:xfrm>
          <a:prstGeom prst="rect">
            <a:avLst/>
          </a:prstGeom>
          <a:noFill/>
          <a:ln w="0">
            <a:noFill/>
            <a:prstDash val="solid"/>
          </a:ln>
        </p:spPr>
        <p:txBody>
          <a:bodyPr wrap="square" lIns="0" tIns="0" rIns="0" bIns="0" anchor="t">
            <a:noAutofit/>
          </a:bodyPr>
          <a:lstStyle>
            <a:defPPr algn="ctr">
              <a:defRPr sz="490" b="0">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490" b="0">
                <a:solidFill>
                  <a:srgbClr val="0F5B5B"/>
                </a:solidFill>
                <a:latin typeface="微软雅黑" panose="020B0503020204020204" charset="-122"/>
                <a:ea typeface="微软雅黑" panose="020B0503020204020204" charset="-122"/>
                <a:cs typeface="微软雅黑" panose="020B0503020204020204" charset="-122"/>
              </a:defRPr>
            </a:pPr>
            <a:r>
              <a:rPr sz="890" b="1">
                <a:solidFill>
                  <a:srgbClr val="0F5B5B"/>
                </a:solidFill>
                <a:latin typeface="微软雅黑" panose="020B0503020204020204" charset="-122"/>
                <a:ea typeface="微软雅黑" panose="020B0503020204020204" charset="-122"/>
                <a:cs typeface="微软雅黑" panose="020B0503020204020204" charset="-122"/>
              </a:rPr>
              <a:t>edge</a:t>
            </a:r>
            <a:endParaRPr sz="8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81" name="矩形 80"/>
          <p:cNvSpPr>
            <a:spLocks noGrp="1"/>
          </p:cNvSpPr>
          <p:nvPr/>
        </p:nvSpPr>
        <p:spPr>
          <a:xfrm>
            <a:off x="1038225" y="3895725"/>
            <a:ext cx="895350" cy="19050"/>
          </a:xfrm>
          <a:prstGeom prst="rect">
            <a:avLst/>
          </a:prstGeom>
          <a:solidFill>
            <a:srgbClr val="7AA7A2"/>
          </a:solidFill>
          <a:ln w="0">
            <a:noFill/>
            <a:prstDash val="solid"/>
          </a:ln>
        </p:spPr>
      </p:sp>
      <p:sp>
        <p:nvSpPr>
          <p:cNvPr id="82" name="矩形 81"/>
          <p:cNvSpPr>
            <a:spLocks noGrp="1"/>
          </p:cNvSpPr>
          <p:nvPr/>
        </p:nvSpPr>
        <p:spPr>
          <a:xfrm>
            <a:off x="1933575" y="3114675"/>
            <a:ext cx="19050" cy="781050"/>
          </a:xfrm>
          <a:prstGeom prst="rect">
            <a:avLst/>
          </a:prstGeom>
          <a:solidFill>
            <a:srgbClr val="7AA7A2"/>
          </a:solidFill>
          <a:ln w="0">
            <a:noFill/>
            <a:prstDash val="solid"/>
          </a:ln>
        </p:spPr>
      </p:sp>
      <p:sp>
        <p:nvSpPr>
          <p:cNvPr id="83" name="矩形 82"/>
          <p:cNvSpPr>
            <a:spLocks noGrp="1"/>
          </p:cNvSpPr>
          <p:nvPr/>
        </p:nvSpPr>
        <p:spPr>
          <a:xfrm>
            <a:off x="1933575" y="3114675"/>
            <a:ext cx="895350" cy="19050"/>
          </a:xfrm>
          <a:prstGeom prst="rect">
            <a:avLst/>
          </a:prstGeom>
          <a:solidFill>
            <a:srgbClr val="7AA7A2"/>
          </a:solidFill>
          <a:ln w="0">
            <a:noFill/>
            <a:prstDash val="solid"/>
          </a:ln>
        </p:spPr>
      </p:sp>
      <p:sp>
        <p:nvSpPr>
          <p:cNvPr id="84" name="矩形 83"/>
          <p:cNvSpPr>
            <a:spLocks noGrp="1"/>
          </p:cNvSpPr>
          <p:nvPr/>
        </p:nvSpPr>
        <p:spPr>
          <a:xfrm>
            <a:off x="2828925" y="2333625"/>
            <a:ext cx="19050" cy="781050"/>
          </a:xfrm>
          <a:prstGeom prst="rect">
            <a:avLst/>
          </a:prstGeom>
          <a:solidFill>
            <a:srgbClr val="7AA7A2"/>
          </a:solidFill>
          <a:ln w="0">
            <a:noFill/>
            <a:prstDash val="solid"/>
          </a:ln>
        </p:spPr>
      </p:sp>
      <p:sp>
        <p:nvSpPr>
          <p:cNvPr id="85" name="矩形 84"/>
          <p:cNvSpPr>
            <a:spLocks noGrp="1"/>
          </p:cNvSpPr>
          <p:nvPr/>
        </p:nvSpPr>
        <p:spPr>
          <a:xfrm>
            <a:off x="2828925" y="2333625"/>
            <a:ext cx="895350" cy="19050"/>
          </a:xfrm>
          <a:prstGeom prst="rect">
            <a:avLst/>
          </a:prstGeom>
          <a:solidFill>
            <a:srgbClr val="7AA7A2"/>
          </a:solidFill>
          <a:ln w="0">
            <a:noFill/>
            <a:prstDash val="solid"/>
          </a:ln>
        </p:spPr>
      </p:sp>
      <p:sp>
        <p:nvSpPr>
          <p:cNvPr id="86" name="椭圆 85"/>
          <p:cNvSpPr>
            <a:spLocks noGrp="1"/>
          </p:cNvSpPr>
          <p:nvPr/>
        </p:nvSpPr>
        <p:spPr>
          <a:xfrm>
            <a:off x="990600" y="3848100"/>
            <a:ext cx="95250" cy="95250"/>
          </a:xfrm>
          <a:prstGeom prst="ellipse">
            <a:avLst/>
          </a:prstGeom>
          <a:solidFill>
            <a:srgbClr val="0F5B5B"/>
          </a:solidFill>
          <a:ln w="0">
            <a:noFill/>
            <a:prstDash val="solid"/>
          </a:ln>
        </p:spPr>
      </p:sp>
      <p:sp>
        <p:nvSpPr>
          <p:cNvPr id="87" name="椭圆 86"/>
          <p:cNvSpPr>
            <a:spLocks noGrp="1"/>
          </p:cNvSpPr>
          <p:nvPr/>
        </p:nvSpPr>
        <p:spPr>
          <a:xfrm>
            <a:off x="1885950" y="3848100"/>
            <a:ext cx="95250" cy="95250"/>
          </a:xfrm>
          <a:prstGeom prst="ellipse">
            <a:avLst/>
          </a:prstGeom>
          <a:solidFill>
            <a:srgbClr val="0F5B5B"/>
          </a:solidFill>
          <a:ln w="0">
            <a:noFill/>
            <a:prstDash val="solid"/>
          </a:ln>
        </p:spPr>
      </p:sp>
      <p:sp>
        <p:nvSpPr>
          <p:cNvPr id="88" name="椭圆 87"/>
          <p:cNvSpPr>
            <a:spLocks noGrp="1"/>
          </p:cNvSpPr>
          <p:nvPr/>
        </p:nvSpPr>
        <p:spPr>
          <a:xfrm>
            <a:off x="1885950" y="3067050"/>
            <a:ext cx="95250" cy="95250"/>
          </a:xfrm>
          <a:prstGeom prst="ellipse">
            <a:avLst/>
          </a:prstGeom>
          <a:solidFill>
            <a:srgbClr val="0F5B5B"/>
          </a:solidFill>
          <a:ln w="0">
            <a:noFill/>
            <a:prstDash val="solid"/>
          </a:ln>
        </p:spPr>
      </p:sp>
      <p:sp>
        <p:nvSpPr>
          <p:cNvPr id="89" name="椭圆 88"/>
          <p:cNvSpPr>
            <a:spLocks noGrp="1"/>
          </p:cNvSpPr>
          <p:nvPr/>
        </p:nvSpPr>
        <p:spPr>
          <a:xfrm>
            <a:off x="2781300" y="3067050"/>
            <a:ext cx="95250" cy="95250"/>
          </a:xfrm>
          <a:prstGeom prst="ellipse">
            <a:avLst/>
          </a:prstGeom>
          <a:solidFill>
            <a:srgbClr val="0F5B5B"/>
          </a:solidFill>
          <a:ln w="0">
            <a:noFill/>
            <a:prstDash val="solid"/>
          </a:ln>
        </p:spPr>
      </p:sp>
      <p:sp>
        <p:nvSpPr>
          <p:cNvPr id="90" name="椭圆 89"/>
          <p:cNvSpPr>
            <a:spLocks noGrp="1"/>
          </p:cNvSpPr>
          <p:nvPr/>
        </p:nvSpPr>
        <p:spPr>
          <a:xfrm>
            <a:off x="2781300" y="2286000"/>
            <a:ext cx="95250" cy="95250"/>
          </a:xfrm>
          <a:prstGeom prst="ellipse">
            <a:avLst/>
          </a:prstGeom>
          <a:solidFill>
            <a:srgbClr val="0F5B5B"/>
          </a:solidFill>
          <a:ln w="0">
            <a:noFill/>
            <a:prstDash val="solid"/>
          </a:ln>
        </p:spPr>
      </p:sp>
      <p:sp>
        <p:nvSpPr>
          <p:cNvPr id="91" name="椭圆 90"/>
          <p:cNvSpPr>
            <a:spLocks noGrp="1"/>
          </p:cNvSpPr>
          <p:nvPr/>
        </p:nvSpPr>
        <p:spPr>
          <a:xfrm>
            <a:off x="3676650" y="2286000"/>
            <a:ext cx="114300" cy="114300"/>
          </a:xfrm>
          <a:prstGeom prst="ellipse">
            <a:avLst/>
          </a:prstGeom>
          <a:solidFill>
            <a:srgbClr val="B84A24"/>
          </a:solidFill>
          <a:ln w="0">
            <a:noFill/>
            <a:prstDash val="solid"/>
          </a:ln>
        </p:spPr>
      </p:sp>
      <p:sp>
        <p:nvSpPr>
          <p:cNvPr id="92" name="矩形 91"/>
          <p:cNvSpPr>
            <a:spLocks noGrp="1"/>
          </p:cNvSpPr>
          <p:nvPr/>
        </p:nvSpPr>
        <p:spPr>
          <a:xfrm>
            <a:off x="647700" y="4486910"/>
            <a:ext cx="4000500" cy="228600"/>
          </a:xfrm>
          <a:prstGeom prst="rect">
            <a:avLst/>
          </a:prstGeom>
          <a:noFill/>
          <a:ln w="0">
            <a:noFill/>
            <a:prstDash val="solid"/>
          </a:ln>
        </p:spPr>
        <p:txBody>
          <a:bodyPr wrap="square" lIns="0" tIns="0" rIns="0" bIns="0" anchor="t">
            <a:noAutofit/>
          </a:bodyPr>
          <a:lstStyle>
            <a:defPPr algn="l">
              <a:defRPr sz="900"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900"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青色圆点：车辆经过的 cell</a:t>
            </a:r>
            <a:endParaRPr sz="14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93" name="矩形 92"/>
          <p:cNvSpPr>
            <a:spLocks noGrp="1"/>
          </p:cNvSpPr>
          <p:nvPr/>
        </p:nvSpPr>
        <p:spPr>
          <a:xfrm>
            <a:off x="647700" y="4796790"/>
            <a:ext cx="4000500" cy="228600"/>
          </a:xfrm>
          <a:prstGeom prst="rect">
            <a:avLst/>
          </a:prstGeom>
          <a:noFill/>
          <a:ln w="0">
            <a:noFill/>
            <a:prstDash val="solid"/>
          </a:ln>
        </p:spPr>
        <p:txBody>
          <a:bodyPr wrap="square" lIns="0" tIns="0" rIns="0" bIns="0" anchor="t">
            <a:noAutofit/>
          </a:bodyPr>
          <a:lstStyle>
            <a:defPPr algn="l">
              <a:defRPr sz="900"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900" b="0">
                <a:solidFill>
                  <a:srgbClr val="5F5F58"/>
                </a:solidFill>
                <a:latin typeface="微软雅黑" panose="020B0503020204020204" charset="-122"/>
                <a:ea typeface="微软雅黑" panose="020B0503020204020204" charset="-122"/>
                <a:cs typeface="微软雅黑" panose="020B0503020204020204" charset="-122"/>
              </a:defRPr>
            </a:pPr>
            <a:r>
              <a:rPr lang="en-US" sz="1400" b="1">
                <a:solidFill>
                  <a:srgbClr val="5F5F58"/>
                </a:solidFill>
                <a:latin typeface="微软雅黑" panose="020B0503020204020204" charset="-122"/>
                <a:ea typeface="微软雅黑" panose="020B0503020204020204" charset="-122"/>
                <a:cs typeface="微软雅黑" panose="020B0503020204020204" charset="-122"/>
              </a:rPr>
              <a:t>cell </a:t>
            </a:r>
            <a:r>
              <a:rPr lang="zh-CN" altLang="en-US" sz="1400" b="1">
                <a:solidFill>
                  <a:srgbClr val="5F5F58"/>
                </a:solidFill>
                <a:latin typeface="微软雅黑" panose="020B0503020204020204" charset="-122"/>
                <a:ea typeface="微软雅黑" panose="020B0503020204020204" charset="-122"/>
                <a:cs typeface="微软雅黑" panose="020B0503020204020204" charset="-122"/>
              </a:rPr>
              <a:t>和</a:t>
            </a:r>
            <a:r>
              <a:rPr lang="en-US" altLang="zh-CN" sz="1400" b="1">
                <a:solidFill>
                  <a:srgbClr val="5F5F58"/>
                </a:solidFill>
                <a:latin typeface="微软雅黑" panose="020B0503020204020204" charset="-122"/>
                <a:ea typeface="微软雅黑" panose="020B0503020204020204" charset="-122"/>
                <a:cs typeface="微软雅黑" panose="020B0503020204020204" charset="-122"/>
              </a:rPr>
              <a:t> cell </a:t>
            </a:r>
            <a:r>
              <a:rPr sz="1400" b="1">
                <a:solidFill>
                  <a:srgbClr val="5F5F58"/>
                </a:solidFill>
                <a:latin typeface="微软雅黑" panose="020B0503020204020204" charset="-122"/>
                <a:ea typeface="微软雅黑" panose="020B0503020204020204" charset="-122"/>
                <a:cs typeface="微软雅黑" panose="020B0503020204020204" charset="-122"/>
              </a:rPr>
              <a:t>之间</a:t>
            </a:r>
            <a:r>
              <a:rPr lang="zh-CN" sz="1400" b="1">
                <a:solidFill>
                  <a:srgbClr val="5F5F58"/>
                </a:solidFill>
                <a:latin typeface="微软雅黑" panose="020B0503020204020204" charset="-122"/>
                <a:ea typeface="微软雅黑" panose="020B0503020204020204" charset="-122"/>
                <a:cs typeface="微软雅黑" panose="020B0503020204020204" charset="-122"/>
              </a:rPr>
              <a:t>形成网络拓扑：</a:t>
            </a:r>
            <a:r>
              <a:rPr sz="1400" b="1">
                <a:solidFill>
                  <a:srgbClr val="5F5F58"/>
                </a:solidFill>
                <a:latin typeface="微软雅黑" panose="020B0503020204020204" charset="-122"/>
                <a:ea typeface="微软雅黑" panose="020B0503020204020204" charset="-122"/>
                <a:cs typeface="微软雅黑" panose="020B0503020204020204" charset="-122"/>
              </a:rPr>
              <a:t>四方向连接</a:t>
            </a:r>
            <a:endParaRPr sz="14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95" name="矩形 94"/>
          <p:cNvSpPr>
            <a:spLocks noGrp="1"/>
          </p:cNvSpPr>
          <p:nvPr/>
        </p:nvSpPr>
        <p:spPr>
          <a:xfrm>
            <a:off x="5143500" y="1943100"/>
            <a:ext cx="6362700" cy="1885950"/>
          </a:xfrm>
          <a:prstGeom prst="rect">
            <a:avLst/>
          </a:prstGeom>
          <a:noFill/>
          <a:ln w="0">
            <a:noFill/>
            <a:prstDash val="solid"/>
          </a:ln>
        </p:spPr>
        <p:txBody>
          <a:bodyPr wrap="square" lIns="0" tIns="0" rIns="0" bIns="0" anchor="t">
            <a:noAutofit/>
          </a:bodyPr>
          <a:lstStyle>
            <a:defPPr algn="l">
              <a:defRPr sz="1150"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42000"/>
              </a:lnSpc>
              <a:buNone/>
              <a:defRPr sz="1150" b="0">
                <a:solidFill>
                  <a:srgbClr val="5F5F58"/>
                </a:solidFill>
                <a:latin typeface="微软雅黑" panose="020B0503020204020204" charset="-122"/>
                <a:ea typeface="微软雅黑" panose="020B0503020204020204" charset="-122"/>
                <a:cs typeface="微软雅黑" panose="020B0503020204020204" charset="-122"/>
              </a:defRPr>
            </a:pPr>
            <a:r>
              <a:rPr lang="zh-CN" sz="1600" b="1">
                <a:solidFill>
                  <a:srgbClr val="5F5F58"/>
                </a:solidFill>
                <a:latin typeface="微软雅黑" panose="020B0503020204020204" charset="-122"/>
                <a:ea typeface="微软雅黑" panose="020B0503020204020204" charset="-122"/>
                <a:cs typeface="微软雅黑" panose="020B0503020204020204" charset="-122"/>
              </a:rPr>
              <a:t>车辆</a:t>
            </a:r>
            <a:r>
              <a:rPr sz="1600" b="1">
                <a:solidFill>
                  <a:srgbClr val="5F5F58"/>
                </a:solidFill>
                <a:latin typeface="微软雅黑" panose="020B0503020204020204" charset="-122"/>
                <a:ea typeface="微软雅黑" panose="020B0503020204020204" charset="-122"/>
                <a:cs typeface="微软雅黑" panose="020B0503020204020204" charset="-122"/>
              </a:rPr>
              <a:t>移动回答：车下一秒会去哪个 cell，服务要迁到哪里。</a:t>
            </a:r>
            <a:endParaRPr sz="1600" b="1">
              <a:solidFill>
                <a:srgbClr val="5F5F58"/>
              </a:solidFill>
              <a:latin typeface="微软雅黑" panose="020B0503020204020204" charset="-122"/>
              <a:ea typeface="微软雅黑" panose="020B0503020204020204" charset="-122"/>
              <a:cs typeface="微软雅黑" panose="020B0503020204020204" charset="-122"/>
            </a:endParaRPr>
          </a:p>
          <a:p>
            <a:endParaRPr sz="1600" b="1"/>
          </a:p>
          <a:p>
            <a:pPr algn="l">
              <a:lnSpc>
                <a:spcPct val="142000"/>
              </a:lnSpc>
              <a:buNone/>
              <a:defRPr sz="1150"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网络</a:t>
            </a:r>
            <a:r>
              <a:rPr lang="zh-CN" sz="1600" b="1">
                <a:solidFill>
                  <a:srgbClr val="5F5F58"/>
                </a:solidFill>
                <a:latin typeface="微软雅黑" panose="020B0503020204020204" charset="-122"/>
                <a:ea typeface="微软雅黑" panose="020B0503020204020204" charset="-122"/>
                <a:cs typeface="微软雅黑" panose="020B0503020204020204" charset="-122"/>
              </a:rPr>
              <a:t>拓扑</a:t>
            </a:r>
            <a:r>
              <a:rPr sz="1600" b="1">
                <a:solidFill>
                  <a:srgbClr val="5F5F58"/>
                </a:solidFill>
                <a:latin typeface="微软雅黑" panose="020B0503020204020204" charset="-122"/>
                <a:ea typeface="微软雅黑" panose="020B0503020204020204" charset="-122"/>
                <a:cs typeface="微软雅黑" panose="020B0503020204020204" charset="-122"/>
              </a:rPr>
              <a:t>回答：两个</a:t>
            </a:r>
            <a:r>
              <a:rPr lang="en-US" sz="1600" b="1">
                <a:solidFill>
                  <a:srgbClr val="5F5F58"/>
                </a:solidFill>
                <a:latin typeface="微软雅黑" panose="020B0503020204020204" charset="-122"/>
                <a:ea typeface="微软雅黑" panose="020B0503020204020204" charset="-122"/>
                <a:cs typeface="微软雅黑" panose="020B0503020204020204" charset="-122"/>
              </a:rPr>
              <a:t> cell </a:t>
            </a:r>
            <a:r>
              <a:rPr sz="1600" b="1">
                <a:solidFill>
                  <a:srgbClr val="5F5F58"/>
                </a:solidFill>
                <a:latin typeface="微软雅黑" panose="020B0503020204020204" charset="-122"/>
                <a:ea typeface="微软雅黑" panose="020B0503020204020204" charset="-122"/>
                <a:cs typeface="微软雅黑" panose="020B0503020204020204" charset="-122"/>
              </a:rPr>
              <a:t>间有哪些链路，迁移要走几跳，链路有多快。</a:t>
            </a:r>
            <a:endParaRPr sz="1600" b="1">
              <a:solidFill>
                <a:srgbClr val="5F5F58"/>
              </a:solidFill>
              <a:latin typeface="微软雅黑" panose="020B0503020204020204" charset="-122"/>
              <a:ea typeface="微软雅黑" panose="020B0503020204020204" charset="-122"/>
              <a:cs typeface="微软雅黑" panose="020B0503020204020204" charset="-122"/>
            </a:endParaRPr>
          </a:p>
          <a:p>
            <a:endParaRPr sz="1600" b="1"/>
          </a:p>
          <a:p>
            <a:pPr algn="l">
              <a:lnSpc>
                <a:spcPct val="142000"/>
              </a:lnSpc>
              <a:buNone/>
              <a:defRPr sz="1150" b="0">
                <a:solidFill>
                  <a:srgbClr val="5F5F58"/>
                </a:solidFill>
                <a:latin typeface="微软雅黑" panose="020B0503020204020204" charset="-122"/>
                <a:ea typeface="微软雅黑" panose="020B0503020204020204" charset="-122"/>
                <a:cs typeface="微软雅黑" panose="020B0503020204020204" charset="-122"/>
              </a:defRPr>
            </a:pPr>
            <a:r>
              <a:rPr sz="1600" b="1">
                <a:sym typeface="+mn-ea"/>
              </a:rPr>
              <a:t>仿真</a:t>
            </a:r>
            <a:r>
              <a:rPr sz="1600" b="1">
                <a:solidFill>
                  <a:srgbClr val="5F5F58"/>
                </a:solidFill>
                <a:latin typeface="微软雅黑" panose="020B0503020204020204" charset="-122"/>
                <a:ea typeface="微软雅黑" panose="020B0503020204020204" charset="-122"/>
                <a:cs typeface="微软雅黑" panose="020B0503020204020204" charset="-122"/>
              </a:rPr>
              <a:t>车辆可以斜着走，但仿真网络只在上下左右相邻的节点之间连边。4 连通是对网络路由的简化，</a:t>
            </a:r>
            <a:r>
              <a:rPr lang="zh-CN" sz="1600" b="1">
                <a:solidFill>
                  <a:srgbClr val="5F5F58"/>
                </a:solidFill>
                <a:latin typeface="微软雅黑" panose="020B0503020204020204" charset="-122"/>
                <a:ea typeface="微软雅黑" panose="020B0503020204020204" charset="-122"/>
                <a:cs typeface="微软雅黑" panose="020B0503020204020204" charset="-122"/>
              </a:rPr>
              <a:t>没有</a:t>
            </a:r>
            <a:r>
              <a:rPr sz="1600" b="1">
                <a:solidFill>
                  <a:srgbClr val="5F5F58"/>
                </a:solidFill>
                <a:latin typeface="微软雅黑" panose="020B0503020204020204" charset="-122"/>
                <a:ea typeface="微软雅黑" panose="020B0503020204020204" charset="-122"/>
                <a:cs typeface="微软雅黑" panose="020B0503020204020204" charset="-122"/>
              </a:rPr>
              <a:t>限制车辆轨迹。</a:t>
            </a:r>
            <a:endParaRPr sz="16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96" name="圆角矩形 95"/>
          <p:cNvSpPr>
            <a:spLocks noGrp="1"/>
          </p:cNvSpPr>
          <p:nvPr/>
        </p:nvSpPr>
        <p:spPr>
          <a:xfrm>
            <a:off x="5143500" y="4343400"/>
            <a:ext cx="6362700" cy="889635"/>
          </a:xfrm>
          <a:prstGeom prst="roundRect">
            <a:avLst>
              <a:gd name="adj" fmla="val 10526"/>
            </a:avLst>
          </a:prstGeom>
          <a:solidFill>
            <a:srgbClr val="E7F0EE"/>
          </a:solidFill>
          <a:ln w="9525">
            <a:solidFill>
              <a:srgbClr val="0F5B5B"/>
            </a:solidFill>
            <a:prstDash val="solid"/>
          </a:ln>
        </p:spPr>
      </p:sp>
      <p:sp>
        <p:nvSpPr>
          <p:cNvPr id="97" name="矩形 96"/>
          <p:cNvSpPr>
            <a:spLocks noGrp="1"/>
          </p:cNvSpPr>
          <p:nvPr/>
        </p:nvSpPr>
        <p:spPr>
          <a:xfrm>
            <a:off x="5353050" y="4437380"/>
            <a:ext cx="5943600" cy="457200"/>
          </a:xfrm>
          <a:prstGeom prst="rect">
            <a:avLst/>
          </a:prstGeom>
          <a:noFill/>
          <a:ln w="0">
            <a:noFill/>
            <a:prstDash val="solid"/>
          </a:ln>
        </p:spPr>
        <p:txBody>
          <a:bodyPr wrap="square" lIns="0" tIns="0" rIns="0" bIns="0" anchor="t">
            <a:noAutofit/>
          </a:bodyPr>
          <a:lstStyle>
            <a:defPPr algn="l">
              <a:defRPr sz="101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30000"/>
              </a:lnSpc>
              <a:buNone/>
              <a:defRPr sz="1015" b="0">
                <a:solidFill>
                  <a:srgbClr val="1B1B19"/>
                </a:solidFill>
                <a:latin typeface="微软雅黑" panose="020B0503020204020204" charset="-122"/>
                <a:ea typeface="微软雅黑" panose="020B0503020204020204" charset="-122"/>
                <a:cs typeface="微软雅黑" panose="020B0503020204020204" charset="-122"/>
              </a:defRPr>
            </a:pPr>
            <a:r>
              <a:rPr lang="en-US" altLang="zh-CN" sz="1800" b="1">
                <a:solidFill>
                  <a:srgbClr val="1B1B19"/>
                </a:solidFill>
                <a:latin typeface="微软雅黑" panose="020B0503020204020204" charset="-122"/>
                <a:ea typeface="微软雅黑" panose="020B0503020204020204" charset="-122"/>
                <a:cs typeface="微软雅黑" panose="020B0503020204020204" charset="-122"/>
              </a:rPr>
              <a:t>San Francisco</a:t>
            </a:r>
            <a:r>
              <a:rPr sz="1800" b="1">
                <a:solidFill>
                  <a:srgbClr val="1B1B19"/>
                </a:solidFill>
                <a:latin typeface="微软雅黑" panose="020B0503020204020204" charset="-122"/>
                <a:ea typeface="微软雅黑" panose="020B0503020204020204" charset="-122"/>
                <a:cs typeface="微软雅黑" panose="020B0503020204020204" charset="-122"/>
              </a:rPr>
              <a:t> 和 Rome </a:t>
            </a:r>
            <a:r>
              <a:rPr lang="zh-CN" sz="1800" b="1">
                <a:solidFill>
                  <a:srgbClr val="1B1B19"/>
                </a:solidFill>
                <a:latin typeface="微软雅黑" panose="020B0503020204020204" charset="-122"/>
                <a:ea typeface="微软雅黑" panose="020B0503020204020204" charset="-122"/>
                <a:cs typeface="微软雅黑" panose="020B0503020204020204" charset="-122"/>
              </a:rPr>
              <a:t>出租车轨迹</a:t>
            </a:r>
            <a:r>
              <a:rPr sz="1800" b="1">
                <a:solidFill>
                  <a:srgbClr val="1B1B19"/>
                </a:solidFill>
                <a:latin typeface="微软雅黑" panose="020B0503020204020204" charset="-122"/>
                <a:ea typeface="微软雅黑" panose="020B0503020204020204" charset="-122"/>
                <a:cs typeface="微软雅黑" panose="020B0503020204020204" charset="-122"/>
              </a:rPr>
              <a:t>使用 16×16 的服务归属网格</a:t>
            </a:r>
            <a:r>
              <a:rPr lang="zh-CN" sz="1800" b="1">
                <a:solidFill>
                  <a:srgbClr val="1B1B19"/>
                </a:solidFill>
                <a:latin typeface="微软雅黑" panose="020B0503020204020204" charset="-122"/>
                <a:ea typeface="微软雅黑" panose="020B0503020204020204" charset="-122"/>
                <a:cs typeface="微软雅黑" panose="020B0503020204020204" charset="-122"/>
              </a:rPr>
              <a:t>；</a:t>
            </a:r>
            <a:r>
              <a:rPr sz="1800" b="1">
                <a:sym typeface="+mn-ea"/>
              </a:rPr>
              <a:t>DATA7 使用 30 个真实 gNB 位置</a:t>
            </a:r>
            <a:r>
              <a:rPr lang="zh-CN" sz="1800" b="1">
                <a:sym typeface="+mn-ea"/>
              </a:rPr>
              <a:t>！！！</a:t>
            </a:r>
            <a:endParaRPr lang="zh-CN" sz="1800" b="1">
              <a:solidFill>
                <a:srgbClr val="1B1B19"/>
              </a:solidFill>
              <a:latin typeface="微软雅黑" panose="020B0503020204020204" charset="-122"/>
              <a:ea typeface="微软雅黑" panose="020B0503020204020204" charset="-122"/>
              <a:cs typeface="微软雅黑" panose="020B0503020204020204" charset="-122"/>
              <a:sym typeface="+mn-ea"/>
            </a:endParaRPr>
          </a:p>
        </p:txBody>
      </p:sp>
      <p:sp>
        <p:nvSpPr>
          <p:cNvPr id="98" name="矩形 97"/>
          <p:cNvSpPr>
            <a:spLocks noGrp="1"/>
          </p:cNvSpPr>
          <p:nvPr/>
        </p:nvSpPr>
        <p:spPr>
          <a:xfrm>
            <a:off x="685800" y="5772150"/>
            <a:ext cx="10820400" cy="9525"/>
          </a:xfrm>
          <a:prstGeom prst="rect">
            <a:avLst/>
          </a:prstGeom>
          <a:solidFill>
            <a:srgbClr val="D9D9D1"/>
          </a:solidFill>
          <a:ln w="0">
            <a:noFill/>
            <a:prstDash val="solid"/>
          </a:ln>
        </p:spPr>
      </p:sp>
      <p:sp>
        <p:nvSpPr>
          <p:cNvPr id="99" name="矩形 98"/>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800" b="1">
                <a:solidFill>
                  <a:srgbClr val="0F5B5B"/>
                </a:solidFill>
                <a:latin typeface="微软雅黑" panose="020B0503020204020204" charset="-122"/>
                <a:ea typeface="微软雅黑" panose="020B0503020204020204" charset="-122"/>
                <a:cs typeface="微软雅黑" panose="020B0503020204020204" charset="-122"/>
              </a:rPr>
              <a:t>车辆轨迹</a:t>
            </a:r>
            <a:r>
              <a:rPr lang="zh-CN" sz="1800" b="1">
                <a:solidFill>
                  <a:srgbClr val="0F5B5B"/>
                </a:solidFill>
                <a:latin typeface="微软雅黑" panose="020B0503020204020204" charset="-122"/>
                <a:ea typeface="微软雅黑" panose="020B0503020204020204" charset="-122"/>
                <a:cs typeface="微软雅黑" panose="020B0503020204020204" charset="-122"/>
              </a:rPr>
              <a:t>：</a:t>
            </a:r>
            <a:r>
              <a:rPr sz="1800" b="1">
                <a:solidFill>
                  <a:srgbClr val="0F5B5B"/>
                </a:solidFill>
                <a:latin typeface="微软雅黑" panose="020B0503020204020204" charset="-122"/>
                <a:ea typeface="微软雅黑" panose="020B0503020204020204" charset="-122"/>
                <a:cs typeface="微软雅黑" panose="020B0503020204020204" charset="-122"/>
              </a:rPr>
              <a:t>移动序列</a:t>
            </a:r>
            <a:r>
              <a:rPr lang="zh-CN" sz="1800" b="1">
                <a:solidFill>
                  <a:srgbClr val="0F5B5B"/>
                </a:solidFill>
                <a:latin typeface="微软雅黑" panose="020B0503020204020204" charset="-122"/>
                <a:ea typeface="微软雅黑" panose="020B0503020204020204" charset="-122"/>
                <a:cs typeface="微软雅黑" panose="020B0503020204020204" charset="-122"/>
              </a:rPr>
              <a:t>；</a:t>
            </a:r>
            <a:r>
              <a:rPr sz="1800" b="1">
                <a:solidFill>
                  <a:srgbClr val="0F5B5B"/>
                </a:solidFill>
                <a:latin typeface="微软雅黑" panose="020B0503020204020204" charset="-122"/>
                <a:ea typeface="微软雅黑" panose="020B0503020204020204" charset="-122"/>
                <a:cs typeface="微软雅黑" panose="020B0503020204020204" charset="-122"/>
              </a:rPr>
              <a:t>网络</a:t>
            </a:r>
            <a:r>
              <a:rPr lang="zh-CN" sz="1800" b="1">
                <a:solidFill>
                  <a:srgbClr val="0F5B5B"/>
                </a:solidFill>
                <a:latin typeface="微软雅黑" panose="020B0503020204020204" charset="-122"/>
                <a:ea typeface="微软雅黑" panose="020B0503020204020204" charset="-122"/>
                <a:cs typeface="微软雅黑" panose="020B0503020204020204" charset="-122"/>
              </a:rPr>
              <a:t>拓扑：</a:t>
            </a:r>
            <a:r>
              <a:rPr sz="1800" b="1">
                <a:solidFill>
                  <a:srgbClr val="0F5B5B"/>
                </a:solidFill>
                <a:latin typeface="微软雅黑" panose="020B0503020204020204" charset="-122"/>
                <a:ea typeface="微软雅黑" panose="020B0503020204020204" charset="-122"/>
                <a:cs typeface="微软雅黑" panose="020B0503020204020204" charset="-122"/>
              </a:rPr>
              <a:t>迁移路径和传输成本</a:t>
            </a:r>
            <a:endParaRPr sz="1800"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800">
                <a:sym typeface="+mn-ea"/>
              </a:rPr>
              <a:t>用户感</a:t>
            </a:r>
            <a:r>
              <a:rPr lang="zh-CN" sz="2800">
                <a:sym typeface="+mn-ea"/>
              </a:rPr>
              <a:t>知</a:t>
            </a:r>
            <a:r>
              <a:rPr sz="2800">
                <a:sym typeface="+mn-ea"/>
              </a:rPr>
              <a:t>的中断</a:t>
            </a:r>
            <a:endParaRPr sz="2800" b="1">
              <a:solidFill>
                <a:srgbClr val="1B1B19"/>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sp>
        <p:nvSpPr>
          <p:cNvPr id="4" name="圆角矩形 3"/>
          <p:cNvSpPr>
            <a:spLocks noGrp="1"/>
          </p:cNvSpPr>
          <p:nvPr/>
        </p:nvSpPr>
        <p:spPr>
          <a:xfrm>
            <a:off x="685800" y="1924050"/>
            <a:ext cx="2857500" cy="2133600"/>
          </a:xfrm>
          <a:prstGeom prst="roundRect">
            <a:avLst>
              <a:gd name="adj" fmla="val 3571"/>
            </a:avLst>
          </a:prstGeom>
          <a:solidFill>
            <a:srgbClr val="FFFFFF"/>
          </a:solidFill>
          <a:ln w="19050">
            <a:solidFill>
              <a:srgbClr val="0F5B5B"/>
            </a:solidFill>
            <a:prstDash val="solid"/>
          </a:ln>
        </p:spPr>
      </p:sp>
      <p:sp>
        <p:nvSpPr>
          <p:cNvPr id="5" name="矩形 4"/>
          <p:cNvSpPr>
            <a:spLocks noGrp="1"/>
          </p:cNvSpPr>
          <p:nvPr/>
        </p:nvSpPr>
        <p:spPr>
          <a:xfrm>
            <a:off x="914400" y="2114550"/>
            <a:ext cx="2400300" cy="266700"/>
          </a:xfrm>
          <a:prstGeom prst="rect">
            <a:avLst/>
          </a:prstGeom>
          <a:noFill/>
          <a:ln w="0">
            <a:noFill/>
            <a:prstDash val="solid"/>
          </a:ln>
        </p:spPr>
        <p:txBody>
          <a:bodyPr wrap="square" lIns="0" tIns="0" rIns="0" bIns="0" anchor="t">
            <a:noAutofit/>
          </a:bodyPr>
          <a:lstStyle>
            <a:defPPr algn="l">
              <a:defRPr sz="142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425" b="1">
                <a:solidFill>
                  <a:srgbClr val="0F5B5B"/>
                </a:solidFill>
                <a:latin typeface="微软雅黑" panose="020B0503020204020204" charset="-122"/>
                <a:ea typeface="微软雅黑" panose="020B0503020204020204" charset="-122"/>
                <a:cs typeface="微软雅黑" panose="020B0503020204020204" charset="-122"/>
              </a:defRPr>
            </a:pPr>
            <a:r>
              <a:rPr sz="2000">
                <a:solidFill>
                  <a:srgbClr val="0F5B5B"/>
                </a:solidFill>
                <a:latin typeface="微软雅黑" panose="020B0503020204020204" charset="-122"/>
                <a:ea typeface="微软雅黑" panose="020B0503020204020204" charset="-122"/>
                <a:cs typeface="微软雅黑" panose="020B0503020204020204" charset="-122"/>
              </a:rPr>
              <a:t>cell A</a:t>
            </a:r>
            <a:endParaRPr sz="2000">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914400" y="2571750"/>
            <a:ext cx="2400300" cy="1066800"/>
          </a:xfrm>
          <a:prstGeom prst="rect">
            <a:avLst/>
          </a:prstGeom>
          <a:noFill/>
          <a:ln w="0">
            <a:noFill/>
            <a:prstDash val="solid"/>
          </a:ln>
        </p:spPr>
        <p:txBody>
          <a:bodyPr wrap="square" lIns="0" tIns="0" rIns="0" bIns="0" anchor="t">
            <a:noAutofit/>
          </a:bodyPr>
          <a:lstStyle>
            <a:defPPr algn="l">
              <a:defRPr sz="116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55000"/>
              </a:lnSpc>
              <a:buNone/>
              <a:defRPr sz="1165"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基站 A</a:t>
            </a:r>
            <a:endParaRPr sz="1600" b="1">
              <a:solidFill>
                <a:srgbClr val="5F5F58"/>
              </a:solidFill>
              <a:latin typeface="微软雅黑" panose="020B0503020204020204" charset="-122"/>
              <a:ea typeface="微软雅黑" panose="020B0503020204020204" charset="-122"/>
              <a:cs typeface="微软雅黑" panose="020B0503020204020204" charset="-122"/>
            </a:endParaRPr>
          </a:p>
          <a:p>
            <a:pPr algn="l">
              <a:lnSpc>
                <a:spcPct val="155000"/>
              </a:lnSpc>
              <a:buNone/>
              <a:defRPr sz="1165"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边缘服务器 A</a:t>
            </a:r>
            <a:endParaRPr sz="1600" b="1">
              <a:solidFill>
                <a:srgbClr val="5F5F58"/>
              </a:solidFill>
              <a:latin typeface="微软雅黑" panose="020B0503020204020204" charset="-122"/>
              <a:ea typeface="微软雅黑" panose="020B0503020204020204" charset="-122"/>
              <a:cs typeface="微软雅黑" panose="020B0503020204020204" charset="-122"/>
            </a:endParaRPr>
          </a:p>
          <a:p>
            <a:pPr algn="l">
              <a:lnSpc>
                <a:spcPct val="155000"/>
              </a:lnSpc>
              <a:buNone/>
              <a:defRPr sz="1165"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服务状态仍在 A</a:t>
            </a:r>
            <a:endParaRPr sz="16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7125335" y="1924050"/>
            <a:ext cx="2857500" cy="2133600"/>
          </a:xfrm>
          <a:prstGeom prst="roundRect">
            <a:avLst>
              <a:gd name="adj" fmla="val 3571"/>
            </a:avLst>
          </a:prstGeom>
          <a:solidFill>
            <a:srgbClr val="FFFFFF"/>
          </a:solidFill>
          <a:ln w="19050">
            <a:solidFill>
              <a:srgbClr val="B84A24"/>
            </a:solidFill>
            <a:prstDash val="solid"/>
          </a:ln>
        </p:spPr>
      </p:sp>
      <p:sp>
        <p:nvSpPr>
          <p:cNvPr id="8" name="矩形 7"/>
          <p:cNvSpPr>
            <a:spLocks noGrp="1"/>
          </p:cNvSpPr>
          <p:nvPr/>
        </p:nvSpPr>
        <p:spPr>
          <a:xfrm>
            <a:off x="7353935" y="2114550"/>
            <a:ext cx="2400300" cy="266700"/>
          </a:xfrm>
          <a:prstGeom prst="rect">
            <a:avLst/>
          </a:prstGeom>
          <a:noFill/>
          <a:ln w="0">
            <a:noFill/>
            <a:prstDash val="solid"/>
          </a:ln>
        </p:spPr>
        <p:txBody>
          <a:bodyPr wrap="square" lIns="0" tIns="0" rIns="0" bIns="0" anchor="t">
            <a:noAutofit/>
          </a:bodyPr>
          <a:lstStyle>
            <a:defPPr algn="l">
              <a:defRPr sz="1425" b="1">
                <a:solidFill>
                  <a:srgbClr val="B84A24"/>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425" b="1">
                <a:solidFill>
                  <a:srgbClr val="B84A24"/>
                </a:solidFill>
                <a:latin typeface="微软雅黑" panose="020B0503020204020204" charset="-122"/>
                <a:ea typeface="微软雅黑" panose="020B0503020204020204" charset="-122"/>
                <a:cs typeface="微软雅黑" panose="020B0503020204020204" charset="-122"/>
              </a:defRPr>
            </a:pPr>
            <a:r>
              <a:rPr sz="2000">
                <a:solidFill>
                  <a:srgbClr val="B84A24"/>
                </a:solidFill>
                <a:latin typeface="微软雅黑" panose="020B0503020204020204" charset="-122"/>
                <a:ea typeface="微软雅黑" panose="020B0503020204020204" charset="-122"/>
                <a:cs typeface="微软雅黑" panose="020B0503020204020204" charset="-122"/>
              </a:rPr>
              <a:t>cell B</a:t>
            </a:r>
            <a:endParaRPr sz="2000">
              <a:solidFill>
                <a:srgbClr val="B84A24"/>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353935" y="2571750"/>
            <a:ext cx="2400300" cy="1066800"/>
          </a:xfrm>
          <a:prstGeom prst="rect">
            <a:avLst/>
          </a:prstGeom>
          <a:noFill/>
          <a:ln w="0">
            <a:noFill/>
            <a:prstDash val="solid"/>
          </a:ln>
        </p:spPr>
        <p:txBody>
          <a:bodyPr wrap="square" lIns="0" tIns="0" rIns="0" bIns="0" anchor="t">
            <a:noAutofit/>
          </a:bodyPr>
          <a:lstStyle>
            <a:defPPr algn="l">
              <a:defRPr sz="116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55000"/>
              </a:lnSpc>
              <a:buNone/>
              <a:defRPr sz="1165"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基站 B</a:t>
            </a:r>
            <a:endParaRPr sz="1600" b="1">
              <a:solidFill>
                <a:srgbClr val="5F5F58"/>
              </a:solidFill>
              <a:latin typeface="微软雅黑" panose="020B0503020204020204" charset="-122"/>
              <a:ea typeface="微软雅黑" panose="020B0503020204020204" charset="-122"/>
              <a:cs typeface="微软雅黑" panose="020B0503020204020204" charset="-122"/>
            </a:endParaRPr>
          </a:p>
          <a:p>
            <a:pPr algn="l">
              <a:lnSpc>
                <a:spcPct val="155000"/>
              </a:lnSpc>
              <a:buNone/>
              <a:defRPr sz="1165"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边缘服务器 B</a:t>
            </a:r>
            <a:endParaRPr sz="1600" b="1">
              <a:solidFill>
                <a:srgbClr val="5F5F58"/>
              </a:solidFill>
              <a:latin typeface="微软雅黑" panose="020B0503020204020204" charset="-122"/>
              <a:ea typeface="微软雅黑" panose="020B0503020204020204" charset="-122"/>
              <a:cs typeface="微软雅黑" panose="020B0503020204020204" charset="-122"/>
            </a:endParaRPr>
          </a:p>
          <a:p>
            <a:pPr algn="l">
              <a:lnSpc>
                <a:spcPct val="155000"/>
              </a:lnSpc>
              <a:buNone/>
              <a:defRPr sz="1165"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需要接手服务和状态</a:t>
            </a:r>
            <a:endParaRPr sz="16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4439285" y="1846580"/>
            <a:ext cx="1485900" cy="228600"/>
          </a:xfrm>
          <a:prstGeom prst="rect">
            <a:avLst/>
          </a:prstGeom>
          <a:noFill/>
          <a:ln w="0">
            <a:noFill/>
            <a:prstDash val="solid"/>
          </a:ln>
        </p:spPr>
        <p:txBody>
          <a:bodyPr wrap="square" lIns="0" tIns="0" rIns="0" bIns="0" anchor="t">
            <a:noAutofit/>
          </a:bodyPr>
          <a:lstStyle>
            <a:defPPr algn="ctr">
              <a:defRPr sz="975" b="1">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975" b="1">
                <a:solidFill>
                  <a:srgbClr val="0F5B5B"/>
                </a:solidFill>
                <a:latin typeface="微软雅黑" panose="020B0503020204020204" charset="-122"/>
                <a:ea typeface="微软雅黑" panose="020B0503020204020204" charset="-122"/>
                <a:cs typeface="微软雅黑" panose="020B0503020204020204" charset="-122"/>
              </a:defRPr>
            </a:pPr>
            <a:r>
              <a:rPr sz="1400">
                <a:solidFill>
                  <a:srgbClr val="0F5B5B"/>
                </a:solidFill>
                <a:latin typeface="微软雅黑" panose="020B0503020204020204" charset="-122"/>
                <a:ea typeface="微软雅黑" panose="020B0503020204020204" charset="-122"/>
                <a:cs typeface="微软雅黑" panose="020B0503020204020204" charset="-122"/>
              </a:rPr>
              <a:t>无线连接变化</a:t>
            </a:r>
            <a:endParaRPr sz="1400">
              <a:solidFill>
                <a:srgbClr val="0F5B5B"/>
              </a:solidFill>
              <a:latin typeface="微软雅黑" panose="020B0503020204020204" charset="-122"/>
              <a:ea typeface="微软雅黑" panose="020B0503020204020204" charset="-122"/>
              <a:cs typeface="微软雅黑" panose="020B0503020204020204" charset="-122"/>
            </a:endParaRPr>
          </a:p>
        </p:txBody>
      </p:sp>
      <p:cxnSp>
        <p:nvCxnSpPr>
          <p:cNvPr id="11" name="直接箭头连接符 10"/>
          <p:cNvCxnSpPr/>
          <p:nvPr/>
        </p:nvCxnSpPr>
        <p:spPr>
          <a:xfrm flipV="1">
            <a:off x="3714750" y="2154555"/>
            <a:ext cx="3244850" cy="15875"/>
          </a:xfrm>
          <a:prstGeom prst="straightConnector1">
            <a:avLst/>
          </a:prstGeom>
          <a:ln w="19050">
            <a:solidFill>
              <a:srgbClr val="0F5B5B"/>
            </a:solidFill>
            <a:prstDash val="solid"/>
            <a:tailEnd type="arrow" w="med" len="med"/>
          </a:ln>
        </p:spPr>
      </p:cxnSp>
      <p:sp>
        <p:nvSpPr>
          <p:cNvPr id="12" name="矩形 11"/>
          <p:cNvSpPr>
            <a:spLocks noGrp="1"/>
          </p:cNvSpPr>
          <p:nvPr/>
        </p:nvSpPr>
        <p:spPr>
          <a:xfrm>
            <a:off x="3723640" y="2242185"/>
            <a:ext cx="2936240" cy="495300"/>
          </a:xfrm>
          <a:prstGeom prst="rect">
            <a:avLst/>
          </a:prstGeom>
          <a:noFill/>
          <a:ln w="0">
            <a:noFill/>
            <a:prstDash val="solid"/>
          </a:ln>
        </p:spPr>
        <p:txBody>
          <a:bodyPr wrap="square" lIns="0" tIns="0" rIns="0" bIns="0" anchor="t">
            <a:noAutofit/>
          </a:bodyPr>
          <a:lstStyle>
            <a:defPPr algn="ctr">
              <a:defRPr sz="900" b="0">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30000"/>
              </a:lnSpc>
              <a:buNone/>
              <a:defRPr sz="900" b="0">
                <a:solidFill>
                  <a:srgbClr val="0F5B5B"/>
                </a:solidFill>
                <a:latin typeface="微软雅黑" panose="020B0503020204020204" charset="-122"/>
                <a:ea typeface="微软雅黑" panose="020B0503020204020204" charset="-122"/>
                <a:cs typeface="微软雅黑" panose="020B0503020204020204" charset="-122"/>
              </a:defRPr>
            </a:pPr>
            <a:r>
              <a:rPr sz="1400" b="1">
                <a:solidFill>
                  <a:srgbClr val="0F5B5B"/>
                </a:solidFill>
                <a:latin typeface="微软雅黑" panose="020B0503020204020204" charset="-122"/>
                <a:ea typeface="微软雅黑" panose="020B0503020204020204" charset="-122"/>
                <a:cs typeface="微软雅黑" panose="020B0503020204020204" charset="-122"/>
              </a:rPr>
              <a:t>handover</a:t>
            </a:r>
            <a:endParaRPr sz="1400" b="1">
              <a:solidFill>
                <a:srgbClr val="0F5B5B"/>
              </a:solidFill>
              <a:latin typeface="微软雅黑" panose="020B0503020204020204" charset="-122"/>
              <a:ea typeface="微软雅黑" panose="020B0503020204020204" charset="-122"/>
              <a:cs typeface="微软雅黑" panose="020B0503020204020204" charset="-122"/>
            </a:endParaRPr>
          </a:p>
          <a:p>
            <a:pPr algn="ctr">
              <a:lnSpc>
                <a:spcPct val="130000"/>
              </a:lnSpc>
              <a:buNone/>
              <a:defRPr sz="900" b="0">
                <a:solidFill>
                  <a:srgbClr val="0F5B5B"/>
                </a:solidFill>
                <a:latin typeface="微软雅黑" panose="020B0503020204020204" charset="-122"/>
                <a:ea typeface="微软雅黑" panose="020B0503020204020204" charset="-122"/>
                <a:cs typeface="微软雅黑" panose="020B0503020204020204" charset="-122"/>
              </a:defRPr>
            </a:pPr>
            <a:r>
              <a:rPr sz="1400" b="1">
                <a:solidFill>
                  <a:srgbClr val="0F5B5B"/>
                </a:solidFill>
                <a:latin typeface="微软雅黑" panose="020B0503020204020204" charset="-122"/>
                <a:ea typeface="微软雅黑" panose="020B0503020204020204" charset="-122"/>
                <a:cs typeface="微软雅黑" panose="020B0503020204020204" charset="-122"/>
              </a:rPr>
              <a:t>车辆从 A 的基站切到 B 的基站</a:t>
            </a:r>
            <a:endParaRPr sz="140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4591685" y="3120390"/>
            <a:ext cx="1485900" cy="228600"/>
          </a:xfrm>
          <a:prstGeom prst="rect">
            <a:avLst/>
          </a:prstGeom>
          <a:noFill/>
          <a:ln w="0">
            <a:noFill/>
            <a:prstDash val="solid"/>
          </a:ln>
        </p:spPr>
        <p:txBody>
          <a:bodyPr wrap="square" lIns="0" tIns="0" rIns="0" bIns="0" anchor="t">
            <a:noAutofit/>
          </a:bodyPr>
          <a:lstStyle>
            <a:defPPr algn="ctr">
              <a:defRPr sz="975" b="1">
                <a:solidFill>
                  <a:srgbClr val="B84A24"/>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975" b="1">
                <a:solidFill>
                  <a:srgbClr val="B84A24"/>
                </a:solidFill>
                <a:latin typeface="微软雅黑" panose="020B0503020204020204" charset="-122"/>
                <a:ea typeface="微软雅黑" panose="020B0503020204020204" charset="-122"/>
                <a:cs typeface="微软雅黑" panose="020B0503020204020204" charset="-122"/>
              </a:defRPr>
            </a:pPr>
            <a:r>
              <a:rPr sz="1400">
                <a:solidFill>
                  <a:srgbClr val="B84A24"/>
                </a:solidFill>
                <a:latin typeface="微软雅黑" panose="020B0503020204020204" charset="-122"/>
                <a:ea typeface="微软雅黑" panose="020B0503020204020204" charset="-122"/>
                <a:cs typeface="微软雅黑" panose="020B0503020204020204" charset="-122"/>
              </a:rPr>
              <a:t>服务归属变化</a:t>
            </a:r>
            <a:endParaRPr sz="1400">
              <a:solidFill>
                <a:srgbClr val="B84A24"/>
              </a:solidFill>
              <a:latin typeface="微软雅黑" panose="020B0503020204020204" charset="-122"/>
              <a:ea typeface="微软雅黑" panose="020B0503020204020204" charset="-122"/>
              <a:cs typeface="微软雅黑" panose="020B0503020204020204" charset="-122"/>
            </a:endParaRPr>
          </a:p>
        </p:txBody>
      </p:sp>
      <p:cxnSp>
        <p:nvCxnSpPr>
          <p:cNvPr id="14" name="直接箭头连接符 13"/>
          <p:cNvCxnSpPr/>
          <p:nvPr/>
        </p:nvCxnSpPr>
        <p:spPr>
          <a:xfrm flipV="1">
            <a:off x="3712210" y="3479165"/>
            <a:ext cx="3244850" cy="41910"/>
          </a:xfrm>
          <a:prstGeom prst="straightConnector1">
            <a:avLst/>
          </a:prstGeom>
          <a:ln w="19050">
            <a:solidFill>
              <a:srgbClr val="B84A24"/>
            </a:solidFill>
            <a:prstDash val="solid"/>
            <a:tailEnd type="arrow" w="med" len="med"/>
          </a:ln>
        </p:spPr>
      </p:cxnSp>
      <p:sp>
        <p:nvSpPr>
          <p:cNvPr id="15" name="矩形 14"/>
          <p:cNvSpPr>
            <a:spLocks noGrp="1"/>
          </p:cNvSpPr>
          <p:nvPr/>
        </p:nvSpPr>
        <p:spPr>
          <a:xfrm>
            <a:off x="3739515" y="3582035"/>
            <a:ext cx="3188970" cy="495300"/>
          </a:xfrm>
          <a:prstGeom prst="rect">
            <a:avLst/>
          </a:prstGeom>
          <a:noFill/>
          <a:ln w="0">
            <a:noFill/>
            <a:prstDash val="solid"/>
          </a:ln>
        </p:spPr>
        <p:txBody>
          <a:bodyPr wrap="square" lIns="0" tIns="0" rIns="0" bIns="0" anchor="t">
            <a:noAutofit/>
          </a:bodyPr>
          <a:lstStyle>
            <a:defPPr algn="ctr">
              <a:defRPr sz="900" b="0">
                <a:solidFill>
                  <a:srgbClr val="B84A24"/>
                </a:solidFill>
                <a:latin typeface="微软雅黑" panose="020B0503020204020204" charset="-122"/>
                <a:ea typeface="微软雅黑" panose="020B0503020204020204" charset="-122"/>
                <a:cs typeface="微软雅黑" panose="020B0503020204020204" charset="-122"/>
              </a:defRPr>
            </a:defPPr>
          </a:lstStyle>
          <a:p>
            <a:pPr algn="ctr">
              <a:lnSpc>
                <a:spcPct val="130000"/>
              </a:lnSpc>
              <a:buNone/>
              <a:defRPr sz="900" b="0">
                <a:solidFill>
                  <a:srgbClr val="B84A24"/>
                </a:solidFill>
                <a:latin typeface="微软雅黑" panose="020B0503020204020204" charset="-122"/>
                <a:ea typeface="微软雅黑" panose="020B0503020204020204" charset="-122"/>
                <a:cs typeface="微软雅黑" panose="020B0503020204020204" charset="-122"/>
              </a:defRPr>
            </a:pPr>
            <a:r>
              <a:rPr sz="1400" b="1">
                <a:solidFill>
                  <a:srgbClr val="B84A24"/>
                </a:solidFill>
                <a:latin typeface="微软雅黑" panose="020B0503020204020204" charset="-122"/>
                <a:ea typeface="微软雅黑" panose="020B0503020204020204" charset="-122"/>
                <a:cs typeface="微软雅黑" panose="020B0503020204020204" charset="-122"/>
              </a:rPr>
              <a:t>migration</a:t>
            </a:r>
            <a:endParaRPr sz="1400" b="1">
              <a:solidFill>
                <a:srgbClr val="B84A24"/>
              </a:solidFill>
              <a:latin typeface="微软雅黑" panose="020B0503020204020204" charset="-122"/>
              <a:ea typeface="微软雅黑" panose="020B0503020204020204" charset="-122"/>
              <a:cs typeface="微软雅黑" panose="020B0503020204020204" charset="-122"/>
            </a:endParaRPr>
          </a:p>
          <a:p>
            <a:pPr algn="ctr">
              <a:lnSpc>
                <a:spcPct val="130000"/>
              </a:lnSpc>
              <a:buNone/>
              <a:defRPr sz="900" b="0">
                <a:solidFill>
                  <a:srgbClr val="B84A24"/>
                </a:solidFill>
                <a:latin typeface="微软雅黑" panose="020B0503020204020204" charset="-122"/>
                <a:ea typeface="微软雅黑" panose="020B0503020204020204" charset="-122"/>
                <a:cs typeface="微软雅黑" panose="020B0503020204020204" charset="-122"/>
              </a:defRPr>
            </a:pPr>
            <a:r>
              <a:rPr sz="1400" b="1">
                <a:solidFill>
                  <a:srgbClr val="B84A24"/>
                </a:solidFill>
                <a:latin typeface="微软雅黑" panose="020B0503020204020204" charset="-122"/>
                <a:ea typeface="微软雅黑" panose="020B0503020204020204" charset="-122"/>
                <a:cs typeface="微软雅黑" panose="020B0503020204020204" charset="-122"/>
              </a:rPr>
              <a:t>服务和状态从 A 的服务器搬到 B</a:t>
            </a:r>
            <a:endParaRPr sz="1400" b="1">
              <a:solidFill>
                <a:srgbClr val="B84A24"/>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685800" y="4381500"/>
            <a:ext cx="9297670" cy="1050290"/>
          </a:xfrm>
          <a:prstGeom prst="roundRect">
            <a:avLst>
              <a:gd name="adj" fmla="val 8511"/>
            </a:avLst>
          </a:prstGeom>
          <a:solidFill>
            <a:srgbClr val="F6EEDC"/>
          </a:solidFill>
          <a:ln w="9525">
            <a:solidFill>
              <a:srgbClr val="D7B56A"/>
            </a:solidFill>
            <a:prstDash val="solid"/>
          </a:ln>
        </p:spPr>
      </p:sp>
      <p:sp>
        <p:nvSpPr>
          <p:cNvPr id="17" name="矩形 16"/>
          <p:cNvSpPr>
            <a:spLocks noGrp="1"/>
          </p:cNvSpPr>
          <p:nvPr/>
        </p:nvSpPr>
        <p:spPr>
          <a:xfrm>
            <a:off x="914400" y="4552950"/>
            <a:ext cx="8839835" cy="552450"/>
          </a:xfrm>
          <a:prstGeom prst="rect">
            <a:avLst/>
          </a:prstGeom>
          <a:noFill/>
          <a:ln w="0">
            <a:noFill/>
            <a:prstDash val="solid"/>
          </a:ln>
        </p:spPr>
        <p:txBody>
          <a:bodyPr wrap="square" lIns="0" tIns="0" rIns="0" bIns="0" anchor="t">
            <a:noAutofit/>
          </a:bodyPr>
          <a:lstStyle>
            <a:defPPr algn="l">
              <a:defRPr sz="120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40000"/>
              </a:lnSpc>
              <a:buNone/>
              <a:defRPr sz="1200" b="0">
                <a:solidFill>
                  <a:srgbClr val="1B1B19"/>
                </a:solidFill>
                <a:latin typeface="微软雅黑" panose="020B0503020204020204" charset="-122"/>
                <a:ea typeface="微软雅黑" panose="020B0503020204020204" charset="-122"/>
                <a:cs typeface="微软雅黑" panose="020B0503020204020204" charset="-122"/>
              </a:defRPr>
            </a:pPr>
            <a:r>
              <a:rPr sz="1600" b="1">
                <a:solidFill>
                  <a:srgbClr val="1B1B19"/>
                </a:solidFill>
                <a:latin typeface="微软雅黑" panose="020B0503020204020204" charset="-122"/>
                <a:ea typeface="微软雅黑" panose="020B0503020204020204" charset="-122"/>
                <a:cs typeface="微软雅黑" panose="020B0503020204020204" charset="-122"/>
              </a:rPr>
              <a:t>这两件事可以不同步。车已经连到 B，但服务状态还在 A，就会出现用户看到卡顿或失败，本质上是服务连续性被破坏。</a:t>
            </a:r>
            <a:endParaRPr sz="16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685800" y="5772150"/>
            <a:ext cx="10820400" cy="9525"/>
          </a:xfrm>
          <a:prstGeom prst="rect">
            <a:avLst/>
          </a:prstGeom>
          <a:solidFill>
            <a:srgbClr val="D9D9D1"/>
          </a:solidFill>
          <a:ln w="0">
            <a:noFill/>
            <a:prstDash val="solid"/>
          </a:ln>
        </p:spPr>
      </p:sp>
      <p:sp>
        <p:nvSpPr>
          <p:cNvPr id="20" name="矩形 19"/>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800" b="1">
                <a:solidFill>
                  <a:srgbClr val="0F5B5B"/>
                </a:solidFill>
                <a:latin typeface="微软雅黑" panose="020B0503020204020204" charset="-122"/>
                <a:ea typeface="微软雅黑" panose="020B0503020204020204" charset="-122"/>
                <a:cs typeface="微软雅黑" panose="020B0503020204020204" charset="-122"/>
              </a:rPr>
              <a:t>handover 是“车换基站”，migration 是“服务换服务器”</a:t>
            </a:r>
            <a:endParaRPr sz="1800"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800">
                <a:sym typeface="+mn-ea"/>
              </a:rPr>
              <a:t>用户感</a:t>
            </a:r>
            <a:r>
              <a:rPr lang="zh-CN" sz="2800">
                <a:sym typeface="+mn-ea"/>
              </a:rPr>
              <a:t>知</a:t>
            </a:r>
            <a:r>
              <a:rPr sz="2800">
                <a:sym typeface="+mn-ea"/>
              </a:rPr>
              <a:t>的中断</a:t>
            </a:r>
            <a:endParaRPr sz="28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sp>
        <p:nvSpPr>
          <p:cNvPr id="4" name="矩形 3"/>
          <p:cNvSpPr>
            <a:spLocks noGrp="1"/>
          </p:cNvSpPr>
          <p:nvPr/>
        </p:nvSpPr>
        <p:spPr>
          <a:xfrm>
            <a:off x="781050" y="2152650"/>
            <a:ext cx="2266950" cy="514350"/>
          </a:xfrm>
          <a:prstGeom prst="rect">
            <a:avLst/>
          </a:prstGeom>
          <a:solidFill>
            <a:srgbClr val="0F5B5B"/>
          </a:solidFill>
          <a:ln w="0">
            <a:noFill/>
            <a:prstDash val="solid"/>
          </a:ln>
        </p:spPr>
      </p:sp>
      <p:sp>
        <p:nvSpPr>
          <p:cNvPr id="5" name="矩形 4"/>
          <p:cNvSpPr>
            <a:spLocks noGrp="1"/>
          </p:cNvSpPr>
          <p:nvPr/>
        </p:nvSpPr>
        <p:spPr>
          <a:xfrm>
            <a:off x="895350" y="2286000"/>
            <a:ext cx="2038350" cy="285750"/>
          </a:xfrm>
          <a:prstGeom prst="rect">
            <a:avLst/>
          </a:prstGeom>
          <a:noFill/>
          <a:ln w="0">
            <a:noFill/>
            <a:prstDash val="solid"/>
          </a:ln>
        </p:spPr>
        <p:txBody>
          <a:bodyPr wrap="square" lIns="0" tIns="0" rIns="0" bIns="0" anchor="t">
            <a:noAutofit/>
          </a:bodyPr>
          <a:lstStyle>
            <a:defPPr algn="ctr">
              <a:defRPr sz="1050" b="1">
                <a:solidFill>
                  <a:srgbClr val="1B1B19"/>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1050" b="1">
                <a:solidFill>
                  <a:srgbClr val="1B1B19"/>
                </a:solidFill>
                <a:latin typeface="微软雅黑" panose="020B0503020204020204" charset="-122"/>
                <a:ea typeface="微软雅黑" panose="020B0503020204020204" charset="-122"/>
                <a:cs typeface="微软雅黑" panose="020B0503020204020204" charset="-122"/>
              </a:defRPr>
            </a:pPr>
            <a:r>
              <a:rPr sz="1600">
                <a:solidFill>
                  <a:srgbClr val="1B1B19"/>
                </a:solidFill>
                <a:latin typeface="微软雅黑" panose="020B0503020204020204" charset="-122"/>
                <a:ea typeface="微软雅黑" panose="020B0503020204020204" charset="-122"/>
                <a:cs typeface="微软雅黑" panose="020B0503020204020204" charset="-122"/>
              </a:rPr>
              <a:t>1  建立快照</a:t>
            </a:r>
            <a:endParaRPr sz="160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781050" y="2838450"/>
            <a:ext cx="2152650" cy="704850"/>
          </a:xfrm>
          <a:prstGeom prst="rect">
            <a:avLst/>
          </a:prstGeom>
          <a:noFill/>
          <a:ln w="0">
            <a:noFill/>
            <a:prstDash val="solid"/>
          </a:ln>
        </p:spPr>
        <p:txBody>
          <a:bodyPr wrap="square" lIns="0" tIns="0" rIns="0" bIns="0" anchor="t">
            <a:noAutofit/>
          </a:bodyPr>
          <a:lstStyle>
            <a:defPPr algn="l">
              <a:defRPr sz="97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5000"/>
              </a:lnSpc>
              <a:buNone/>
              <a:defRPr sz="97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确定要从源节点搬哪些状态。</a:t>
            </a:r>
            <a:endParaRPr sz="14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3048000" y="2152650"/>
            <a:ext cx="2590800" cy="514350"/>
          </a:xfrm>
          <a:prstGeom prst="rect">
            <a:avLst/>
          </a:prstGeom>
          <a:solidFill>
            <a:srgbClr val="0F5B5B"/>
          </a:solidFill>
          <a:ln w="0">
            <a:noFill/>
            <a:prstDash val="solid"/>
          </a:ln>
        </p:spPr>
      </p:sp>
      <p:sp>
        <p:nvSpPr>
          <p:cNvPr id="8" name="矩形 7"/>
          <p:cNvSpPr>
            <a:spLocks noGrp="1"/>
          </p:cNvSpPr>
          <p:nvPr/>
        </p:nvSpPr>
        <p:spPr>
          <a:xfrm>
            <a:off x="3162300" y="2286000"/>
            <a:ext cx="2362200" cy="285750"/>
          </a:xfrm>
          <a:prstGeom prst="rect">
            <a:avLst/>
          </a:prstGeom>
          <a:noFill/>
          <a:ln w="0">
            <a:noFill/>
            <a:prstDash val="solid"/>
          </a:ln>
        </p:spPr>
        <p:txBody>
          <a:bodyPr wrap="square" lIns="0" tIns="0" rIns="0" bIns="0" anchor="t">
            <a:noAutofit/>
          </a:bodyPr>
          <a:lstStyle>
            <a:defPPr algn="ctr">
              <a:defRPr sz="1050" b="1">
                <a:solidFill>
                  <a:srgbClr val="1B1B19"/>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1050" b="1">
                <a:solidFill>
                  <a:srgbClr val="1B1B19"/>
                </a:solidFill>
                <a:latin typeface="微软雅黑" panose="020B0503020204020204" charset="-122"/>
                <a:ea typeface="微软雅黑" panose="020B0503020204020204" charset="-122"/>
                <a:cs typeface="微软雅黑" panose="020B0503020204020204" charset="-122"/>
              </a:defRPr>
            </a:pPr>
            <a:r>
              <a:rPr sz="1600">
                <a:solidFill>
                  <a:srgbClr val="1B1B19"/>
                </a:solidFill>
                <a:latin typeface="微软雅黑" panose="020B0503020204020204" charset="-122"/>
                <a:ea typeface="微软雅黑" panose="020B0503020204020204" charset="-122"/>
                <a:cs typeface="微软雅黑" panose="020B0503020204020204" charset="-122"/>
              </a:rPr>
              <a:t>2  批量传输</a:t>
            </a:r>
            <a:endParaRPr sz="160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3048000" y="2838450"/>
            <a:ext cx="2476500" cy="704850"/>
          </a:xfrm>
          <a:prstGeom prst="rect">
            <a:avLst/>
          </a:prstGeom>
          <a:noFill/>
          <a:ln w="0">
            <a:noFill/>
            <a:prstDash val="solid"/>
          </a:ln>
        </p:spPr>
        <p:txBody>
          <a:bodyPr wrap="square" lIns="0" tIns="0" rIns="0" bIns="0" anchor="t">
            <a:noAutofit/>
          </a:bodyPr>
          <a:lstStyle>
            <a:defPPr algn="l">
              <a:defRPr sz="97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5000"/>
              </a:lnSpc>
              <a:buNone/>
              <a:defRPr sz="97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源节点继续服务，后台把主体数据送过去。</a:t>
            </a:r>
            <a:endParaRPr sz="14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5638800" y="2152650"/>
            <a:ext cx="1524000" cy="514350"/>
          </a:xfrm>
          <a:prstGeom prst="rect">
            <a:avLst/>
          </a:prstGeom>
          <a:solidFill>
            <a:srgbClr val="B84A24"/>
          </a:solidFill>
          <a:ln w="0">
            <a:noFill/>
            <a:prstDash val="solid"/>
          </a:ln>
        </p:spPr>
      </p:sp>
      <p:sp>
        <p:nvSpPr>
          <p:cNvPr id="11" name="矩形 10"/>
          <p:cNvSpPr>
            <a:spLocks noGrp="1"/>
          </p:cNvSpPr>
          <p:nvPr/>
        </p:nvSpPr>
        <p:spPr>
          <a:xfrm>
            <a:off x="5753100" y="2286000"/>
            <a:ext cx="1295400" cy="285750"/>
          </a:xfrm>
          <a:prstGeom prst="rect">
            <a:avLst/>
          </a:prstGeom>
          <a:noFill/>
          <a:ln w="0">
            <a:noFill/>
            <a:prstDash val="solid"/>
          </a:ln>
        </p:spPr>
        <p:txBody>
          <a:bodyPr wrap="square" lIns="0" tIns="0" rIns="0" bIns="0" anchor="t">
            <a:noAutofit/>
          </a:bodyPr>
          <a:lstStyle>
            <a:defPPr algn="ctr">
              <a:defRPr sz="1050" b="1">
                <a:solidFill>
                  <a:srgbClr val="1B1B19"/>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1050" b="1">
                <a:solidFill>
                  <a:srgbClr val="1B1B19"/>
                </a:solidFill>
                <a:latin typeface="微软雅黑" panose="020B0503020204020204" charset="-122"/>
                <a:ea typeface="微软雅黑" panose="020B0503020204020204" charset="-122"/>
                <a:cs typeface="微软雅黑" panose="020B0503020204020204" charset="-122"/>
              </a:defRPr>
            </a:pPr>
            <a:r>
              <a:rPr sz="1600">
                <a:solidFill>
                  <a:srgbClr val="1B1B19"/>
                </a:solidFill>
                <a:latin typeface="微软雅黑" panose="020B0503020204020204" charset="-122"/>
                <a:ea typeface="微软雅黑" panose="020B0503020204020204" charset="-122"/>
                <a:cs typeface="微软雅黑" panose="020B0503020204020204" charset="-122"/>
              </a:rPr>
              <a:t>3  最后切换</a:t>
            </a:r>
            <a:endParaRPr sz="160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5638800" y="2838450"/>
            <a:ext cx="1409700" cy="704850"/>
          </a:xfrm>
          <a:prstGeom prst="rect">
            <a:avLst/>
          </a:prstGeom>
          <a:noFill/>
          <a:ln w="0">
            <a:noFill/>
            <a:prstDash val="solid"/>
          </a:ln>
        </p:spPr>
        <p:txBody>
          <a:bodyPr wrap="square" lIns="0" tIns="0" rIns="0" bIns="0" anchor="t">
            <a:noAutofit/>
          </a:bodyPr>
          <a:lstStyle>
            <a:defPPr algn="l">
              <a:defRPr sz="97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5000"/>
              </a:lnSpc>
              <a:buNone/>
              <a:defRPr sz="97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短暂停止服务，冻结最后的小变化。</a:t>
            </a:r>
            <a:endParaRPr sz="14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162800" y="2152650"/>
            <a:ext cx="3162300" cy="514350"/>
          </a:xfrm>
          <a:prstGeom prst="rect">
            <a:avLst/>
          </a:prstGeom>
          <a:solidFill>
            <a:srgbClr val="B84A24"/>
          </a:solidFill>
          <a:ln w="0">
            <a:noFill/>
            <a:prstDash val="solid"/>
          </a:ln>
        </p:spPr>
      </p:sp>
      <p:sp>
        <p:nvSpPr>
          <p:cNvPr id="14" name="矩形 13"/>
          <p:cNvSpPr>
            <a:spLocks noGrp="1"/>
          </p:cNvSpPr>
          <p:nvPr/>
        </p:nvSpPr>
        <p:spPr>
          <a:xfrm>
            <a:off x="7277100" y="2286000"/>
            <a:ext cx="2933700" cy="285750"/>
          </a:xfrm>
          <a:prstGeom prst="rect">
            <a:avLst/>
          </a:prstGeom>
          <a:noFill/>
          <a:ln w="0">
            <a:noFill/>
            <a:prstDash val="solid"/>
          </a:ln>
        </p:spPr>
        <p:txBody>
          <a:bodyPr wrap="square" lIns="0" tIns="0" rIns="0" bIns="0" anchor="t">
            <a:noAutofit/>
          </a:bodyPr>
          <a:lstStyle>
            <a:defPPr algn="ctr">
              <a:defRPr sz="1050" b="1">
                <a:solidFill>
                  <a:srgbClr val="1B1B19"/>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1050" b="1">
                <a:solidFill>
                  <a:srgbClr val="1B1B19"/>
                </a:solidFill>
                <a:latin typeface="微软雅黑" panose="020B0503020204020204" charset="-122"/>
                <a:ea typeface="微软雅黑" panose="020B0503020204020204" charset="-122"/>
                <a:cs typeface="微软雅黑" panose="020B0503020204020204" charset="-122"/>
              </a:defRPr>
            </a:pPr>
            <a:r>
              <a:rPr sz="1600">
                <a:solidFill>
                  <a:srgbClr val="1B1B19"/>
                </a:solidFill>
                <a:latin typeface="微软雅黑" panose="020B0503020204020204" charset="-122"/>
                <a:ea typeface="微软雅黑" panose="020B0503020204020204" charset="-122"/>
                <a:cs typeface="微软雅黑" panose="020B0503020204020204" charset="-122"/>
              </a:rPr>
              <a:t>4  应用与恢复</a:t>
            </a:r>
            <a:endParaRPr sz="160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7162800" y="2838450"/>
            <a:ext cx="3048000" cy="704850"/>
          </a:xfrm>
          <a:prstGeom prst="rect">
            <a:avLst/>
          </a:prstGeom>
          <a:noFill/>
          <a:ln w="0">
            <a:noFill/>
            <a:prstDash val="solid"/>
          </a:ln>
        </p:spPr>
        <p:txBody>
          <a:bodyPr wrap="square" lIns="0" tIns="0" rIns="0" bIns="0" anchor="t">
            <a:noAutofit/>
          </a:bodyPr>
          <a:lstStyle>
            <a:defPPr algn="l">
              <a:defRPr sz="97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5000"/>
              </a:lnSpc>
              <a:buNone/>
              <a:defRPr sz="975" b="0">
                <a:solidFill>
                  <a:srgbClr val="5F5F58"/>
                </a:solidFill>
                <a:latin typeface="微软雅黑" panose="020B0503020204020204" charset="-122"/>
                <a:ea typeface="微软雅黑" panose="020B0503020204020204" charset="-122"/>
                <a:cs typeface="微软雅黑" panose="020B0503020204020204" charset="-122"/>
              </a:defRPr>
            </a:pPr>
            <a:r>
              <a:rPr sz="1400" b="1">
                <a:solidFill>
                  <a:srgbClr val="5F5F58"/>
                </a:solidFill>
                <a:latin typeface="微软雅黑" panose="020B0503020204020204" charset="-122"/>
                <a:ea typeface="微软雅黑" panose="020B0503020204020204" charset="-122"/>
                <a:cs typeface="微软雅黑" panose="020B0503020204020204" charset="-122"/>
              </a:rPr>
              <a:t>目标节点装载状态、重启组件，真正接手。</a:t>
            </a:r>
            <a:endParaRPr sz="14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781050" y="3638550"/>
            <a:ext cx="2095500" cy="266700"/>
          </a:xfrm>
          <a:prstGeom prst="rect">
            <a:avLst/>
          </a:prstGeom>
          <a:noFill/>
          <a:ln w="0">
            <a:noFill/>
            <a:prstDash val="solid"/>
          </a:ln>
        </p:spPr>
        <p:txBody>
          <a:bodyPr wrap="square" lIns="0" tIns="0" rIns="0" bIns="0" anchor="t">
            <a:noAutofit/>
          </a:bodyPr>
          <a:lstStyle>
            <a:defPPr algn="l">
              <a:defRPr sz="1125"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125" b="1">
                <a:solidFill>
                  <a:srgbClr val="1B1B19"/>
                </a:solidFill>
                <a:latin typeface="微软雅黑" panose="020B0503020204020204" charset="-122"/>
                <a:ea typeface="微软雅黑" panose="020B0503020204020204" charset="-122"/>
                <a:cs typeface="微软雅黑" panose="020B0503020204020204" charset="-122"/>
              </a:defRPr>
            </a:pPr>
            <a:r>
              <a:rPr sz="1600">
                <a:solidFill>
                  <a:srgbClr val="1B1B19"/>
                </a:solidFill>
                <a:latin typeface="微软雅黑" panose="020B0503020204020204" charset="-122"/>
                <a:ea typeface="微软雅黑" panose="020B0503020204020204" charset="-122"/>
                <a:cs typeface="微软雅黑" panose="020B0503020204020204" charset="-122"/>
              </a:rPr>
              <a:t>用户侧是否可用</a:t>
            </a:r>
            <a:endParaRPr sz="160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781050" y="4000500"/>
            <a:ext cx="4857750" cy="285750"/>
          </a:xfrm>
          <a:prstGeom prst="rect">
            <a:avLst/>
          </a:prstGeom>
          <a:solidFill>
            <a:srgbClr val="E7F0EE"/>
          </a:solidFill>
          <a:ln w="0">
            <a:noFill/>
            <a:prstDash val="solid"/>
          </a:ln>
        </p:spPr>
      </p:sp>
      <p:sp>
        <p:nvSpPr>
          <p:cNvPr id="18" name="矩形 17"/>
          <p:cNvSpPr>
            <a:spLocks noGrp="1"/>
          </p:cNvSpPr>
          <p:nvPr/>
        </p:nvSpPr>
        <p:spPr>
          <a:xfrm>
            <a:off x="990600" y="4048125"/>
            <a:ext cx="4438650" cy="190500"/>
          </a:xfrm>
          <a:prstGeom prst="rect">
            <a:avLst/>
          </a:prstGeom>
          <a:noFill/>
          <a:ln w="0">
            <a:noFill/>
            <a:prstDash val="solid"/>
          </a:ln>
        </p:spPr>
        <p:txBody>
          <a:bodyPr wrap="square" lIns="0" tIns="0" rIns="0" bIns="0" anchor="t">
            <a:noAutofit/>
          </a:bodyPr>
          <a:lstStyle>
            <a:defPPr algn="ctr">
              <a:defRPr sz="975" b="1">
                <a:solidFill>
                  <a:srgbClr val="0F5B5B"/>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975" b="1">
                <a:solidFill>
                  <a:srgbClr val="0F5B5B"/>
                </a:solidFill>
                <a:latin typeface="微软雅黑" panose="020B0503020204020204" charset="-122"/>
                <a:ea typeface="微软雅黑" panose="020B0503020204020204" charset="-122"/>
                <a:cs typeface="微软雅黑" panose="020B0503020204020204" charset="-122"/>
              </a:defRPr>
            </a:pPr>
            <a:r>
              <a:rPr sz="1400">
                <a:solidFill>
                  <a:srgbClr val="0F5B5B"/>
                </a:solidFill>
                <a:latin typeface="微软雅黑" panose="020B0503020204020204" charset="-122"/>
                <a:ea typeface="微软雅黑" panose="020B0503020204020204" charset="-122"/>
                <a:cs typeface="微软雅黑" panose="020B0503020204020204" charset="-122"/>
              </a:rPr>
              <a:t>源节点继续提供服务</a:t>
            </a:r>
            <a:endParaRPr sz="1400">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5638800" y="4000500"/>
            <a:ext cx="4686300" cy="285750"/>
          </a:xfrm>
          <a:prstGeom prst="rect">
            <a:avLst/>
          </a:prstGeom>
          <a:solidFill>
            <a:srgbClr val="F7E8E2"/>
          </a:solidFill>
          <a:ln w="0">
            <a:noFill/>
            <a:prstDash val="solid"/>
          </a:ln>
        </p:spPr>
      </p:sp>
      <p:sp>
        <p:nvSpPr>
          <p:cNvPr id="20" name="矩形 19"/>
          <p:cNvSpPr>
            <a:spLocks noGrp="1"/>
          </p:cNvSpPr>
          <p:nvPr/>
        </p:nvSpPr>
        <p:spPr>
          <a:xfrm>
            <a:off x="5848350" y="4048125"/>
            <a:ext cx="4267200" cy="190500"/>
          </a:xfrm>
          <a:prstGeom prst="rect">
            <a:avLst/>
          </a:prstGeom>
          <a:noFill/>
          <a:ln w="0">
            <a:noFill/>
            <a:prstDash val="solid"/>
          </a:ln>
        </p:spPr>
        <p:txBody>
          <a:bodyPr wrap="square" lIns="0" tIns="0" rIns="0" bIns="0" anchor="t">
            <a:noAutofit/>
          </a:bodyPr>
          <a:lstStyle>
            <a:defPPr algn="ctr">
              <a:defRPr sz="975" b="1">
                <a:solidFill>
                  <a:srgbClr val="B84A24"/>
                </a:solidFill>
                <a:latin typeface="微软雅黑" panose="020B0503020204020204" charset="-122"/>
                <a:ea typeface="微软雅黑" panose="020B0503020204020204" charset="-122"/>
                <a:cs typeface="微软雅黑" panose="020B0503020204020204" charset="-122"/>
              </a:defRPr>
            </a:defPPr>
          </a:lstStyle>
          <a:p>
            <a:pPr algn="ctr">
              <a:lnSpc>
                <a:spcPct val="128000"/>
              </a:lnSpc>
              <a:buNone/>
              <a:defRPr sz="975" b="1">
                <a:solidFill>
                  <a:srgbClr val="B84A24"/>
                </a:solidFill>
                <a:latin typeface="微软雅黑" panose="020B0503020204020204" charset="-122"/>
                <a:ea typeface="微软雅黑" panose="020B0503020204020204" charset="-122"/>
                <a:cs typeface="微软雅黑" panose="020B0503020204020204" charset="-122"/>
              </a:defRPr>
            </a:pPr>
            <a:r>
              <a:rPr sz="1400">
                <a:solidFill>
                  <a:srgbClr val="B84A24"/>
                </a:solidFill>
                <a:latin typeface="微软雅黑" panose="020B0503020204020204" charset="-122"/>
                <a:ea typeface="微软雅黑" panose="020B0503020204020204" charset="-122"/>
                <a:cs typeface="微软雅黑" panose="020B0503020204020204" charset="-122"/>
              </a:rPr>
              <a:t>最后切换 + 恢复：不可用窗口</a:t>
            </a:r>
            <a:endParaRPr sz="1400">
              <a:solidFill>
                <a:srgbClr val="B84A24"/>
              </a:solidFill>
              <a:latin typeface="微软雅黑" panose="020B0503020204020204" charset="-122"/>
              <a:ea typeface="微软雅黑" panose="020B0503020204020204" charset="-122"/>
              <a:cs typeface="微软雅黑" panose="020B0503020204020204" charset="-122"/>
            </a:endParaRPr>
          </a:p>
        </p:txBody>
      </p:sp>
      <p:sp>
        <p:nvSpPr>
          <p:cNvPr id="22" name="圆角矩形 21"/>
          <p:cNvSpPr>
            <a:spLocks noGrp="1"/>
          </p:cNvSpPr>
          <p:nvPr/>
        </p:nvSpPr>
        <p:spPr>
          <a:xfrm>
            <a:off x="839470" y="4591050"/>
            <a:ext cx="7641590" cy="876300"/>
          </a:xfrm>
          <a:prstGeom prst="roundRect">
            <a:avLst>
              <a:gd name="adj" fmla="val 8696"/>
            </a:avLst>
          </a:prstGeom>
          <a:solidFill>
            <a:srgbClr val="E7F0EE"/>
          </a:solidFill>
          <a:ln w="9525">
            <a:solidFill>
              <a:srgbClr val="0F5B5B"/>
            </a:solidFill>
            <a:prstDash val="solid"/>
          </a:ln>
        </p:spPr>
      </p:sp>
      <p:sp>
        <p:nvSpPr>
          <p:cNvPr id="23" name="矩形 22"/>
          <p:cNvSpPr>
            <a:spLocks noGrp="1"/>
          </p:cNvSpPr>
          <p:nvPr/>
        </p:nvSpPr>
        <p:spPr>
          <a:xfrm>
            <a:off x="952500" y="4725035"/>
            <a:ext cx="7367270" cy="571500"/>
          </a:xfrm>
          <a:prstGeom prst="rect">
            <a:avLst/>
          </a:prstGeom>
          <a:noFill/>
          <a:ln w="0">
            <a:noFill/>
            <a:prstDash val="solid"/>
          </a:ln>
        </p:spPr>
        <p:txBody>
          <a:bodyPr wrap="square" lIns="0" tIns="0" rIns="0" bIns="0" anchor="t">
            <a:noAutofit/>
          </a:bodyPr>
          <a:lstStyle>
            <a:defPPr algn="l">
              <a:defRPr sz="108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38000"/>
              </a:lnSpc>
              <a:buNone/>
              <a:defRPr sz="1080" b="0">
                <a:solidFill>
                  <a:srgbClr val="1B1B19"/>
                </a:solidFill>
                <a:latin typeface="微软雅黑" panose="020B0503020204020204" charset="-122"/>
                <a:ea typeface="微软雅黑" panose="020B0503020204020204" charset="-122"/>
                <a:cs typeface="微软雅黑" panose="020B0503020204020204" charset="-122"/>
              </a:defRPr>
            </a:pPr>
            <a:r>
              <a:rPr sz="1600" b="1">
                <a:solidFill>
                  <a:srgbClr val="1B1B19"/>
                </a:solidFill>
                <a:latin typeface="微软雅黑" panose="020B0503020204020204" charset="-122"/>
                <a:ea typeface="微软雅黑" panose="020B0503020204020204" charset="-122"/>
                <a:cs typeface="微软雅黑" panose="020B0503020204020204" charset="-122"/>
              </a:rPr>
              <a:t>为什么不在传输期间直接让两边都接请求？</a:t>
            </a:r>
            <a:r>
              <a:rPr lang="zh-CN" sz="1600" b="1">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cs typeface="微软雅黑" panose="020B0503020204020204" charset="-122"/>
              </a:rPr>
              <a:t>（可以探究下</a:t>
            </a:r>
            <a:endParaRPr sz="1600" b="1">
              <a:solidFill>
                <a:srgbClr val="1B1B19"/>
              </a:solidFill>
              <a:latin typeface="微软雅黑" panose="020B0503020204020204" charset="-122"/>
              <a:ea typeface="微软雅黑" panose="020B0503020204020204" charset="-122"/>
              <a:cs typeface="微软雅黑" panose="020B0503020204020204" charset="-122"/>
            </a:endParaRPr>
          </a:p>
          <a:p>
            <a:pPr algn="l">
              <a:lnSpc>
                <a:spcPct val="138000"/>
              </a:lnSpc>
              <a:buNone/>
              <a:defRPr sz="1080" b="0">
                <a:solidFill>
                  <a:srgbClr val="1B1B19"/>
                </a:solidFill>
                <a:latin typeface="微软雅黑" panose="020B0503020204020204" charset="-122"/>
                <a:ea typeface="微软雅黑" panose="020B0503020204020204" charset="-122"/>
                <a:cs typeface="微软雅黑" panose="020B0503020204020204" charset="-122"/>
              </a:defRPr>
            </a:pPr>
            <a:r>
              <a:rPr sz="1600" b="1">
                <a:solidFill>
                  <a:srgbClr val="1B1B19"/>
                </a:solidFill>
                <a:latin typeface="微软雅黑" panose="020B0503020204020204" charset="-122"/>
                <a:ea typeface="微软雅黑" panose="020B0503020204020204" charset="-122"/>
                <a:cs typeface="微软雅黑" panose="020B0503020204020204" charset="-122"/>
              </a:rPr>
              <a:t>两边会同时修改状态，产生冲突。最后切换就是保证只有一个正式版本</a:t>
            </a:r>
            <a:endParaRPr lang="zh-CN" sz="16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685800" y="5772150"/>
            <a:ext cx="10820400" cy="9525"/>
          </a:xfrm>
          <a:prstGeom prst="rect">
            <a:avLst/>
          </a:prstGeom>
          <a:solidFill>
            <a:srgbClr val="D9D9D1"/>
          </a:solidFill>
          <a:ln w="0">
            <a:noFill/>
            <a:prstDash val="solid"/>
          </a:ln>
        </p:spPr>
      </p:sp>
      <p:sp>
        <p:nvSpPr>
          <p:cNvPr id="25" name="矩形 24"/>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800" b="1">
                <a:solidFill>
                  <a:srgbClr val="0F5B5B"/>
                </a:solidFill>
                <a:latin typeface="微软雅黑" panose="020B0503020204020204" charset="-122"/>
                <a:ea typeface="微软雅黑" panose="020B0503020204020204" charset="-122"/>
                <a:cs typeface="微软雅黑" panose="020B0503020204020204" charset="-122"/>
              </a:rPr>
              <a:t>预复制（pre-copy）减少中断，但最后切换和恢复仍然要付出用户等待。</a:t>
            </a:r>
            <a:endParaRPr sz="1800"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800">
                <a:solidFill>
                  <a:srgbClr val="1B1B19"/>
                </a:solidFill>
                <a:latin typeface="微软雅黑" panose="020B0503020204020204" charset="-122"/>
                <a:ea typeface="微软雅黑" panose="020B0503020204020204" charset="-122"/>
                <a:cs typeface="微软雅黑" panose="020B0503020204020204" charset="-122"/>
              </a:rPr>
              <a:t>四类 MEC 服务</a:t>
            </a:r>
            <a:endParaRPr sz="280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graphicFrame>
        <p:nvGraphicFramePr>
          <p:cNvPr id="4" name="表格 3"/>
          <p:cNvGraphicFramePr/>
          <p:nvPr/>
        </p:nvGraphicFramePr>
        <p:xfrm>
          <a:off x="685800" y="1771650"/>
          <a:ext cx="9538970" cy="3108960"/>
        </p:xfrm>
        <a:graphic>
          <a:graphicData uri="http://schemas.openxmlformats.org/drawingml/2006/table">
            <a:tbl>
              <a:tblPr/>
              <a:tblGrid>
                <a:gridCol w="1428750"/>
                <a:gridCol w="4239260"/>
                <a:gridCol w="3870960"/>
              </a:tblGrid>
              <a:tr h="451485">
                <a:tc>
                  <a:txBody>
                    <a:bodyPr/>
                    <a:lstStyle/>
                    <a:p>
                      <a:pPr indent="0" algn="ctr" eaLnBrk="1" fontAlgn="auto" latinLnBrk="0" hangingPunct="1">
                        <a:lnSpc>
                          <a:spcPct val="200000"/>
                        </a:lnSpc>
                      </a:pPr>
                      <a:r>
                        <a:rPr sz="1400" b="1"/>
                        <a:t>服务</a:t>
                      </a:r>
                      <a:endParaRPr sz="1400" b="1"/>
                    </a:p>
                  </a:txBody>
                  <a:tcPr>
                    <a:lnL>
                      <a:noFill/>
                    </a:lnL>
                    <a:lnR w="12700">
                      <a:solidFill>
                        <a:schemeClr val="tx1"/>
                      </a:solidFill>
                      <a:prstDash val="solid"/>
                    </a:lnR>
                    <a:lnT>
                      <a:noFill/>
                    </a:lnT>
                    <a:lnB w="12700">
                      <a:solidFill>
                        <a:schemeClr val="tx1"/>
                      </a:solidFill>
                      <a:prstDash val="solid"/>
                    </a:lnB>
                    <a:lnTlToBr>
                      <a:noFill/>
                    </a:lnTlToBr>
                    <a:lnBlToTr>
                      <a:noFill/>
                    </a:lnBlToTr>
                    <a:noFill/>
                  </a:tcPr>
                </a:tc>
                <a:tc>
                  <a:txBody>
                    <a:bodyPr/>
                    <a:lstStyle/>
                    <a:p>
                      <a:pPr indent="0" algn="ctr" eaLnBrk="1" fontAlgn="auto" latinLnBrk="0" hangingPunct="1">
                        <a:lnSpc>
                          <a:spcPct val="200000"/>
                        </a:lnSpc>
                      </a:pPr>
                      <a:r>
                        <a:rPr sz="1400" b="1"/>
                        <a:t>边缘侧</a:t>
                      </a:r>
                      <a:r>
                        <a:rPr lang="zh-CN" sz="1400" b="1"/>
                        <a:t>做</a:t>
                      </a:r>
                      <a:r>
                        <a:rPr sz="1400" b="1"/>
                        <a:t>什么</a:t>
                      </a:r>
                      <a:endParaRPr sz="1400" b="1"/>
                    </a:p>
                  </a:txBody>
                  <a:tcPr>
                    <a:lnL w="12700">
                      <a:solidFill>
                        <a:schemeClr val="tx1"/>
                      </a:solidFill>
                      <a:prstDash val="solid"/>
                    </a:lnL>
                    <a:lnR w="12700">
                      <a:solidFill>
                        <a:schemeClr val="tx1"/>
                      </a:solidFill>
                      <a:prstDash val="solid"/>
                    </a:lnR>
                    <a:lnT>
                      <a:noFill/>
                    </a:lnT>
                    <a:lnB w="12700">
                      <a:solidFill>
                        <a:schemeClr val="tx1"/>
                      </a:solidFill>
                      <a:prstDash val="solid"/>
                    </a:lnB>
                    <a:lnTlToBr>
                      <a:noFill/>
                    </a:lnTlToBr>
                    <a:lnBlToTr>
                      <a:noFill/>
                    </a:lnBlToTr>
                    <a:noFill/>
                  </a:tcPr>
                </a:tc>
                <a:tc>
                  <a:txBody>
                    <a:bodyPr/>
                    <a:lstStyle/>
                    <a:p>
                      <a:pPr indent="0" algn="ctr" eaLnBrk="1" fontAlgn="auto" latinLnBrk="0" hangingPunct="1">
                        <a:lnSpc>
                          <a:spcPct val="200000"/>
                        </a:lnSpc>
                      </a:pPr>
                      <a:r>
                        <a:rPr lang="zh-CN" sz="1400" b="1"/>
                        <a:t>迁移</a:t>
                      </a:r>
                      <a:r>
                        <a:rPr sz="1400" b="1"/>
                        <a:t>的状态</a:t>
                      </a:r>
                      <a:endParaRPr sz="1400" b="1"/>
                    </a:p>
                  </a:txBody>
                  <a:tcPr>
                    <a:lnL w="12700">
                      <a:solidFill>
                        <a:schemeClr val="tx1"/>
                      </a:solidFill>
                      <a:prstDash val="solid"/>
                    </a:lnL>
                    <a:lnR>
                      <a:noFill/>
                    </a:lnR>
                    <a:lnT>
                      <a:noFill/>
                    </a:lnT>
                    <a:lnB w="12700">
                      <a:solidFill>
                        <a:schemeClr val="tx1"/>
                      </a:solidFill>
                      <a:prstDash val="solid"/>
                    </a:lnB>
                    <a:lnTlToBr>
                      <a:noFill/>
                    </a:lnTlToBr>
                    <a:lnBlToTr>
                      <a:noFill/>
                    </a:lnBlToTr>
                    <a:noFill/>
                  </a:tcPr>
                </a:tc>
              </a:tr>
              <a:tr h="431165">
                <a:tc>
                  <a:txBody>
                    <a:bodyPr/>
                    <a:lstStyle/>
                    <a:p>
                      <a:pPr indent="0" algn="ctr" eaLnBrk="1" fontAlgn="auto" latinLnBrk="0" hangingPunct="1">
                        <a:lnSpc>
                          <a:spcPct val="200000"/>
                        </a:lnSpc>
                      </a:pPr>
                      <a:r>
                        <a:rPr lang="zh-CN" sz="1400" b="1">
                          <a:solidFill>
                            <a:srgbClr val="1B1B19"/>
                          </a:solidFill>
                        </a:rPr>
                        <a:t>车辆</a:t>
                      </a:r>
                      <a:r>
                        <a:rPr sz="1400" b="1">
                          <a:solidFill>
                            <a:srgbClr val="1B1B19"/>
                          </a:solidFill>
                        </a:rPr>
                        <a:t>告警</a:t>
                      </a:r>
                      <a:endParaRPr sz="14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indent="0" algn="ctr" eaLnBrk="1" fontAlgn="auto" latinLnBrk="0" hangingPunct="1">
                        <a:lnSpc>
                          <a:spcPct val="200000"/>
                        </a:lnSpc>
                      </a:pPr>
                      <a:r>
                        <a:rPr sz="1400" b="0">
                          <a:solidFill>
                            <a:srgbClr val="1B1B19"/>
                          </a:solidFill>
                        </a:rPr>
                        <a:t>匹配区域规则，返回碰撞、限速或风险告警</a:t>
                      </a:r>
                      <a:endParaRPr sz="1400" b="0">
                        <a:solidFill>
                          <a:srgbClr val="1B1B19"/>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indent="0" algn="ctr" eaLnBrk="1" fontAlgn="auto" latinLnBrk="0" hangingPunct="1">
                        <a:lnSpc>
                          <a:spcPct val="200000"/>
                        </a:lnSpc>
                      </a:pPr>
                      <a:r>
                        <a:rPr sz="1400" b="0">
                          <a:solidFill>
                            <a:srgbClr val="1B1B19"/>
                          </a:solidFill>
                        </a:rPr>
                        <a:t>事件上下文和已触发规则</a:t>
                      </a:r>
                      <a:endParaRPr sz="1400" b="0">
                        <a:solidFill>
                          <a:srgbClr val="1B1B19"/>
                        </a:solidFill>
                      </a:endParaRPr>
                    </a:p>
                  </a:txBody>
                  <a:tcPr>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tcPr>
                </a:tc>
              </a:tr>
              <a:tr h="0">
                <a:tc>
                  <a:txBody>
                    <a:bodyPr/>
                    <a:p>
                      <a:pPr indent="0" algn="ctr" eaLnBrk="1" fontAlgn="auto" latinLnBrk="0" hangingPunct="1">
                        <a:lnSpc>
                          <a:spcPct val="200000"/>
                        </a:lnSpc>
                      </a:pPr>
                      <a:r>
                        <a:rPr sz="1400" b="1">
                          <a:solidFill>
                            <a:srgbClr val="1B1B19"/>
                          </a:solidFill>
                        </a:rPr>
                        <a:t>导航</a:t>
                      </a:r>
                      <a:endParaRPr sz="14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lgn="ctr" eaLnBrk="1" fontAlgn="auto" latinLnBrk="0" hangingPunct="1">
                        <a:lnSpc>
                          <a:spcPct val="200000"/>
                        </a:lnSpc>
                      </a:pPr>
                      <a:r>
                        <a:rPr sz="1400" b="0">
                          <a:solidFill>
                            <a:srgbClr val="1B1B19"/>
                          </a:solidFill>
                        </a:rPr>
                        <a:t>结合路况重新规划路径，返回下一步路线和提示</a:t>
                      </a:r>
                      <a:endParaRPr sz="1400" b="0">
                        <a:solidFill>
                          <a:srgbClr val="1B1B19"/>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lgn="ctr" eaLnBrk="1" fontAlgn="auto" latinLnBrk="0" hangingPunct="1">
                        <a:lnSpc>
                          <a:spcPct val="200000"/>
                        </a:lnSpc>
                      </a:pPr>
                      <a:r>
                        <a:rPr sz="1400" b="0">
                          <a:solidFill>
                            <a:srgbClr val="1B1B19"/>
                          </a:solidFill>
                        </a:rPr>
                        <a:t>目的地、当前路线、最近一次规划结果</a:t>
                      </a:r>
                      <a:endParaRPr sz="1400" b="0">
                        <a:solidFill>
                          <a:srgbClr val="1B1B19"/>
                        </a:solidFill>
                      </a:endParaRPr>
                    </a:p>
                  </a:txBody>
                  <a:tcPr>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0">
                <a:tc>
                  <a:txBody>
                    <a:bodyPr/>
                    <a:lstStyle/>
                    <a:p>
                      <a:pPr indent="0" algn="ctr" eaLnBrk="1" fontAlgn="auto" latinLnBrk="0" hangingPunct="1">
                        <a:lnSpc>
                          <a:spcPct val="200000"/>
                        </a:lnSpc>
                      </a:pPr>
                      <a:r>
                        <a:rPr sz="1400" b="1">
                          <a:solidFill>
                            <a:srgbClr val="1B1B19"/>
                          </a:solidFill>
                        </a:rPr>
                        <a:t>交通分析</a:t>
                      </a:r>
                      <a:endParaRPr sz="14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eaLnBrk="1" fontAlgn="auto" latinLnBrk="0" hangingPunct="1">
                        <a:lnSpc>
                          <a:spcPct val="200000"/>
                        </a:lnSpc>
                      </a:pPr>
                      <a:r>
                        <a:rPr sz="1400" b="0">
                          <a:solidFill>
                            <a:srgbClr val="1B1B19"/>
                          </a:solidFill>
                        </a:rPr>
                        <a:t>按时间和空间聚合，返回拥堵图或预测结果</a:t>
                      </a:r>
                      <a:endParaRPr sz="1400" b="0">
                        <a:solidFill>
                          <a:srgbClr val="1B1B19"/>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indent="0" algn="ctr" eaLnBrk="1" fontAlgn="auto" latinLnBrk="0" hangingPunct="1">
                        <a:lnSpc>
                          <a:spcPct val="200000"/>
                        </a:lnSpc>
                      </a:pPr>
                      <a:r>
                        <a:rPr sz="1400" b="0">
                          <a:solidFill>
                            <a:srgbClr val="1B1B19"/>
                          </a:solidFill>
                        </a:rPr>
                        <a:t>滑动窗口、局部模型和近期聚合数据</a:t>
                      </a:r>
                      <a:endParaRPr sz="1400" b="0">
                        <a:solidFill>
                          <a:srgbClr val="1B1B19"/>
                        </a:solidFill>
                      </a:endParaRPr>
                    </a:p>
                  </a:txBody>
                  <a:tcPr>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0">
                <a:tc>
                  <a:txBody>
                    <a:bodyPr/>
                    <a:p>
                      <a:pPr indent="0" algn="ctr" eaLnBrk="1" fontAlgn="auto" latinLnBrk="0" hangingPunct="1">
                        <a:lnSpc>
                          <a:spcPct val="200000"/>
                        </a:lnSpc>
                      </a:pPr>
                      <a:r>
                        <a:rPr sz="1400" b="1">
                          <a:solidFill>
                            <a:srgbClr val="1B1B19"/>
                          </a:solidFill>
                        </a:rPr>
                        <a:t>信息娱乐</a:t>
                      </a:r>
                      <a:endParaRPr sz="1400" b="1">
                        <a:solidFill>
                          <a:srgbClr val="1B1B19"/>
                        </a:solidFill>
                      </a:endParaRPr>
                    </a:p>
                  </a:txBody>
                  <a:tcPr>
                    <a:lnL>
                      <a:noFill/>
                    </a:lnL>
                    <a:lnR w="12700">
                      <a:solidFill>
                        <a:schemeClr val="tx1"/>
                      </a:solidFill>
                      <a:prstDash val="solid"/>
                    </a:lnR>
                    <a:lnT w="12700">
                      <a:solidFill>
                        <a:schemeClr val="tx1"/>
                      </a:solidFill>
                      <a:prstDash val="solid"/>
                    </a:lnT>
                    <a:lnB>
                      <a:noFill/>
                    </a:lnB>
                    <a:lnTlToBr>
                      <a:noFill/>
                    </a:lnTlToBr>
                    <a:lnBlToTr>
                      <a:noFill/>
                    </a:lnBlToTr>
                    <a:noFill/>
                  </a:tcPr>
                </a:tc>
                <a:tc>
                  <a:txBody>
                    <a:bodyPr/>
                    <a:p>
                      <a:pPr indent="0" algn="ctr" eaLnBrk="1" fontAlgn="auto" latinLnBrk="0" hangingPunct="1">
                        <a:lnSpc>
                          <a:spcPct val="200000"/>
                        </a:lnSpc>
                      </a:pPr>
                      <a:r>
                        <a:rPr sz="1400" b="0">
                          <a:solidFill>
                            <a:srgbClr val="1B1B19"/>
                          </a:solidFill>
                        </a:rPr>
                        <a:t>选片、转码、缓存，返回</a:t>
                      </a:r>
                      <a:r>
                        <a:rPr lang="zh-CN" sz="1400" b="0">
                          <a:solidFill>
                            <a:srgbClr val="1B1B19"/>
                          </a:solidFill>
                        </a:rPr>
                        <a:t>音</a:t>
                      </a:r>
                      <a:r>
                        <a:rPr sz="1400" b="0">
                          <a:solidFill>
                            <a:srgbClr val="1B1B19"/>
                          </a:solidFill>
                        </a:rPr>
                        <a:t>视频数据块</a:t>
                      </a:r>
                      <a:endParaRPr sz="1400" b="0">
                        <a:solidFill>
                          <a:srgbClr val="1B1B19"/>
                        </a:solidFill>
                      </a:endParaRPr>
                    </a:p>
                  </a:txBody>
                  <a:tcPr>
                    <a:lnL w="12700">
                      <a:solidFill>
                        <a:schemeClr val="tx1"/>
                      </a:solidFill>
                      <a:prstDash val="solid"/>
                    </a:lnL>
                    <a:lnR w="12700">
                      <a:solidFill>
                        <a:schemeClr val="tx1"/>
                      </a:solidFill>
                      <a:prstDash val="solid"/>
                    </a:lnR>
                    <a:lnT w="12700">
                      <a:solidFill>
                        <a:schemeClr val="tx1"/>
                      </a:solidFill>
                      <a:prstDash val="solid"/>
                    </a:lnT>
                    <a:lnB>
                      <a:noFill/>
                    </a:lnB>
                    <a:lnTlToBr>
                      <a:noFill/>
                    </a:lnTlToBr>
                    <a:lnBlToTr>
                      <a:noFill/>
                    </a:lnBlToTr>
                    <a:noFill/>
                  </a:tcPr>
                </a:tc>
                <a:tc>
                  <a:txBody>
                    <a:bodyPr/>
                    <a:p>
                      <a:pPr indent="0" algn="ctr" eaLnBrk="1" fontAlgn="auto" latinLnBrk="0" hangingPunct="1">
                        <a:lnSpc>
                          <a:spcPct val="200000"/>
                        </a:lnSpc>
                      </a:pPr>
                      <a:r>
                        <a:rPr sz="1400" b="0">
                          <a:solidFill>
                            <a:srgbClr val="1B1B19"/>
                          </a:solidFill>
                        </a:rPr>
                        <a:t>播放位置、码率、缓冲区、个性化列表</a:t>
                      </a:r>
                      <a:endParaRPr sz="1400" b="0">
                        <a:solidFill>
                          <a:srgbClr val="1B1B19"/>
                        </a:solidFill>
                      </a:endParaRPr>
                    </a:p>
                  </a:txBody>
                  <a:tcPr>
                    <a:lnL w="12700">
                      <a:solidFill>
                        <a:schemeClr val="tx1"/>
                      </a:solidFill>
                      <a:prstDash val="solid"/>
                    </a:lnL>
                    <a:lnR>
                      <a:noFill/>
                    </a:lnR>
                    <a:lnT w="12700">
                      <a:solidFill>
                        <a:schemeClr val="tx1"/>
                      </a:solidFill>
                      <a:prstDash val="solid"/>
                    </a:lnT>
                    <a:lnB>
                      <a:noFill/>
                    </a:lnB>
                    <a:lnTlToBr>
                      <a:noFill/>
                    </a:lnTlToBr>
                    <a:lnBlToTr>
                      <a:noFill/>
                    </a:lnBlToTr>
                    <a:noFill/>
                  </a:tcPr>
                </a:tc>
              </a:tr>
            </a:tbl>
          </a:graphicData>
        </a:graphic>
      </p:graphicFrame>
      <p:sp>
        <p:nvSpPr>
          <p:cNvPr id="5" name="矩形 4"/>
          <p:cNvSpPr>
            <a:spLocks noGrp="1"/>
          </p:cNvSpPr>
          <p:nvPr/>
        </p:nvSpPr>
        <p:spPr>
          <a:xfrm>
            <a:off x="685800" y="5295900"/>
            <a:ext cx="10820400" cy="323850"/>
          </a:xfrm>
          <a:prstGeom prst="rect">
            <a:avLst/>
          </a:prstGeom>
          <a:noFill/>
          <a:ln w="0">
            <a:noFill/>
            <a:prstDash val="solid"/>
          </a:ln>
        </p:spPr>
        <p:txBody>
          <a:bodyPr wrap="square" lIns="0" tIns="0" rIns="0" bIns="0" anchor="t">
            <a:noAutofit/>
          </a:bodyPr>
          <a:lstStyle>
            <a:defPPr algn="l">
              <a:defRPr sz="1090"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90"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这四类服务覆盖了不同状态规模：告警很小，导航较小，交通分析中等，信息娱乐最大</a:t>
            </a:r>
            <a:endParaRPr sz="16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85800" y="5772150"/>
            <a:ext cx="10820400" cy="9525"/>
          </a:xfrm>
          <a:prstGeom prst="rect">
            <a:avLst/>
          </a:prstGeom>
          <a:solidFill>
            <a:srgbClr val="D9D9D1"/>
          </a:solidFill>
          <a:ln w="0">
            <a:noFill/>
            <a:prstDash val="solid"/>
          </a:ln>
        </p:spPr>
      </p:sp>
      <p:sp>
        <p:nvSpPr>
          <p:cNvPr id="7" name="矩形 6"/>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800">
                <a:solidFill>
                  <a:srgbClr val="0F5B5B"/>
                </a:solidFill>
                <a:latin typeface="微软雅黑" panose="020B0503020204020204" charset="-122"/>
                <a:ea typeface="微软雅黑" panose="020B0503020204020204" charset="-122"/>
                <a:cs typeface="微软雅黑" panose="020B0503020204020204" charset="-122"/>
              </a:rPr>
              <a:t>一组规模差异很大的服务</a:t>
            </a:r>
            <a:r>
              <a:rPr lang="zh-CN" sz="1800">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cs typeface="微软雅黑" panose="020B0503020204020204" charset="-122"/>
              </a:rPr>
              <a:t>（指向</a:t>
            </a:r>
            <a:r>
              <a:rPr lang="zh-CN" sz="1800">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cs typeface="微软雅黑" panose="020B0503020204020204" charset="-122"/>
              </a:rPr>
              <a:t>探究不</a:t>
            </a:r>
            <a:r>
              <a:rPr lang="zh-CN" altLang="en-US" sz="1800">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cs typeface="微软雅黑" panose="020B0503020204020204" charset="-122"/>
              </a:rPr>
              <a:t>同的迁移策略</a:t>
            </a:r>
            <a:endParaRPr lang="zh-CN" altLang="en-US" sz="1800">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800" b="1">
                <a:solidFill>
                  <a:srgbClr val="1B1B19"/>
                </a:solidFill>
                <a:latin typeface="微软雅黑" panose="020B0503020204020204" charset="-122"/>
                <a:ea typeface="微软雅黑" panose="020B0503020204020204" charset="-122"/>
                <a:cs typeface="微软雅黑" panose="020B0503020204020204" charset="-122"/>
              </a:rPr>
              <a:t>base、delta 和 restore</a:t>
            </a:r>
            <a:endParaRPr sz="28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sp>
        <p:nvSpPr>
          <p:cNvPr id="4" name="圆角矩形 3"/>
          <p:cNvSpPr>
            <a:spLocks noGrp="1"/>
          </p:cNvSpPr>
          <p:nvPr/>
        </p:nvSpPr>
        <p:spPr>
          <a:xfrm>
            <a:off x="685800" y="1828800"/>
            <a:ext cx="3048000" cy="1314450"/>
          </a:xfrm>
          <a:prstGeom prst="roundRect">
            <a:avLst>
              <a:gd name="adj" fmla="val 5797"/>
            </a:avLst>
          </a:prstGeom>
          <a:solidFill>
            <a:srgbClr val="FFFFFF"/>
          </a:solidFill>
          <a:ln w="14288">
            <a:solidFill>
              <a:srgbClr val="D9D9D1"/>
            </a:solidFill>
            <a:prstDash val="solid"/>
          </a:ln>
        </p:spPr>
      </p:sp>
      <p:sp>
        <p:nvSpPr>
          <p:cNvPr id="5" name="矩形 4"/>
          <p:cNvSpPr>
            <a:spLocks noGrp="1"/>
          </p:cNvSpPr>
          <p:nvPr/>
        </p:nvSpPr>
        <p:spPr>
          <a:xfrm>
            <a:off x="895350" y="2000250"/>
            <a:ext cx="2628900" cy="266700"/>
          </a:xfrm>
          <a:prstGeom prst="rect">
            <a:avLst/>
          </a:prstGeom>
          <a:noFill/>
          <a:ln w="0">
            <a:noFill/>
            <a:prstDash val="solid"/>
          </a:ln>
        </p:spPr>
        <p:txBody>
          <a:bodyPr wrap="square" lIns="0" tIns="0" rIns="0" bIns="0" anchor="t">
            <a:noAutofit/>
          </a:bodyPr>
          <a:lstStyle>
            <a:defPPr algn="l">
              <a:defRPr sz="15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500" b="1">
                <a:solidFill>
                  <a:srgbClr val="1B1B19"/>
                </a:solidFill>
                <a:latin typeface="微软雅黑" panose="020B0503020204020204" charset="-122"/>
                <a:ea typeface="微软雅黑" panose="020B0503020204020204" charset="-122"/>
                <a:cs typeface="微软雅黑" panose="020B0503020204020204" charset="-122"/>
              </a:defRPr>
            </a:pPr>
            <a:r>
              <a:rPr sz="1800">
                <a:solidFill>
                  <a:srgbClr val="1B1B19"/>
                </a:solidFill>
                <a:latin typeface="微软雅黑" panose="020B0503020204020204" charset="-122"/>
                <a:ea typeface="微软雅黑" panose="020B0503020204020204" charset="-122"/>
                <a:cs typeface="微软雅黑" panose="020B0503020204020204" charset="-122"/>
              </a:rPr>
              <a:t>base</a:t>
            </a:r>
            <a:endParaRPr sz="180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895350" y="2362200"/>
            <a:ext cx="2628900" cy="361950"/>
          </a:xfrm>
          <a:prstGeom prst="rect">
            <a:avLst/>
          </a:prstGeom>
          <a:noFill/>
          <a:ln w="0">
            <a:noFill/>
            <a:prstDash val="solid"/>
          </a:ln>
        </p:spPr>
        <p:txBody>
          <a:bodyPr wrap="square" lIns="0" tIns="0" rIns="0" bIns="0" anchor="t">
            <a:noAutofit/>
          </a:bodyPr>
          <a:lstStyle>
            <a:defPPr algn="l">
              <a:defRPr sz="106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400" b="1">
                <a:solidFill>
                  <a:srgbClr val="1B1B19"/>
                </a:solidFill>
                <a:latin typeface="微软雅黑" panose="020B0503020204020204" charset="-122"/>
                <a:ea typeface="微软雅黑" panose="020B0503020204020204" charset="-122"/>
                <a:cs typeface="微软雅黑" panose="020B0503020204020204" charset="-122"/>
              </a:rPr>
              <a:t>目标节点完整快照</a:t>
            </a:r>
            <a:endParaRPr sz="14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4343400" y="1828800"/>
            <a:ext cx="3048000" cy="1314450"/>
          </a:xfrm>
          <a:prstGeom prst="roundRect">
            <a:avLst>
              <a:gd name="adj" fmla="val 5797"/>
            </a:avLst>
          </a:prstGeom>
          <a:solidFill>
            <a:srgbClr val="E7F0EE"/>
          </a:solidFill>
          <a:ln w="14288">
            <a:solidFill>
              <a:srgbClr val="0F5B5B"/>
            </a:solidFill>
            <a:prstDash val="solid"/>
          </a:ln>
        </p:spPr>
      </p:sp>
      <p:sp>
        <p:nvSpPr>
          <p:cNvPr id="9" name="矩形 8"/>
          <p:cNvSpPr>
            <a:spLocks noGrp="1"/>
          </p:cNvSpPr>
          <p:nvPr/>
        </p:nvSpPr>
        <p:spPr>
          <a:xfrm>
            <a:off x="4552950" y="2000250"/>
            <a:ext cx="2628900" cy="266700"/>
          </a:xfrm>
          <a:prstGeom prst="rect">
            <a:avLst/>
          </a:prstGeom>
          <a:noFill/>
          <a:ln w="0">
            <a:noFill/>
            <a:prstDash val="solid"/>
          </a:ln>
        </p:spPr>
        <p:txBody>
          <a:bodyPr wrap="square" lIns="0" tIns="0" rIns="0" bIns="0" anchor="t">
            <a:noAutofit/>
          </a:bodyPr>
          <a:lstStyle>
            <a:defPPr algn="l">
              <a:defRPr sz="150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500" b="1">
                <a:solidFill>
                  <a:srgbClr val="0F5B5B"/>
                </a:solidFill>
                <a:latin typeface="微软雅黑" panose="020B0503020204020204" charset="-122"/>
                <a:ea typeface="微软雅黑" panose="020B0503020204020204" charset="-122"/>
                <a:cs typeface="微软雅黑" panose="020B0503020204020204" charset="-122"/>
              </a:defRPr>
            </a:pPr>
            <a:r>
              <a:rPr sz="1800">
                <a:solidFill>
                  <a:srgbClr val="0F5B5B"/>
                </a:solidFill>
                <a:latin typeface="微软雅黑" panose="020B0503020204020204" charset="-122"/>
                <a:ea typeface="微软雅黑" panose="020B0503020204020204" charset="-122"/>
                <a:cs typeface="微软雅黑" panose="020B0503020204020204" charset="-122"/>
              </a:rPr>
              <a:t>delta</a:t>
            </a:r>
            <a:endParaRPr sz="1800">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4552950" y="2362200"/>
            <a:ext cx="2628900" cy="361950"/>
          </a:xfrm>
          <a:prstGeom prst="rect">
            <a:avLst/>
          </a:prstGeom>
          <a:noFill/>
          <a:ln w="0">
            <a:noFill/>
            <a:prstDash val="solid"/>
          </a:ln>
        </p:spPr>
        <p:txBody>
          <a:bodyPr wrap="square" lIns="0" tIns="0" rIns="0" bIns="0" anchor="t">
            <a:noAutofit/>
          </a:bodyPr>
          <a:lstStyle>
            <a:defPPr algn="l">
              <a:defRPr sz="106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400" b="1">
                <a:solidFill>
                  <a:srgbClr val="1B1B19"/>
                </a:solidFill>
                <a:latin typeface="微软雅黑" panose="020B0503020204020204" charset="-122"/>
                <a:ea typeface="微软雅黑" panose="020B0503020204020204" charset="-122"/>
                <a:cs typeface="微软雅黑" panose="020B0503020204020204" charset="-122"/>
              </a:rPr>
              <a:t>变化的部分</a:t>
            </a:r>
            <a:endParaRPr sz="14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001000" y="1828800"/>
            <a:ext cx="3048000" cy="1314450"/>
          </a:xfrm>
          <a:prstGeom prst="roundRect">
            <a:avLst>
              <a:gd name="adj" fmla="val 5797"/>
            </a:avLst>
          </a:prstGeom>
          <a:solidFill>
            <a:srgbClr val="F7E8E2"/>
          </a:solidFill>
          <a:ln w="14288">
            <a:solidFill>
              <a:srgbClr val="B84A24"/>
            </a:solidFill>
            <a:prstDash val="solid"/>
          </a:ln>
        </p:spPr>
      </p:sp>
      <p:sp>
        <p:nvSpPr>
          <p:cNvPr id="13" name="矩形 12"/>
          <p:cNvSpPr>
            <a:spLocks noGrp="1"/>
          </p:cNvSpPr>
          <p:nvPr/>
        </p:nvSpPr>
        <p:spPr>
          <a:xfrm>
            <a:off x="8210550" y="2000250"/>
            <a:ext cx="2628900" cy="266700"/>
          </a:xfrm>
          <a:prstGeom prst="rect">
            <a:avLst/>
          </a:prstGeom>
          <a:noFill/>
          <a:ln w="0">
            <a:noFill/>
            <a:prstDash val="solid"/>
          </a:ln>
        </p:spPr>
        <p:txBody>
          <a:bodyPr wrap="square" lIns="0" tIns="0" rIns="0" bIns="0" anchor="t">
            <a:noAutofit/>
          </a:bodyPr>
          <a:lstStyle>
            <a:defPPr algn="l">
              <a:defRPr sz="1500" b="1">
                <a:solidFill>
                  <a:srgbClr val="B84A24"/>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500" b="1">
                <a:solidFill>
                  <a:srgbClr val="B84A24"/>
                </a:solidFill>
                <a:latin typeface="微软雅黑" panose="020B0503020204020204" charset="-122"/>
                <a:ea typeface="微软雅黑" panose="020B0503020204020204" charset="-122"/>
                <a:cs typeface="微软雅黑" panose="020B0503020204020204" charset="-122"/>
              </a:defRPr>
            </a:pPr>
            <a:r>
              <a:rPr sz="1800">
                <a:solidFill>
                  <a:srgbClr val="B84A24"/>
                </a:solidFill>
                <a:latin typeface="微软雅黑" panose="020B0503020204020204" charset="-122"/>
                <a:ea typeface="微软雅黑" panose="020B0503020204020204" charset="-122"/>
                <a:cs typeface="微软雅黑" panose="020B0503020204020204" charset="-122"/>
              </a:rPr>
              <a:t>restore</a:t>
            </a:r>
            <a:endParaRPr sz="1800">
              <a:solidFill>
                <a:srgbClr val="B84A24"/>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8210550" y="2362200"/>
            <a:ext cx="2628900" cy="361950"/>
          </a:xfrm>
          <a:prstGeom prst="rect">
            <a:avLst/>
          </a:prstGeom>
          <a:noFill/>
          <a:ln w="0">
            <a:noFill/>
            <a:prstDash val="solid"/>
          </a:ln>
        </p:spPr>
        <p:txBody>
          <a:bodyPr wrap="square" lIns="0" tIns="0" rIns="0" bIns="0" anchor="t">
            <a:noAutofit/>
          </a:bodyPr>
          <a:lstStyle>
            <a:defPPr algn="l">
              <a:defRPr sz="106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400" b="1">
                <a:solidFill>
                  <a:srgbClr val="1B1B19"/>
                </a:solidFill>
                <a:latin typeface="微软雅黑" panose="020B0503020204020204" charset="-122"/>
                <a:ea typeface="微软雅黑" panose="020B0503020204020204" charset="-122"/>
                <a:cs typeface="微软雅黑" panose="020B0503020204020204" charset="-122"/>
              </a:rPr>
              <a:t>目标节点读取状态并恢复服务</a:t>
            </a:r>
            <a:endParaRPr sz="1400" b="1">
              <a:solidFill>
                <a:srgbClr val="1B1B19"/>
              </a:solidFill>
              <a:latin typeface="微软雅黑" panose="020B0503020204020204" charset="-122"/>
              <a:ea typeface="微软雅黑" panose="020B0503020204020204" charset="-122"/>
              <a:cs typeface="微软雅黑" panose="020B0503020204020204" charset="-122"/>
            </a:endParaRPr>
          </a:p>
        </p:txBody>
      </p:sp>
      <p:cxnSp>
        <p:nvCxnSpPr>
          <p:cNvPr id="16" name="直接箭头连接符 15"/>
          <p:cNvCxnSpPr/>
          <p:nvPr/>
        </p:nvCxnSpPr>
        <p:spPr>
          <a:xfrm>
            <a:off x="3733800" y="2457450"/>
            <a:ext cx="457200" cy="9525"/>
          </a:xfrm>
          <a:prstGeom prst="straightConnector1">
            <a:avLst/>
          </a:prstGeom>
          <a:ln w="19050">
            <a:solidFill>
              <a:srgbClr val="0F5B5B"/>
            </a:solidFill>
            <a:prstDash val="solid"/>
            <a:tailEnd type="arrow" w="med" len="med"/>
          </a:ln>
        </p:spPr>
      </p:cxnSp>
      <p:cxnSp>
        <p:nvCxnSpPr>
          <p:cNvPr id="17" name="直接箭头连接符 16"/>
          <p:cNvCxnSpPr/>
          <p:nvPr/>
        </p:nvCxnSpPr>
        <p:spPr>
          <a:xfrm>
            <a:off x="7391400" y="2457450"/>
            <a:ext cx="457200" cy="9525"/>
          </a:xfrm>
          <a:prstGeom prst="straightConnector1">
            <a:avLst/>
          </a:prstGeom>
          <a:ln w="19050">
            <a:solidFill>
              <a:srgbClr val="0F5B5B"/>
            </a:solidFill>
            <a:prstDash val="solid"/>
            <a:tailEnd type="arrow" w="med" len="med"/>
          </a:ln>
        </p:spPr>
      </p:cxnSp>
      <p:sp>
        <p:nvSpPr>
          <p:cNvPr id="33" name="圆角矩形 32"/>
          <p:cNvSpPr>
            <a:spLocks noGrp="1"/>
          </p:cNvSpPr>
          <p:nvPr/>
        </p:nvSpPr>
        <p:spPr>
          <a:xfrm>
            <a:off x="685800" y="3732530"/>
            <a:ext cx="5105400" cy="2266950"/>
          </a:xfrm>
          <a:prstGeom prst="roundRect">
            <a:avLst>
              <a:gd name="adj" fmla="val 3361"/>
            </a:avLst>
          </a:prstGeom>
          <a:solidFill>
            <a:srgbClr val="E7F0EE"/>
          </a:solidFill>
          <a:ln w="14288">
            <a:solidFill>
              <a:srgbClr val="0F5B5B"/>
            </a:solidFill>
            <a:prstDash val="solid"/>
          </a:ln>
        </p:spPr>
      </p:sp>
      <p:sp>
        <p:nvSpPr>
          <p:cNvPr id="34" name="矩形 33"/>
          <p:cNvSpPr>
            <a:spLocks noGrp="1"/>
          </p:cNvSpPr>
          <p:nvPr/>
        </p:nvSpPr>
        <p:spPr>
          <a:xfrm>
            <a:off x="914400" y="3923030"/>
            <a:ext cx="4648200" cy="266700"/>
          </a:xfrm>
          <a:prstGeom prst="rect">
            <a:avLst/>
          </a:prstGeom>
          <a:noFill/>
          <a:ln w="0">
            <a:noFill/>
            <a:prstDash val="solid"/>
          </a:ln>
        </p:spPr>
        <p:txBody>
          <a:bodyPr wrap="square" lIns="0" tIns="0" rIns="0" bIns="0" anchor="t">
            <a:noAutofit/>
          </a:bodyPr>
          <a:lstStyle>
            <a:defPPr algn="l">
              <a:defRPr sz="142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425" b="1">
                <a:solidFill>
                  <a:srgbClr val="0F5B5B"/>
                </a:solidFill>
                <a:latin typeface="微软雅黑" panose="020B0503020204020204" charset="-122"/>
                <a:ea typeface="微软雅黑" panose="020B0503020204020204" charset="-122"/>
                <a:cs typeface="微软雅黑" panose="020B0503020204020204" charset="-122"/>
              </a:defRPr>
            </a:pPr>
            <a:r>
              <a:rPr sz="1800">
                <a:solidFill>
                  <a:srgbClr val="0F5B5B"/>
                </a:solidFill>
                <a:latin typeface="微软雅黑" panose="020B0503020204020204" charset="-122"/>
                <a:ea typeface="微软雅黑" panose="020B0503020204020204" charset="-122"/>
                <a:cs typeface="微软雅黑" panose="020B0503020204020204" charset="-122"/>
              </a:rPr>
              <a:t>情况 A：目标节点已有 base</a:t>
            </a:r>
            <a:endParaRPr sz="1800">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35" name="矩形 34"/>
          <p:cNvSpPr>
            <a:spLocks noGrp="1"/>
          </p:cNvSpPr>
          <p:nvPr/>
        </p:nvSpPr>
        <p:spPr>
          <a:xfrm>
            <a:off x="914400" y="4361180"/>
            <a:ext cx="4648200" cy="1123950"/>
          </a:xfrm>
          <a:prstGeom prst="rect">
            <a:avLst/>
          </a:prstGeom>
          <a:noFill/>
          <a:ln w="0">
            <a:noFill/>
            <a:prstDash val="solid"/>
          </a:ln>
        </p:spPr>
        <p:txBody>
          <a:bodyPr wrap="square" lIns="0" tIns="0" rIns="0" bIns="0" anchor="t">
            <a:noAutofit/>
          </a:bodyPr>
          <a:lstStyle>
            <a:defPPr algn="l">
              <a:defRPr sz="116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42000"/>
              </a:lnSpc>
              <a:buNone/>
              <a:defRPr sz="1165" b="0">
                <a:solidFill>
                  <a:srgbClr val="1B1B19"/>
                </a:solidFill>
                <a:latin typeface="微软雅黑" panose="020B0503020204020204" charset="-122"/>
                <a:ea typeface="微软雅黑" panose="020B0503020204020204" charset="-122"/>
                <a:cs typeface="微软雅黑" panose="020B0503020204020204" charset="-122"/>
              </a:defRPr>
            </a:pPr>
            <a:r>
              <a:rPr sz="1400" b="1">
                <a:solidFill>
                  <a:srgbClr val="1B1B19"/>
                </a:solidFill>
                <a:latin typeface="微软雅黑" panose="020B0503020204020204" charset="-122"/>
                <a:ea typeface="微软雅黑" panose="020B0503020204020204" charset="-122"/>
                <a:cs typeface="微软雅黑" panose="020B0503020204020204" charset="-122"/>
              </a:rPr>
              <a:t>当前状态 = </a:t>
            </a:r>
            <a:r>
              <a:rPr lang="en-US" sz="1400" b="1">
                <a:solidFill>
                  <a:srgbClr val="1B1B19"/>
                </a:solidFill>
                <a:latin typeface="微软雅黑" panose="020B0503020204020204" charset="-122"/>
                <a:ea typeface="微软雅黑" panose="020B0503020204020204" charset="-122"/>
                <a:cs typeface="微软雅黑" panose="020B0503020204020204" charset="-122"/>
              </a:rPr>
              <a:t>base</a:t>
            </a:r>
            <a:r>
              <a:rPr sz="1400" b="1">
                <a:solidFill>
                  <a:srgbClr val="1B1B19"/>
                </a:solidFill>
                <a:latin typeface="微软雅黑" panose="020B0503020204020204" charset="-122"/>
                <a:ea typeface="微软雅黑" panose="020B0503020204020204" charset="-122"/>
                <a:cs typeface="微软雅黑" panose="020B0503020204020204" charset="-122"/>
              </a:rPr>
              <a:t> + </a:t>
            </a:r>
            <a:r>
              <a:rPr lang="en-US" sz="1400" b="1">
                <a:solidFill>
                  <a:srgbClr val="1B1B19"/>
                </a:solidFill>
                <a:latin typeface="微软雅黑" panose="020B0503020204020204" charset="-122"/>
                <a:ea typeface="微软雅黑" panose="020B0503020204020204" charset="-122"/>
                <a:cs typeface="微软雅黑" panose="020B0503020204020204" charset="-122"/>
              </a:rPr>
              <a:t>delta</a:t>
            </a:r>
            <a:endParaRPr sz="1400" b="1">
              <a:solidFill>
                <a:srgbClr val="1B1B19"/>
              </a:solidFill>
              <a:latin typeface="微软雅黑" panose="020B0503020204020204" charset="-122"/>
              <a:ea typeface="微软雅黑" panose="020B0503020204020204" charset="-122"/>
              <a:cs typeface="微软雅黑" panose="020B0503020204020204" charset="-122"/>
            </a:endParaRPr>
          </a:p>
          <a:p>
            <a:endParaRPr sz="1400" b="1"/>
          </a:p>
          <a:p>
            <a:pPr algn="l">
              <a:lnSpc>
                <a:spcPct val="142000"/>
              </a:lnSpc>
              <a:buNone/>
              <a:defRPr sz="1165" b="0">
                <a:solidFill>
                  <a:srgbClr val="1B1B19"/>
                </a:solidFill>
                <a:latin typeface="微软雅黑" panose="020B0503020204020204" charset="-122"/>
                <a:ea typeface="微软雅黑" panose="020B0503020204020204" charset="-122"/>
                <a:cs typeface="微软雅黑" panose="020B0503020204020204" charset="-122"/>
              </a:defRPr>
            </a:pPr>
            <a:r>
              <a:rPr sz="1400" b="1">
                <a:solidFill>
                  <a:srgbClr val="1B1B19"/>
                </a:solidFill>
                <a:latin typeface="微软雅黑" panose="020B0503020204020204" charset="-122"/>
                <a:ea typeface="微软雅黑" panose="020B0503020204020204" charset="-122"/>
                <a:cs typeface="微软雅黑" panose="020B0503020204020204" charset="-122"/>
              </a:rPr>
              <a:t>只传</a:t>
            </a:r>
            <a:r>
              <a:rPr lang="en-US" sz="1400" b="1">
                <a:solidFill>
                  <a:srgbClr val="1B1B19"/>
                </a:solidFill>
                <a:latin typeface="微软雅黑" panose="020B0503020204020204" charset="-122"/>
                <a:ea typeface="微软雅黑" panose="020B0503020204020204" charset="-122"/>
                <a:cs typeface="微软雅黑" panose="020B0503020204020204" charset="-122"/>
              </a:rPr>
              <a:t> delta</a:t>
            </a:r>
            <a:endParaRPr sz="1400" b="1">
              <a:solidFill>
                <a:srgbClr val="1B1B19"/>
              </a:solidFill>
              <a:latin typeface="微软雅黑" panose="020B0503020204020204" charset="-122"/>
              <a:ea typeface="微软雅黑" panose="020B0503020204020204" charset="-122"/>
              <a:cs typeface="微软雅黑" panose="020B0503020204020204" charset="-122"/>
            </a:endParaRPr>
          </a:p>
          <a:p>
            <a:pPr algn="l">
              <a:lnSpc>
                <a:spcPct val="142000"/>
              </a:lnSpc>
              <a:buNone/>
              <a:defRPr sz="1165" b="0">
                <a:solidFill>
                  <a:srgbClr val="1B1B19"/>
                </a:solidFill>
                <a:latin typeface="微软雅黑" panose="020B0503020204020204" charset="-122"/>
                <a:ea typeface="微软雅黑" panose="020B0503020204020204" charset="-122"/>
                <a:cs typeface="微软雅黑" panose="020B0503020204020204" charset="-122"/>
              </a:defRPr>
            </a:pPr>
            <a:r>
              <a:rPr sz="1400" b="1">
                <a:solidFill>
                  <a:srgbClr val="1B1B19"/>
                </a:solidFill>
                <a:latin typeface="微软雅黑" panose="020B0503020204020204" charset="-122"/>
                <a:ea typeface="微软雅黑" panose="020B0503020204020204" charset="-122"/>
                <a:cs typeface="微软雅黑" panose="020B0503020204020204" charset="-122"/>
              </a:rPr>
              <a:t>数据少，传输和恢复更快</a:t>
            </a:r>
            <a:endParaRPr sz="14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6" name="圆角矩形 35"/>
          <p:cNvSpPr>
            <a:spLocks noGrp="1"/>
          </p:cNvSpPr>
          <p:nvPr/>
        </p:nvSpPr>
        <p:spPr>
          <a:xfrm>
            <a:off x="6400800" y="3732530"/>
            <a:ext cx="5105400" cy="2266950"/>
          </a:xfrm>
          <a:prstGeom prst="roundRect">
            <a:avLst>
              <a:gd name="adj" fmla="val 3361"/>
            </a:avLst>
          </a:prstGeom>
          <a:solidFill>
            <a:srgbClr val="F7E8E2"/>
          </a:solidFill>
          <a:ln w="14288">
            <a:solidFill>
              <a:srgbClr val="B84A24"/>
            </a:solidFill>
            <a:prstDash val="solid"/>
          </a:ln>
        </p:spPr>
      </p:sp>
      <p:sp>
        <p:nvSpPr>
          <p:cNvPr id="37" name="矩形 36"/>
          <p:cNvSpPr>
            <a:spLocks noGrp="1"/>
          </p:cNvSpPr>
          <p:nvPr/>
        </p:nvSpPr>
        <p:spPr>
          <a:xfrm>
            <a:off x="6629400" y="3923030"/>
            <a:ext cx="4648200" cy="266700"/>
          </a:xfrm>
          <a:prstGeom prst="rect">
            <a:avLst/>
          </a:prstGeom>
          <a:noFill/>
          <a:ln w="0">
            <a:noFill/>
            <a:prstDash val="solid"/>
          </a:ln>
        </p:spPr>
        <p:txBody>
          <a:bodyPr wrap="square" lIns="0" tIns="0" rIns="0" bIns="0" anchor="t">
            <a:noAutofit/>
          </a:bodyPr>
          <a:lstStyle>
            <a:defPPr algn="l">
              <a:defRPr sz="1425" b="1">
                <a:solidFill>
                  <a:srgbClr val="B84A24"/>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425" b="1">
                <a:solidFill>
                  <a:srgbClr val="B84A24"/>
                </a:solidFill>
                <a:latin typeface="微软雅黑" panose="020B0503020204020204" charset="-122"/>
                <a:ea typeface="微软雅黑" panose="020B0503020204020204" charset="-122"/>
                <a:cs typeface="微软雅黑" panose="020B0503020204020204" charset="-122"/>
              </a:defRPr>
            </a:pPr>
            <a:r>
              <a:rPr sz="1800">
                <a:solidFill>
                  <a:srgbClr val="B84A24"/>
                </a:solidFill>
                <a:latin typeface="微软雅黑" panose="020B0503020204020204" charset="-122"/>
                <a:ea typeface="微软雅黑" panose="020B0503020204020204" charset="-122"/>
                <a:cs typeface="微软雅黑" panose="020B0503020204020204" charset="-122"/>
              </a:rPr>
              <a:t>情况 B：目标节点是 cold target</a:t>
            </a:r>
            <a:endParaRPr sz="1800">
              <a:solidFill>
                <a:srgbClr val="B84A24"/>
              </a:solidFill>
              <a:latin typeface="微软雅黑" panose="020B0503020204020204" charset="-122"/>
              <a:ea typeface="微软雅黑" panose="020B0503020204020204" charset="-122"/>
              <a:cs typeface="微软雅黑" panose="020B0503020204020204" charset="-122"/>
            </a:endParaRPr>
          </a:p>
        </p:txBody>
      </p:sp>
      <p:sp>
        <p:nvSpPr>
          <p:cNvPr id="38" name="矩形 37"/>
          <p:cNvSpPr>
            <a:spLocks noGrp="1"/>
          </p:cNvSpPr>
          <p:nvPr/>
        </p:nvSpPr>
        <p:spPr>
          <a:xfrm>
            <a:off x="6629400" y="4361180"/>
            <a:ext cx="4648200" cy="1123950"/>
          </a:xfrm>
          <a:prstGeom prst="rect">
            <a:avLst/>
          </a:prstGeom>
          <a:noFill/>
          <a:ln w="0">
            <a:noFill/>
            <a:prstDash val="solid"/>
          </a:ln>
        </p:spPr>
        <p:txBody>
          <a:bodyPr wrap="square" lIns="0" tIns="0" rIns="0" bIns="0" anchor="t">
            <a:noAutofit/>
          </a:bodyPr>
          <a:lstStyle>
            <a:defPPr algn="l">
              <a:defRPr sz="116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42000"/>
              </a:lnSpc>
              <a:buNone/>
              <a:defRPr sz="1165" b="0">
                <a:solidFill>
                  <a:srgbClr val="1B1B19"/>
                </a:solidFill>
                <a:latin typeface="微软雅黑" panose="020B0503020204020204" charset="-122"/>
                <a:ea typeface="微软雅黑" panose="020B0503020204020204" charset="-122"/>
                <a:cs typeface="微软雅黑" panose="020B0503020204020204" charset="-122"/>
              </a:defRPr>
            </a:pPr>
            <a:r>
              <a:rPr sz="1400" b="1">
                <a:solidFill>
                  <a:srgbClr val="1B1B19"/>
                </a:solidFill>
                <a:latin typeface="微软雅黑" panose="020B0503020204020204" charset="-122"/>
                <a:ea typeface="微软雅黑" panose="020B0503020204020204" charset="-122"/>
                <a:cs typeface="微软雅黑" panose="020B0503020204020204" charset="-122"/>
              </a:rPr>
              <a:t>目标节点没有</a:t>
            </a:r>
            <a:r>
              <a:rPr lang="en-US" sz="1400" b="1">
                <a:solidFill>
                  <a:srgbClr val="1B1B19"/>
                </a:solidFill>
                <a:latin typeface="微软雅黑" panose="020B0503020204020204" charset="-122"/>
                <a:ea typeface="微软雅黑" panose="020B0503020204020204" charset="-122"/>
                <a:cs typeface="微软雅黑" panose="020B0503020204020204" charset="-122"/>
              </a:rPr>
              <a:t> base</a:t>
            </a:r>
            <a:endParaRPr sz="1400" b="1">
              <a:solidFill>
                <a:srgbClr val="1B1B19"/>
              </a:solidFill>
              <a:latin typeface="微软雅黑" panose="020B0503020204020204" charset="-122"/>
              <a:ea typeface="微软雅黑" panose="020B0503020204020204" charset="-122"/>
              <a:cs typeface="微软雅黑" panose="020B0503020204020204" charset="-122"/>
            </a:endParaRPr>
          </a:p>
          <a:p>
            <a:endParaRPr sz="1400" b="1"/>
          </a:p>
          <a:p>
            <a:pPr algn="l">
              <a:lnSpc>
                <a:spcPct val="142000"/>
              </a:lnSpc>
              <a:buNone/>
              <a:defRPr sz="1165" b="0">
                <a:solidFill>
                  <a:srgbClr val="1B1B19"/>
                </a:solidFill>
                <a:latin typeface="微软雅黑" panose="020B0503020204020204" charset="-122"/>
                <a:ea typeface="微软雅黑" panose="020B0503020204020204" charset="-122"/>
                <a:cs typeface="微软雅黑" panose="020B0503020204020204" charset="-122"/>
              </a:defRPr>
            </a:pPr>
            <a:r>
              <a:rPr sz="1400" b="1">
                <a:solidFill>
                  <a:srgbClr val="1B1B19"/>
                </a:solidFill>
                <a:latin typeface="微软雅黑" panose="020B0503020204020204" charset="-122"/>
                <a:ea typeface="微软雅黑" panose="020B0503020204020204" charset="-122"/>
                <a:cs typeface="微软雅黑" panose="020B0503020204020204" charset="-122"/>
              </a:rPr>
              <a:t>只能传完整状态</a:t>
            </a:r>
            <a:endParaRPr sz="1400" b="1">
              <a:solidFill>
                <a:srgbClr val="1B1B19"/>
              </a:solidFill>
              <a:latin typeface="微软雅黑" panose="020B0503020204020204" charset="-122"/>
              <a:ea typeface="微软雅黑" panose="020B0503020204020204" charset="-122"/>
              <a:cs typeface="微软雅黑" panose="020B0503020204020204" charset="-122"/>
            </a:endParaRPr>
          </a:p>
          <a:p>
            <a:pPr algn="l">
              <a:lnSpc>
                <a:spcPct val="142000"/>
              </a:lnSpc>
              <a:buNone/>
              <a:defRPr sz="1165" b="0">
                <a:solidFill>
                  <a:srgbClr val="1B1B19"/>
                </a:solidFill>
                <a:latin typeface="微软雅黑" panose="020B0503020204020204" charset="-122"/>
                <a:ea typeface="微软雅黑" panose="020B0503020204020204" charset="-122"/>
                <a:cs typeface="微软雅黑" panose="020B0503020204020204" charset="-122"/>
              </a:defRPr>
            </a:pPr>
            <a:r>
              <a:rPr sz="1400" b="1">
                <a:solidFill>
                  <a:srgbClr val="1B1B19"/>
                </a:solidFill>
                <a:latin typeface="微软雅黑" panose="020B0503020204020204" charset="-122"/>
                <a:ea typeface="微软雅黑" panose="020B0503020204020204" charset="-122"/>
                <a:cs typeface="微软雅黑" panose="020B0503020204020204" charset="-122"/>
              </a:rPr>
              <a:t>全量迁移</a:t>
            </a:r>
            <a:endParaRPr sz="1400" b="1">
              <a:solidFill>
                <a:srgbClr val="1B1B1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800" b="1">
                <a:solidFill>
                  <a:srgbClr val="1B1B19"/>
                </a:solidFill>
                <a:latin typeface="微软雅黑" panose="020B0503020204020204" charset="-122"/>
                <a:ea typeface="微软雅黑" panose="020B0503020204020204" charset="-122"/>
                <a:cs typeface="微软雅黑" panose="020B0503020204020204" charset="-122"/>
              </a:rPr>
              <a:t>数据</a:t>
            </a:r>
            <a:r>
              <a:rPr lang="zh-CN" sz="2800" b="1">
                <a:solidFill>
                  <a:srgbClr val="1B1B19"/>
                </a:solidFill>
                <a:latin typeface="微软雅黑" panose="020B0503020204020204" charset="-122"/>
                <a:ea typeface="微软雅黑" panose="020B0503020204020204" charset="-122"/>
                <a:cs typeface="微软雅黑" panose="020B0503020204020204" charset="-122"/>
              </a:rPr>
              <a:t>集</a:t>
            </a:r>
            <a:endParaRPr lang="zh-CN" sz="28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graphicFrame>
        <p:nvGraphicFramePr>
          <p:cNvPr id="4" name="表格 3"/>
          <p:cNvGraphicFramePr/>
          <p:nvPr/>
        </p:nvGraphicFramePr>
        <p:xfrm>
          <a:off x="685800" y="1809750"/>
          <a:ext cx="10820400" cy="3143250"/>
        </p:xfrm>
        <a:graphic>
          <a:graphicData uri="http://schemas.openxmlformats.org/drawingml/2006/table">
            <a:tbl>
              <a:tblPr/>
              <a:tblGrid>
                <a:gridCol w="2190750"/>
                <a:gridCol w="4000500"/>
                <a:gridCol w="4629150"/>
              </a:tblGrid>
              <a:tr h="523875">
                <a:tc>
                  <a:txBody>
                    <a:bodyPr/>
                    <a:lstStyle/>
                    <a:p>
                      <a:pPr indent="0" algn="ctr" eaLnBrk="1" fontAlgn="auto" latinLnBrk="0" hangingPunct="1">
                        <a:lnSpc>
                          <a:spcPct val="200000"/>
                        </a:lnSpc>
                      </a:pPr>
                      <a:r>
                        <a:rPr lang="zh-CN" sz="1800" b="1"/>
                        <a:t>条目</a:t>
                      </a:r>
                      <a:endParaRPr lang="zh-CN" sz="1800" b="1"/>
                    </a:p>
                  </a:txBody>
                  <a:tcPr>
                    <a:lnL>
                      <a:noFill/>
                    </a:lnL>
                    <a:lnR w="12700">
                      <a:solidFill>
                        <a:schemeClr val="tx1"/>
                      </a:solidFill>
                      <a:prstDash val="solid"/>
                    </a:lnR>
                    <a:lnT>
                      <a:noFill/>
                    </a:lnT>
                    <a:lnB w="12700">
                      <a:solidFill>
                        <a:schemeClr val="tx1"/>
                      </a:solidFill>
                      <a:prstDash val="solid"/>
                    </a:lnB>
                    <a:noFill/>
                  </a:tcPr>
                </a:tc>
                <a:tc>
                  <a:txBody>
                    <a:bodyPr/>
                    <a:lstStyle/>
                    <a:p>
                      <a:pPr indent="0" algn="ctr" eaLnBrk="1" fontAlgn="auto" latinLnBrk="0" hangingPunct="1">
                        <a:lnSpc>
                          <a:spcPct val="200000"/>
                        </a:lnSpc>
                      </a:pPr>
                      <a:r>
                        <a:rPr lang="zh-CN" sz="1800" b="1"/>
                        <a:t>内容</a:t>
                      </a:r>
                      <a:endParaRPr lang="zh-CN" sz="1800" b="1"/>
                    </a:p>
                  </a:txBody>
                  <a:tcPr>
                    <a:lnL w="12700">
                      <a:solidFill>
                        <a:schemeClr val="tx1"/>
                      </a:solidFill>
                      <a:prstDash val="solid"/>
                    </a:lnL>
                    <a:lnR w="12700">
                      <a:solidFill>
                        <a:schemeClr val="tx1"/>
                      </a:solidFill>
                      <a:prstDash val="solid"/>
                    </a:lnR>
                    <a:lnT>
                      <a:noFill/>
                    </a:lnT>
                    <a:lnB w="12700">
                      <a:solidFill>
                        <a:schemeClr val="tx1"/>
                      </a:solidFill>
                      <a:prstDash val="solid"/>
                    </a:lnB>
                    <a:noFill/>
                  </a:tcPr>
                </a:tc>
                <a:tc>
                  <a:txBody>
                    <a:bodyPr/>
                    <a:lstStyle/>
                    <a:p>
                      <a:pPr indent="0" algn="ctr" eaLnBrk="1" fontAlgn="auto" latinLnBrk="0" hangingPunct="1">
                        <a:lnSpc>
                          <a:spcPct val="200000"/>
                        </a:lnSpc>
                      </a:pPr>
                      <a:r>
                        <a:rPr lang="zh-CN" sz="1800" b="1"/>
                        <a:t>我们的仿真模拟</a:t>
                      </a:r>
                      <a:endParaRPr lang="zh-CN" sz="1800" b="1"/>
                    </a:p>
                  </a:txBody>
                  <a:tcPr>
                    <a:lnL w="12700">
                      <a:solidFill>
                        <a:schemeClr val="tx1"/>
                      </a:solidFill>
                      <a:prstDash val="solid"/>
                    </a:lnL>
                    <a:lnR>
                      <a:noFill/>
                    </a:lnR>
                    <a:lnT>
                      <a:noFill/>
                    </a:lnT>
                    <a:lnB w="12700">
                      <a:solidFill>
                        <a:schemeClr val="tx1"/>
                      </a:solidFill>
                      <a:prstDash val="solid"/>
                    </a:lnB>
                    <a:noFill/>
                  </a:tcPr>
                </a:tc>
              </a:tr>
              <a:tr h="523875">
                <a:tc>
                  <a:txBody>
                    <a:bodyPr/>
                    <a:lstStyle/>
                    <a:p>
                      <a:pPr indent="0" algn="ctr" eaLnBrk="1" fontAlgn="auto" latinLnBrk="0" hangingPunct="1">
                        <a:lnSpc>
                          <a:spcPct val="200000"/>
                        </a:lnSpc>
                      </a:pPr>
                      <a:r>
                        <a:rPr sz="1800" b="1">
                          <a:solidFill>
                            <a:srgbClr val="1B1B19"/>
                          </a:solidFill>
                        </a:rPr>
                        <a:t>San Francisco</a:t>
                      </a:r>
                      <a:endParaRPr sz="18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indent="0" algn="l" eaLnBrk="1" fontAlgn="auto" latinLnBrk="0" hangingPunct="1">
                        <a:lnSpc>
                          <a:spcPct val="200000"/>
                        </a:lnSpc>
                      </a:pPr>
                      <a:r>
                        <a:rPr lang="zh-CN" sz="1800" b="0">
                          <a:solidFill>
                            <a:srgbClr val="1B1B19"/>
                          </a:solidFill>
                        </a:rPr>
                        <a:t>旧金山</a:t>
                      </a:r>
                      <a:r>
                        <a:rPr sz="1800" b="0">
                          <a:solidFill>
                            <a:srgbClr val="1B1B19"/>
                          </a:solidFill>
                        </a:rPr>
                        <a:t>真实出租车轨迹</a:t>
                      </a:r>
                      <a:endParaRPr sz="1800" b="0">
                        <a:solidFill>
                          <a:srgbClr val="1B1B19"/>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indent="0" algn="l" eaLnBrk="1" fontAlgn="auto" latinLnBrk="0" hangingPunct="1">
                        <a:lnSpc>
                          <a:spcPct val="200000"/>
                        </a:lnSpc>
                      </a:pPr>
                      <a:r>
                        <a:rPr sz="1800">
                          <a:solidFill>
                            <a:srgbClr val="1B1B19"/>
                          </a:solidFill>
                          <a:sym typeface="+mn-ea"/>
                        </a:rPr>
                        <a:t>映射</a:t>
                      </a:r>
                      <a:r>
                        <a:rPr lang="zh-CN" sz="1800">
                          <a:solidFill>
                            <a:srgbClr val="1B1B19"/>
                          </a:solidFill>
                          <a:sym typeface="+mn-ea"/>
                        </a:rPr>
                        <a:t>轨迹。</a:t>
                      </a:r>
                      <a:r>
                        <a:rPr sz="1800" b="0">
                          <a:solidFill>
                            <a:srgbClr val="1B1B19"/>
                          </a:solidFill>
                        </a:rPr>
                        <a:t>网格和 cell 大小是仿真抽象</a:t>
                      </a:r>
                      <a:endParaRPr sz="1800" b="0">
                        <a:solidFill>
                          <a:srgbClr val="1B1B19"/>
                        </a:solidFill>
                      </a:endParaRPr>
                    </a:p>
                  </a:txBody>
                  <a:tcPr>
                    <a:lnL w="12700">
                      <a:solidFill>
                        <a:schemeClr val="tx1"/>
                      </a:solidFill>
                      <a:prstDash val="solid"/>
                    </a:lnL>
                    <a:lnR>
                      <a:noFill/>
                    </a:lnR>
                    <a:lnT w="12700">
                      <a:solidFill>
                        <a:schemeClr val="tx1"/>
                      </a:solidFill>
                      <a:prstDash val="solid"/>
                    </a:lnT>
                    <a:lnB w="12700">
                      <a:solidFill>
                        <a:schemeClr val="tx1"/>
                      </a:solidFill>
                      <a:prstDash val="solid"/>
                    </a:lnB>
                  </a:tcPr>
                </a:tc>
              </a:tr>
              <a:tr h="523875">
                <a:tc>
                  <a:txBody>
                    <a:bodyPr/>
                    <a:lstStyle/>
                    <a:p>
                      <a:pPr indent="0" algn="ctr" eaLnBrk="1" fontAlgn="auto" latinLnBrk="0" hangingPunct="1">
                        <a:lnSpc>
                          <a:spcPct val="200000"/>
                        </a:lnSpc>
                      </a:pPr>
                      <a:r>
                        <a:rPr sz="1800" b="1">
                          <a:solidFill>
                            <a:srgbClr val="1B1B19"/>
                          </a:solidFill>
                        </a:rPr>
                        <a:t>Rome</a:t>
                      </a:r>
                      <a:endParaRPr sz="18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indent="0" algn="l" eaLnBrk="1" fontAlgn="auto" latinLnBrk="0" hangingPunct="1">
                        <a:lnSpc>
                          <a:spcPct val="200000"/>
                        </a:lnSpc>
                      </a:pPr>
                      <a:r>
                        <a:rPr lang="zh-CN" sz="1800" b="0">
                          <a:solidFill>
                            <a:srgbClr val="1B1B19"/>
                          </a:solidFill>
                        </a:rPr>
                        <a:t>罗马</a:t>
                      </a:r>
                      <a:r>
                        <a:rPr sz="1800" b="0">
                          <a:solidFill>
                            <a:srgbClr val="1B1B19"/>
                          </a:solidFill>
                        </a:rPr>
                        <a:t>真实出租车轨迹</a:t>
                      </a:r>
                      <a:endParaRPr sz="1800" b="0">
                        <a:solidFill>
                          <a:srgbClr val="1B1B19"/>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indent="0" algn="l" eaLnBrk="1" fontAlgn="auto" latinLnBrk="0" hangingPunct="1">
                        <a:lnSpc>
                          <a:spcPct val="200000"/>
                        </a:lnSpc>
                      </a:pPr>
                      <a:r>
                        <a:rPr lang="zh-CN" sz="1800" b="0">
                          <a:solidFill>
                            <a:srgbClr val="1B1B19"/>
                          </a:solidFill>
                        </a:rPr>
                        <a:t>映射轨迹。</a:t>
                      </a:r>
                      <a:r>
                        <a:rPr sz="1800">
                          <a:solidFill>
                            <a:srgbClr val="1B1B19"/>
                          </a:solidFill>
                          <a:sym typeface="+mn-ea"/>
                        </a:rPr>
                        <a:t>网格和 cell 大小是仿真抽象</a:t>
                      </a:r>
                      <a:endParaRPr sz="1800" b="0">
                        <a:solidFill>
                          <a:srgbClr val="1B1B19"/>
                        </a:solidFill>
                        <a:sym typeface="+mn-ea"/>
                      </a:endParaRPr>
                    </a:p>
                  </a:txBody>
                  <a:tcPr>
                    <a:lnL w="12700">
                      <a:solidFill>
                        <a:schemeClr val="tx1"/>
                      </a:solidFill>
                      <a:prstDash val="solid"/>
                    </a:lnL>
                    <a:lnR>
                      <a:noFill/>
                    </a:lnR>
                    <a:lnT w="12700">
                      <a:solidFill>
                        <a:schemeClr val="tx1"/>
                      </a:solidFill>
                      <a:prstDash val="solid"/>
                    </a:lnT>
                    <a:lnB w="12700">
                      <a:solidFill>
                        <a:schemeClr val="tx1"/>
                      </a:solidFill>
                      <a:prstDash val="solid"/>
                    </a:lnB>
                    <a:noFill/>
                  </a:tcPr>
                </a:tc>
              </a:tr>
              <a:tr h="523875">
                <a:tc>
                  <a:txBody>
                    <a:bodyPr/>
                    <a:lstStyle/>
                    <a:p>
                      <a:pPr indent="0" algn="ctr" eaLnBrk="1" fontAlgn="auto" latinLnBrk="0" hangingPunct="1">
                        <a:lnSpc>
                          <a:spcPct val="200000"/>
                        </a:lnSpc>
                      </a:pPr>
                      <a:r>
                        <a:rPr sz="1800" b="1">
                          <a:solidFill>
                            <a:srgbClr val="1B1B19"/>
                          </a:solidFill>
                        </a:rPr>
                        <a:t>DATA7</a:t>
                      </a:r>
                      <a:endParaRPr sz="1800" b="1">
                        <a:solidFill>
                          <a:srgbClr val="1B1B19"/>
                        </a:solidFill>
                      </a:endParaRPr>
                    </a:p>
                  </a:txBody>
                  <a:tcPr>
                    <a:lnL>
                      <a:noFill/>
                    </a:lnL>
                    <a:lnR w="12700">
                      <a:solidFill>
                        <a:schemeClr val="tx1"/>
                      </a:solidFill>
                      <a:prstDash val="solid"/>
                    </a:lnR>
                    <a:lnT w="12700">
                      <a:solidFill>
                        <a:schemeClr val="tx1"/>
                      </a:solidFill>
                      <a:prstDash val="solid"/>
                    </a:lnT>
                    <a:lnB>
                      <a:noFill/>
                    </a:lnB>
                  </a:tcPr>
                </a:tc>
                <a:tc>
                  <a:txBody>
                    <a:bodyPr/>
                    <a:lstStyle/>
                    <a:p>
                      <a:pPr indent="0" algn="l" eaLnBrk="1" fontAlgn="auto" latinLnBrk="0" hangingPunct="1">
                        <a:lnSpc>
                          <a:spcPct val="200000"/>
                        </a:lnSpc>
                      </a:pPr>
                      <a:r>
                        <a:rPr sz="1800" b="0">
                          <a:solidFill>
                            <a:srgbClr val="1B1B19"/>
                          </a:solidFill>
                        </a:rPr>
                        <a:t>30 个真实 gNB 位置、</a:t>
                      </a:r>
                      <a:r>
                        <a:rPr lang="zh-CN" sz="1800">
                          <a:solidFill>
                            <a:srgbClr val="1B1B19"/>
                          </a:solidFill>
                          <a:sym typeface="+mn-ea"/>
                        </a:rPr>
                        <a:t>车辆轨迹</a:t>
                      </a:r>
                      <a:r>
                        <a:rPr sz="1800">
                          <a:solidFill>
                            <a:srgbClr val="1B1B19"/>
                          </a:solidFill>
                          <a:sym typeface="+mn-ea"/>
                        </a:rPr>
                        <a:t>由</a:t>
                      </a:r>
                      <a:r>
                        <a:rPr lang="zh-CN" sz="1800">
                          <a:solidFill>
                            <a:srgbClr val="1B1B19"/>
                          </a:solidFill>
                          <a:sym typeface="+mn-ea"/>
                        </a:rPr>
                        <a:t>原作者</a:t>
                      </a:r>
                      <a:r>
                        <a:rPr sz="1800">
                          <a:solidFill>
                            <a:srgbClr val="1B1B19"/>
                          </a:solidFill>
                          <a:sym typeface="+mn-ea"/>
                        </a:rPr>
                        <a:t> SUMO 生成</a:t>
                      </a:r>
                      <a:endParaRPr sz="1800" b="0">
                        <a:solidFill>
                          <a:srgbClr val="1B1B19"/>
                        </a:solidFill>
                        <a:sym typeface="+mn-ea"/>
                      </a:endParaRPr>
                    </a:p>
                  </a:txBody>
                  <a:tcPr>
                    <a:lnL w="12700">
                      <a:solidFill>
                        <a:schemeClr val="tx1"/>
                      </a:solidFill>
                      <a:prstDash val="solid"/>
                    </a:lnL>
                    <a:lnR w="12700">
                      <a:solidFill>
                        <a:schemeClr val="tx1"/>
                      </a:solidFill>
                      <a:prstDash val="solid"/>
                    </a:lnR>
                    <a:lnT w="12700">
                      <a:solidFill>
                        <a:schemeClr val="tx1"/>
                      </a:solidFill>
                      <a:prstDash val="solid"/>
                    </a:lnT>
                    <a:lnB>
                      <a:noFill/>
                    </a:lnB>
                  </a:tcPr>
                </a:tc>
                <a:tc>
                  <a:txBody>
                    <a:bodyPr/>
                    <a:lstStyle/>
                    <a:p>
                      <a:pPr indent="0" algn="l" eaLnBrk="1" fontAlgn="auto" latinLnBrk="0" hangingPunct="1">
                        <a:lnSpc>
                          <a:spcPct val="200000"/>
                        </a:lnSpc>
                      </a:pPr>
                      <a:r>
                        <a:rPr lang="zh-CN" sz="1800">
                          <a:solidFill>
                            <a:srgbClr val="1B1B19"/>
                          </a:solidFill>
                          <a:sym typeface="+mn-ea"/>
                        </a:rPr>
                        <a:t>映射基站和轨迹。</a:t>
                      </a:r>
                      <a:r>
                        <a:rPr lang="en-US" altLang="zh-CN" sz="1800">
                          <a:solidFill>
                            <a:srgbClr val="1B1B19"/>
                          </a:solidFill>
                          <a:sym typeface="+mn-ea"/>
                        </a:rPr>
                        <a:t>3</a:t>
                      </a:r>
                      <a:r>
                        <a:rPr lang="zh-CN" altLang="en-US" sz="1800">
                          <a:solidFill>
                            <a:srgbClr val="1B1B19"/>
                          </a:solidFill>
                          <a:sym typeface="+mn-ea"/>
                        </a:rPr>
                        <a:t>0 个真实不规则的 </a:t>
                      </a:r>
                      <a:r>
                        <a:rPr lang="en-US" altLang="zh-CN" sz="1800">
                          <a:solidFill>
                            <a:srgbClr val="1B1B19"/>
                          </a:solidFill>
                          <a:sym typeface="+mn-ea"/>
                        </a:rPr>
                        <a:t>gNB </a:t>
                      </a:r>
                      <a:r>
                        <a:rPr lang="zh-CN" altLang="en-US" sz="1800">
                          <a:solidFill>
                            <a:srgbClr val="1B1B19"/>
                          </a:solidFill>
                          <a:sym typeface="+mn-ea"/>
                        </a:rPr>
                        <a:t>位置，</a:t>
                      </a:r>
                      <a:r>
                        <a:rPr lang="zh-CN" altLang="en-US" sz="1800">
                          <a:solidFill>
                            <a:srgbClr val="1B1B19"/>
                          </a:solidFill>
                          <a:sym typeface="+mn-ea"/>
                        </a:rPr>
                        <a:t>由 </a:t>
                      </a:r>
                      <a:r>
                        <a:rPr lang="en-US" altLang="zh-CN" sz="1800">
                          <a:solidFill>
                            <a:srgbClr val="1B1B19"/>
                          </a:solidFill>
                          <a:sym typeface="+mn-ea"/>
                        </a:rPr>
                        <a:t>k </a:t>
                      </a:r>
                      <a:r>
                        <a:rPr lang="zh-CN" altLang="en-US" sz="1800">
                          <a:solidFill>
                            <a:srgbClr val="1B1B19"/>
                          </a:solidFill>
                          <a:sym typeface="+mn-ea"/>
                        </a:rPr>
                        <a:t>近邻＋生成树构造，不是方格网格</a:t>
                      </a:r>
                      <a:r>
                        <a:rPr lang="zh-CN" altLang="en-US" sz="1800">
                          <a:solidFill>
                            <a:srgbClr val="1B1B19"/>
                          </a:solidFill>
                          <a:sym typeface="+mn-ea"/>
                        </a:rPr>
                        <a:t>；</a:t>
                      </a:r>
                      <a:r>
                        <a:rPr lang="zh-CN" altLang="en-US" sz="1800" b="1">
                          <a:solidFill>
                            <a:srgbClr val="1B1B19"/>
                          </a:solidFill>
                          <a:sym typeface="+mn-ea"/>
                        </a:rPr>
                        <a:t>车辆按最近 </a:t>
                      </a:r>
                      <a:r>
                        <a:rPr lang="en-US" altLang="zh-CN" sz="1800" b="1">
                          <a:solidFill>
                            <a:srgbClr val="1B1B19"/>
                          </a:solidFill>
                          <a:sym typeface="+mn-ea"/>
                        </a:rPr>
                        <a:t>gNB </a:t>
                      </a:r>
                      <a:r>
                        <a:rPr lang="zh-CN" altLang="en-US" sz="1800" b="1">
                          <a:solidFill>
                            <a:srgbClr val="1B1B19"/>
                          </a:solidFill>
                          <a:sym typeface="+mn-ea"/>
                        </a:rPr>
                        <a:t>归属</a:t>
                      </a:r>
                      <a:r>
                        <a:rPr lang="zh-CN" sz="1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cs typeface="微软雅黑" panose="020B0503020204020204" charset="-122"/>
                          <a:sym typeface="+mn-ea"/>
                        </a:rPr>
                        <a:t>（可</a:t>
                      </a:r>
                      <a:r>
                        <a:rPr lang="zh-CN" sz="1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cs typeface="微软雅黑" panose="020B0503020204020204" charset="-122"/>
                          <a:sym typeface="+mn-ea"/>
                        </a:rPr>
                        <a:t>探讨</a:t>
                      </a:r>
                      <a:endParaRPr lang="zh-CN" sz="1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cs typeface="微软雅黑" panose="020B0503020204020204" charset="-122"/>
                        <a:sym typeface="+mn-ea"/>
                      </a:endParaRPr>
                    </a:p>
                  </a:txBody>
                  <a:tcPr>
                    <a:lnL w="12700">
                      <a:solidFill>
                        <a:schemeClr val="tx1"/>
                      </a:solidFill>
                      <a:prstDash val="solid"/>
                    </a:lnL>
                    <a:lnR>
                      <a:noFill/>
                    </a:lnR>
                    <a:lnT w="12700">
                      <a:solidFill>
                        <a:schemeClr val="tx1"/>
                      </a:solidFill>
                      <a:prstDash val="solid"/>
                    </a:lnT>
                    <a:lnB>
                      <a:noFill/>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800">
                <a:sym typeface="+mn-ea"/>
              </a:rPr>
              <a:t>迁移开销</a:t>
            </a:r>
            <a:endParaRPr sz="2800" b="1">
              <a:solidFill>
                <a:srgbClr val="1B1B19"/>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graphicFrame>
        <p:nvGraphicFramePr>
          <p:cNvPr id="4" name="表格 3"/>
          <p:cNvGraphicFramePr/>
          <p:nvPr/>
        </p:nvGraphicFramePr>
        <p:xfrm>
          <a:off x="685800" y="1752600"/>
          <a:ext cx="10820400" cy="3638552"/>
        </p:xfrm>
        <a:graphic>
          <a:graphicData uri="http://schemas.openxmlformats.org/drawingml/2006/table">
            <a:tbl>
              <a:tblPr/>
              <a:tblGrid>
                <a:gridCol w="2190750"/>
                <a:gridCol w="5524500"/>
                <a:gridCol w="3105150"/>
              </a:tblGrid>
              <a:tr h="454819">
                <a:tc>
                  <a:txBody>
                    <a:bodyPr/>
                    <a:lstStyle/>
                    <a:p>
                      <a:pPr indent="0" algn="ctr" eaLnBrk="1" fontAlgn="auto" latinLnBrk="0" hangingPunct="1">
                        <a:lnSpc>
                          <a:spcPct val="200000"/>
                        </a:lnSpc>
                      </a:pPr>
                      <a:r>
                        <a:rPr sz="2000" b="1"/>
                        <a:t>指标</a:t>
                      </a:r>
                      <a:endParaRPr sz="2000" b="1"/>
                    </a:p>
                  </a:txBody>
                  <a:tcPr>
                    <a:lnL>
                      <a:noFill/>
                    </a:lnL>
                    <a:lnR w="12700">
                      <a:solidFill>
                        <a:schemeClr val="tx1"/>
                      </a:solidFill>
                      <a:prstDash val="solid"/>
                    </a:lnR>
                    <a:lnT>
                      <a:noFill/>
                    </a:lnT>
                    <a:lnB w="12700">
                      <a:solidFill>
                        <a:schemeClr val="tx1"/>
                      </a:solidFill>
                      <a:prstDash val="solid"/>
                    </a:lnB>
                    <a:noFill/>
                  </a:tcPr>
                </a:tc>
                <a:tc>
                  <a:txBody>
                    <a:bodyPr/>
                    <a:lstStyle/>
                    <a:p>
                      <a:pPr indent="0" algn="ctr" eaLnBrk="1" fontAlgn="auto" latinLnBrk="0" hangingPunct="1">
                        <a:lnSpc>
                          <a:spcPct val="200000"/>
                        </a:lnSpc>
                      </a:pPr>
                      <a:r>
                        <a:rPr sz="2000" b="1"/>
                        <a:t>定义</a:t>
                      </a:r>
                      <a:endParaRPr sz="2000" b="1"/>
                    </a:p>
                  </a:txBody>
                  <a:tcPr>
                    <a:lnL w="12700">
                      <a:solidFill>
                        <a:schemeClr val="tx1"/>
                      </a:solidFill>
                      <a:prstDash val="solid"/>
                    </a:lnL>
                    <a:lnR w="12700">
                      <a:solidFill>
                        <a:schemeClr val="tx1"/>
                      </a:solidFill>
                      <a:prstDash val="solid"/>
                    </a:lnR>
                    <a:lnT>
                      <a:noFill/>
                    </a:lnT>
                    <a:lnB w="12700">
                      <a:solidFill>
                        <a:schemeClr val="tx1"/>
                      </a:solidFill>
                      <a:prstDash val="solid"/>
                    </a:lnB>
                    <a:noFill/>
                  </a:tcPr>
                </a:tc>
                <a:tc>
                  <a:txBody>
                    <a:bodyPr/>
                    <a:lstStyle/>
                    <a:p>
                      <a:pPr indent="0" algn="ctr" eaLnBrk="1" fontAlgn="auto" latinLnBrk="0" hangingPunct="1">
                        <a:lnSpc>
                          <a:spcPct val="200000"/>
                        </a:lnSpc>
                      </a:pPr>
                      <a:r>
                        <a:rPr sz="2000" b="1"/>
                        <a:t>回答什么问题</a:t>
                      </a:r>
                      <a:endParaRPr sz="2000" b="1"/>
                    </a:p>
                  </a:txBody>
                  <a:tcPr>
                    <a:lnL w="12700">
                      <a:solidFill>
                        <a:schemeClr val="tx1"/>
                      </a:solidFill>
                      <a:prstDash val="solid"/>
                    </a:lnL>
                    <a:lnR>
                      <a:noFill/>
                    </a:lnR>
                    <a:lnT>
                      <a:noFill/>
                    </a:lnT>
                    <a:lnB w="12700">
                      <a:solidFill>
                        <a:schemeClr val="tx1"/>
                      </a:solidFill>
                      <a:prstDash val="solid"/>
                    </a:lnB>
                    <a:noFill/>
                  </a:tcPr>
                </a:tc>
              </a:tr>
              <a:tr h="454819">
                <a:tc>
                  <a:txBody>
                    <a:bodyPr/>
                    <a:lstStyle/>
                    <a:p>
                      <a:pPr indent="0" algn="ctr" eaLnBrk="1" fontAlgn="auto" latinLnBrk="0" hangingPunct="1">
                        <a:lnSpc>
                          <a:spcPct val="200000"/>
                        </a:lnSpc>
                      </a:pPr>
                      <a:r>
                        <a:rPr sz="1800" b="1">
                          <a:solidFill>
                            <a:srgbClr val="1B1B19"/>
                          </a:solidFill>
                        </a:rPr>
                        <a:t>服务中断</a:t>
                      </a:r>
                      <a:endParaRPr sz="18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indent="0" algn="ctr" eaLnBrk="1" fontAlgn="auto" latinLnBrk="0" hangingPunct="1">
                        <a:lnSpc>
                          <a:spcPct val="200000"/>
                        </a:lnSpc>
                      </a:pPr>
                      <a:r>
                        <a:rPr sz="1800" b="0">
                          <a:solidFill>
                            <a:srgbClr val="1B1B19"/>
                          </a:solidFill>
                        </a:rPr>
                        <a:t>该服务不可用的车辆秒数 ÷ 该服务全部车辆秒数</a:t>
                      </a:r>
                      <a:endParaRPr sz="1800" b="0">
                        <a:solidFill>
                          <a:srgbClr val="1B1B19"/>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indent="0" algn="ctr" eaLnBrk="1" fontAlgn="auto" latinLnBrk="0" hangingPunct="1">
                        <a:lnSpc>
                          <a:spcPct val="200000"/>
                        </a:lnSpc>
                      </a:pPr>
                      <a:r>
                        <a:rPr sz="1800" b="0">
                          <a:solidFill>
                            <a:srgbClr val="1B1B19"/>
                          </a:solidFill>
                        </a:rPr>
                        <a:t>用户</a:t>
                      </a:r>
                      <a:r>
                        <a:rPr lang="zh-CN" sz="1800" b="0">
                          <a:solidFill>
                            <a:srgbClr val="1B1B19"/>
                          </a:solidFill>
                        </a:rPr>
                        <a:t>感知</a:t>
                      </a:r>
                      <a:r>
                        <a:rPr sz="1800" b="0">
                          <a:solidFill>
                            <a:srgbClr val="1B1B19"/>
                          </a:solidFill>
                        </a:rPr>
                        <a:t>的</a:t>
                      </a:r>
                      <a:r>
                        <a:rPr lang="zh-CN" sz="1800" b="0">
                          <a:solidFill>
                            <a:srgbClr val="1B1B19"/>
                          </a:solidFill>
                        </a:rPr>
                        <a:t>中断</a:t>
                      </a:r>
                      <a:endParaRPr lang="zh-CN" sz="1800" b="0">
                        <a:solidFill>
                          <a:srgbClr val="1B1B19"/>
                        </a:solidFill>
                      </a:endParaRPr>
                    </a:p>
                  </a:txBody>
                  <a:tcPr>
                    <a:lnL w="12700">
                      <a:solidFill>
                        <a:schemeClr val="tx1"/>
                      </a:solidFill>
                      <a:prstDash val="solid"/>
                    </a:lnL>
                    <a:lnR>
                      <a:noFill/>
                    </a:lnR>
                    <a:lnT w="12700">
                      <a:solidFill>
                        <a:schemeClr val="tx1"/>
                      </a:solidFill>
                      <a:prstDash val="solid"/>
                    </a:lnT>
                    <a:lnB w="12700">
                      <a:solidFill>
                        <a:schemeClr val="tx1"/>
                      </a:solidFill>
                      <a:prstDash val="solid"/>
                    </a:lnB>
                  </a:tcPr>
                </a:tc>
              </a:tr>
              <a:tr h="454819">
                <a:tc>
                  <a:txBody>
                    <a:bodyPr/>
                    <a:lstStyle/>
                    <a:p>
                      <a:pPr indent="0" algn="ctr" eaLnBrk="1" fontAlgn="auto" latinLnBrk="0" hangingPunct="1">
                        <a:lnSpc>
                          <a:spcPct val="200000"/>
                        </a:lnSpc>
                      </a:pPr>
                      <a:r>
                        <a:rPr sz="1800" b="1">
                          <a:solidFill>
                            <a:srgbClr val="1B1B19"/>
                          </a:solidFill>
                        </a:rPr>
                        <a:t>到达后滞后</a:t>
                      </a:r>
                      <a:endParaRPr sz="18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indent="0" algn="ctr" eaLnBrk="1" fontAlgn="auto" latinLnBrk="0" hangingPunct="1">
                        <a:lnSpc>
                          <a:spcPct val="200000"/>
                        </a:lnSpc>
                      </a:pPr>
                      <a:r>
                        <a:rPr sz="1800" b="0">
                          <a:solidFill>
                            <a:srgbClr val="1B1B19"/>
                          </a:solidFill>
                        </a:rPr>
                        <a:t>handover 完成后，又经过多少步迁移才完成</a:t>
                      </a:r>
                      <a:endParaRPr sz="1800" b="0">
                        <a:solidFill>
                          <a:srgbClr val="1B1B19"/>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indent="0" algn="ctr" eaLnBrk="1" fontAlgn="auto" latinLnBrk="0" hangingPunct="1">
                        <a:lnSpc>
                          <a:spcPct val="200000"/>
                        </a:lnSpc>
                      </a:pPr>
                      <a:r>
                        <a:rPr sz="1800" b="0">
                          <a:solidFill>
                            <a:srgbClr val="1B1B19"/>
                          </a:solidFill>
                        </a:rPr>
                        <a:t>车到了以后还要等多久？</a:t>
                      </a:r>
                      <a:endParaRPr sz="1800" b="0">
                        <a:solidFill>
                          <a:srgbClr val="1B1B19"/>
                        </a:solidFill>
                      </a:endParaRPr>
                    </a:p>
                  </a:txBody>
                  <a:tcPr>
                    <a:lnL w="12700">
                      <a:solidFill>
                        <a:schemeClr val="tx1"/>
                      </a:solidFill>
                      <a:prstDash val="solid"/>
                    </a:lnL>
                    <a:lnR>
                      <a:noFill/>
                    </a:lnR>
                    <a:lnT w="12700">
                      <a:solidFill>
                        <a:schemeClr val="tx1"/>
                      </a:solidFill>
                      <a:prstDash val="solid"/>
                    </a:lnT>
                    <a:lnB w="12700">
                      <a:solidFill>
                        <a:schemeClr val="tx1"/>
                      </a:solidFill>
                      <a:prstDash val="solid"/>
                    </a:lnB>
                  </a:tcPr>
                </a:tc>
              </a:tr>
              <a:tr h="454819">
                <a:tc>
                  <a:txBody>
                    <a:bodyPr/>
                    <a:lstStyle/>
                    <a:p>
                      <a:pPr indent="0" algn="ctr" eaLnBrk="1" fontAlgn="auto" latinLnBrk="0" hangingPunct="1">
                        <a:lnSpc>
                          <a:spcPct val="200000"/>
                        </a:lnSpc>
                      </a:pPr>
                      <a:r>
                        <a:rPr sz="1800" b="1">
                          <a:solidFill>
                            <a:srgbClr val="1B1B19"/>
                          </a:solidFill>
                        </a:rPr>
                        <a:t>迁移字节</a:t>
                      </a:r>
                      <a:endParaRPr sz="18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indent="0" algn="ctr" eaLnBrk="1" fontAlgn="auto" latinLnBrk="0" hangingPunct="1">
                        <a:lnSpc>
                          <a:spcPct val="200000"/>
                        </a:lnSpc>
                      </a:pPr>
                      <a:r>
                        <a:rPr sz="1800" b="0">
                          <a:solidFill>
                            <a:srgbClr val="1B1B19"/>
                          </a:solidFill>
                        </a:rPr>
                        <a:t>状态、缺失镜像和其它同步产生的总字节</a:t>
                      </a:r>
                      <a:endParaRPr sz="1800" b="0">
                        <a:solidFill>
                          <a:srgbClr val="1B1B19"/>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indent="0" algn="ctr" eaLnBrk="1" fontAlgn="auto" latinLnBrk="0" hangingPunct="1">
                        <a:lnSpc>
                          <a:spcPct val="200000"/>
                        </a:lnSpc>
                      </a:pPr>
                      <a:r>
                        <a:rPr sz="1800" b="0">
                          <a:solidFill>
                            <a:srgbClr val="1B1B19"/>
                          </a:solidFill>
                        </a:rPr>
                        <a:t>传输成本</a:t>
                      </a:r>
                      <a:endParaRPr sz="1800" b="0">
                        <a:solidFill>
                          <a:srgbClr val="1B1B19"/>
                        </a:solidFill>
                      </a:endParaRPr>
                    </a:p>
                  </a:txBody>
                  <a:tcPr>
                    <a:lnL w="12700">
                      <a:solidFill>
                        <a:schemeClr val="tx1"/>
                      </a:solidFill>
                      <a:prstDash val="solid"/>
                    </a:lnL>
                    <a:lnR>
                      <a:noFill/>
                    </a:lnR>
                    <a:lnT w="12700">
                      <a:solidFill>
                        <a:schemeClr val="tx1"/>
                      </a:solidFill>
                      <a:prstDash val="solid"/>
                    </a:lnT>
                    <a:lnB w="12700">
                      <a:solidFill>
                        <a:schemeClr val="tx1"/>
                      </a:solidFill>
                      <a:prstDash val="solid"/>
                    </a:lnB>
                  </a:tcPr>
                </a:tc>
              </a:tr>
              <a:tr h="454819">
                <a:tc>
                  <a:txBody>
                    <a:bodyPr/>
                    <a:lstStyle/>
                    <a:p>
                      <a:pPr indent="0" algn="ctr" eaLnBrk="1" fontAlgn="auto" latinLnBrk="0" hangingPunct="1">
                        <a:lnSpc>
                          <a:spcPct val="200000"/>
                        </a:lnSpc>
                      </a:pPr>
                      <a:r>
                        <a:rPr lang="zh-CN" sz="1800" b="1">
                          <a:solidFill>
                            <a:srgbClr val="1B1B19"/>
                          </a:solidFill>
                        </a:rPr>
                        <a:t>无效</a:t>
                      </a:r>
                      <a:r>
                        <a:rPr sz="1800" b="1">
                          <a:solidFill>
                            <a:srgbClr val="1B1B19"/>
                          </a:solidFill>
                        </a:rPr>
                        <a:t>迁移率</a:t>
                      </a:r>
                      <a:endParaRPr sz="1800" b="1">
                        <a:solidFill>
                          <a:srgbClr val="1B1B19"/>
                        </a:solidFill>
                      </a:endParaRPr>
                    </a:p>
                  </a:txBody>
                  <a:tcPr>
                    <a:lnL>
                      <a:noFill/>
                    </a:lnL>
                    <a:lnR w="12700">
                      <a:solidFill>
                        <a:schemeClr val="tx1"/>
                      </a:solidFill>
                      <a:prstDash val="solid"/>
                    </a:lnR>
                    <a:lnT w="12700">
                      <a:solidFill>
                        <a:schemeClr val="tx1"/>
                      </a:solidFill>
                      <a:prstDash val="solid"/>
                    </a:lnT>
                    <a:lnB>
                      <a:noFill/>
                    </a:lnB>
                  </a:tcPr>
                </a:tc>
                <a:tc>
                  <a:txBody>
                    <a:bodyPr/>
                    <a:lstStyle/>
                    <a:p>
                      <a:pPr indent="0" algn="ctr" eaLnBrk="1" fontAlgn="auto" latinLnBrk="0" hangingPunct="1">
                        <a:lnSpc>
                          <a:spcPct val="200000"/>
                        </a:lnSpc>
                      </a:pPr>
                      <a:r>
                        <a:rPr lang="zh-CN" altLang="en-US" sz="1800" b="0">
                          <a:solidFill>
                            <a:srgbClr val="1B1B19"/>
                          </a:solidFill>
                        </a:rPr>
                        <a:t>无效迁移次数 ÷ 总迁移次数</a:t>
                      </a:r>
                      <a:endParaRPr lang="zh-CN" altLang="en-US" sz="1800" b="0">
                        <a:solidFill>
                          <a:srgbClr val="1B1B19"/>
                        </a:solidFill>
                      </a:endParaRPr>
                    </a:p>
                  </a:txBody>
                  <a:tcPr>
                    <a:lnL w="12700">
                      <a:solidFill>
                        <a:schemeClr val="tx1"/>
                      </a:solidFill>
                      <a:prstDash val="solid"/>
                    </a:lnL>
                    <a:lnR w="12700">
                      <a:solidFill>
                        <a:schemeClr val="tx1"/>
                      </a:solidFill>
                      <a:prstDash val="solid"/>
                    </a:lnR>
                    <a:lnT w="12700">
                      <a:solidFill>
                        <a:schemeClr val="tx1"/>
                      </a:solidFill>
                      <a:prstDash val="solid"/>
                    </a:lnT>
                    <a:lnB>
                      <a:noFill/>
                    </a:lnB>
                  </a:tcPr>
                </a:tc>
                <a:tc>
                  <a:txBody>
                    <a:bodyPr/>
                    <a:lstStyle/>
                    <a:p>
                      <a:pPr indent="0" algn="ctr" eaLnBrk="1" fontAlgn="auto" latinLnBrk="0" hangingPunct="1">
                        <a:lnSpc>
                          <a:spcPct val="200000"/>
                        </a:lnSpc>
                      </a:pPr>
                      <a:r>
                        <a:rPr sz="1800" b="0">
                          <a:solidFill>
                            <a:srgbClr val="1B1B19"/>
                          </a:solidFill>
                        </a:rPr>
                        <a:t>有没有做无用功？</a:t>
                      </a:r>
                      <a:endParaRPr sz="1800" b="0">
                        <a:solidFill>
                          <a:srgbClr val="1B1B19"/>
                        </a:solidFill>
                      </a:endParaRPr>
                    </a:p>
                  </a:txBody>
                  <a:tcPr>
                    <a:lnL w="12700">
                      <a:solidFill>
                        <a:schemeClr val="tx1"/>
                      </a:solidFill>
                      <a:prstDash val="solid"/>
                    </a:lnL>
                    <a:lnR>
                      <a:noFill/>
                    </a:lnR>
                    <a:lnT w="12700">
                      <a:solidFill>
                        <a:schemeClr val="tx1"/>
                      </a:solidFill>
                      <a:prstDash val="solid"/>
                    </a:lnT>
                    <a:lnB>
                      <a:noFill/>
                    </a:lnB>
                  </a:tcPr>
                </a:tc>
              </a:tr>
            </a:tbl>
          </a:graphicData>
        </a:graphic>
      </p:graphicFrame>
      <p:sp>
        <p:nvSpPr>
          <p:cNvPr id="5" name="矩形 4"/>
          <p:cNvSpPr>
            <a:spLocks noGrp="1"/>
          </p:cNvSpPr>
          <p:nvPr/>
        </p:nvSpPr>
        <p:spPr>
          <a:xfrm>
            <a:off x="767080" y="5661660"/>
            <a:ext cx="10820400" cy="285750"/>
          </a:xfrm>
          <a:prstGeom prst="rect">
            <a:avLst/>
          </a:prstGeom>
          <a:noFill/>
          <a:ln w="0">
            <a:noFill/>
            <a:prstDash val="solid"/>
          </a:ln>
        </p:spPr>
        <p:txBody>
          <a:bodyPr wrap="square" lIns="0" tIns="0" rIns="0" bIns="0" anchor="t">
            <a:noAutofit/>
          </a:bodyPr>
          <a:lstStyle>
            <a:defPPr algn="l">
              <a:defRPr sz="103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35" b="0">
                <a:solidFill>
                  <a:srgbClr val="5F5F58"/>
                </a:solidFill>
                <a:latin typeface="微软雅黑" panose="020B0503020204020204" charset="-122"/>
                <a:ea typeface="微软雅黑" panose="020B0503020204020204" charset="-122"/>
                <a:cs typeface="微软雅黑" panose="020B0503020204020204" charset="-122"/>
              </a:defRPr>
            </a:pPr>
            <a:r>
              <a:rPr sz="1800" b="1">
                <a:solidFill>
                  <a:srgbClr val="5F5F58"/>
                </a:solidFill>
                <a:latin typeface="微软雅黑" panose="020B0503020204020204" charset="-122"/>
                <a:ea typeface="微软雅黑" panose="020B0503020204020204" charset="-122"/>
                <a:cs typeface="微软雅黑" panose="020B0503020204020204" charset="-122"/>
              </a:rPr>
              <a:t>一辆车有多个服务，只要至少一个服务不可用，就记这一秒为中断。</a:t>
            </a:r>
            <a:endParaRPr sz="1800" b="1">
              <a:solidFill>
                <a:srgbClr val="5F5F58"/>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lang="zh-CN" sz="2800" b="1">
                <a:solidFill>
                  <a:srgbClr val="1B1B19"/>
                </a:solidFill>
                <a:latin typeface="微软雅黑" panose="020B0503020204020204" charset="-122"/>
                <a:ea typeface="微软雅黑" panose="020B0503020204020204" charset="-122"/>
                <a:cs typeface="微软雅黑" panose="020B0503020204020204" charset="-122"/>
              </a:rPr>
              <a:t>实验</a:t>
            </a:r>
            <a:endParaRPr sz="28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graphicFrame>
        <p:nvGraphicFramePr>
          <p:cNvPr id="4" name="表格 3"/>
          <p:cNvGraphicFramePr/>
          <p:nvPr>
            <p:custDataLst>
              <p:tags r:id="rId1"/>
            </p:custDataLst>
          </p:nvPr>
        </p:nvGraphicFramePr>
        <p:xfrm>
          <a:off x="695325" y="1628775"/>
          <a:ext cx="8656955" cy="4632960"/>
        </p:xfrm>
        <a:graphic>
          <a:graphicData uri="http://schemas.openxmlformats.org/drawingml/2006/table">
            <a:tbl>
              <a:tblPr/>
              <a:tblGrid>
                <a:gridCol w="2499995"/>
                <a:gridCol w="6156960"/>
              </a:tblGrid>
              <a:tr h="419100">
                <a:tc>
                  <a:txBody>
                    <a:bodyPr/>
                    <a:lstStyle/>
                    <a:p>
                      <a:pPr indent="0" algn="ctr" eaLnBrk="1" fontAlgn="auto" latinLnBrk="0" hangingPunct="1">
                        <a:lnSpc>
                          <a:spcPct val="200000"/>
                        </a:lnSpc>
                      </a:pPr>
                      <a:r>
                        <a:rPr sz="1600" b="1"/>
                        <a:t>变量</a:t>
                      </a:r>
                      <a:endParaRPr sz="1600" b="1"/>
                    </a:p>
                  </a:txBody>
                  <a:tcPr>
                    <a:lnL>
                      <a:noFill/>
                    </a:lnL>
                    <a:lnR w="12700">
                      <a:solidFill>
                        <a:schemeClr val="tx1"/>
                      </a:solidFill>
                      <a:prstDash val="solid"/>
                    </a:lnR>
                    <a:lnT>
                      <a:noFill/>
                    </a:lnT>
                    <a:lnB w="12700">
                      <a:solidFill>
                        <a:schemeClr val="tx1"/>
                      </a:solidFill>
                      <a:prstDash val="solid"/>
                    </a:lnB>
                    <a:noFill/>
                  </a:tcPr>
                </a:tc>
                <a:tc>
                  <a:txBody>
                    <a:bodyPr/>
                    <a:lstStyle/>
                    <a:p>
                      <a:pPr indent="0" algn="ctr" eaLnBrk="1" fontAlgn="auto" latinLnBrk="0" hangingPunct="1">
                        <a:lnSpc>
                          <a:spcPct val="200000"/>
                        </a:lnSpc>
                      </a:pPr>
                      <a:r>
                        <a:rPr sz="1600" b="1"/>
                        <a:t>设置</a:t>
                      </a:r>
                      <a:endParaRPr sz="1600" b="1"/>
                    </a:p>
                  </a:txBody>
                  <a:tcPr>
                    <a:lnL w="12700">
                      <a:solidFill>
                        <a:schemeClr val="tx1"/>
                      </a:solidFill>
                      <a:prstDash val="solid"/>
                    </a:lnL>
                    <a:lnR>
                      <a:noFill/>
                    </a:lnR>
                    <a:lnT>
                      <a:noFill/>
                    </a:lnT>
                    <a:lnB w="12700">
                      <a:solidFill>
                        <a:schemeClr val="tx1"/>
                      </a:solidFill>
                      <a:prstDash val="solid"/>
                    </a:lnB>
                    <a:noFill/>
                  </a:tcPr>
                </a:tc>
              </a:tr>
              <a:tr h="419100">
                <a:tc>
                  <a:txBody>
                    <a:bodyPr/>
                    <a:lstStyle/>
                    <a:p>
                      <a:pPr indent="0" algn="ctr" eaLnBrk="1" fontAlgn="auto" latinLnBrk="0" hangingPunct="1">
                        <a:lnSpc>
                          <a:spcPct val="200000"/>
                        </a:lnSpc>
                      </a:pPr>
                      <a:r>
                        <a:rPr sz="1600" b="1">
                          <a:solidFill>
                            <a:srgbClr val="1B1B19"/>
                          </a:solidFill>
                        </a:rPr>
                        <a:t>运行时长</a:t>
                      </a:r>
                      <a:endParaRPr sz="16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indent="0" algn="ctr" eaLnBrk="1" fontAlgn="auto" latinLnBrk="0" hangingPunct="1">
                        <a:lnSpc>
                          <a:spcPct val="200000"/>
                        </a:lnSpc>
                      </a:pPr>
                      <a:r>
                        <a:rPr sz="1600" b="0">
                          <a:solidFill>
                            <a:srgbClr val="1B1B19"/>
                          </a:solidFill>
                        </a:rPr>
                        <a:t>1800 秒</a:t>
                      </a:r>
                      <a:endParaRPr sz="1600" b="0">
                        <a:solidFill>
                          <a:srgbClr val="1B1B19"/>
                        </a:solidFill>
                      </a:endParaRPr>
                    </a:p>
                  </a:txBody>
                  <a:tcPr>
                    <a:lnL w="12700">
                      <a:solidFill>
                        <a:schemeClr val="tx1"/>
                      </a:solidFill>
                      <a:prstDash val="solid"/>
                    </a:lnL>
                    <a:lnR>
                      <a:noFill/>
                    </a:lnR>
                    <a:lnT w="12700">
                      <a:solidFill>
                        <a:schemeClr val="tx1"/>
                      </a:solidFill>
                      <a:prstDash val="solid"/>
                    </a:lnT>
                    <a:lnB w="12700">
                      <a:solidFill>
                        <a:schemeClr val="tx1"/>
                      </a:solidFill>
                      <a:prstDash val="solid"/>
                    </a:lnB>
                  </a:tcPr>
                </a:tc>
              </a:tr>
              <a:tr h="419100">
                <a:tc>
                  <a:txBody>
                    <a:bodyPr/>
                    <a:lstStyle/>
                    <a:p>
                      <a:pPr indent="0" algn="ctr" eaLnBrk="1" fontAlgn="auto" latinLnBrk="0" hangingPunct="1">
                        <a:lnSpc>
                          <a:spcPct val="200000"/>
                        </a:lnSpc>
                      </a:pPr>
                      <a:r>
                        <a:rPr sz="1600" b="1">
                          <a:solidFill>
                            <a:srgbClr val="1B1B19"/>
                          </a:solidFill>
                        </a:rPr>
                        <a:t>车辆数</a:t>
                      </a:r>
                      <a:endParaRPr sz="16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indent="0" algn="ctr" eaLnBrk="1" fontAlgn="auto" latinLnBrk="0" hangingPunct="1">
                        <a:lnSpc>
                          <a:spcPct val="200000"/>
                        </a:lnSpc>
                      </a:pPr>
                      <a:r>
                        <a:rPr sz="1600" b="0">
                          <a:solidFill>
                            <a:srgbClr val="1B1B19"/>
                          </a:solidFill>
                        </a:rPr>
                        <a:t>12 辆</a:t>
                      </a:r>
                      <a:endParaRPr sz="1600" b="0">
                        <a:solidFill>
                          <a:srgbClr val="1B1B19"/>
                        </a:solidFill>
                      </a:endParaRPr>
                    </a:p>
                  </a:txBody>
                  <a:tcPr>
                    <a:lnL w="12700">
                      <a:solidFill>
                        <a:schemeClr val="tx1"/>
                      </a:solidFill>
                      <a:prstDash val="solid"/>
                    </a:lnL>
                    <a:lnR>
                      <a:noFill/>
                    </a:lnR>
                    <a:lnT w="12700">
                      <a:solidFill>
                        <a:schemeClr val="tx1"/>
                      </a:solidFill>
                      <a:prstDash val="solid"/>
                    </a:lnT>
                    <a:lnB w="12700">
                      <a:solidFill>
                        <a:schemeClr val="tx1"/>
                      </a:solidFill>
                      <a:prstDash val="solid"/>
                    </a:lnB>
                    <a:noFill/>
                  </a:tcPr>
                </a:tc>
              </a:tr>
              <a:tr h="419100">
                <a:tc>
                  <a:txBody>
                    <a:bodyPr/>
                    <a:lstStyle/>
                    <a:p>
                      <a:pPr indent="0" algn="ctr" eaLnBrk="1" fontAlgn="auto" latinLnBrk="0" hangingPunct="1">
                        <a:lnSpc>
                          <a:spcPct val="200000"/>
                        </a:lnSpc>
                      </a:pPr>
                      <a:r>
                        <a:rPr sz="1600" b="1">
                          <a:solidFill>
                            <a:srgbClr val="1B1B19"/>
                          </a:solidFill>
                        </a:rPr>
                        <a:t>服务数</a:t>
                      </a:r>
                      <a:endParaRPr sz="16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indent="0" algn="ctr" eaLnBrk="1" fontAlgn="auto" latinLnBrk="0" hangingPunct="1">
                        <a:lnSpc>
                          <a:spcPct val="200000"/>
                        </a:lnSpc>
                      </a:pPr>
                      <a:r>
                        <a:rPr sz="1600" b="0">
                          <a:solidFill>
                            <a:srgbClr val="1B1B19"/>
                          </a:solidFill>
                        </a:rPr>
                        <a:t>4 类，共 </a:t>
                      </a:r>
                      <a:r>
                        <a:rPr lang="en-US" sz="1600" b="0">
                          <a:solidFill>
                            <a:srgbClr val="1B1B19"/>
                          </a:solidFill>
                        </a:rPr>
                        <a:t>12*4</a:t>
                      </a:r>
                      <a:r>
                        <a:rPr sz="1600" b="0">
                          <a:solidFill>
                            <a:srgbClr val="1B1B19"/>
                          </a:solidFill>
                        </a:rPr>
                        <a:t> 个服务实例</a:t>
                      </a:r>
                      <a:endParaRPr sz="1600" b="0">
                        <a:solidFill>
                          <a:srgbClr val="1B1B19"/>
                        </a:solidFill>
                      </a:endParaRPr>
                    </a:p>
                  </a:txBody>
                  <a:tcPr>
                    <a:lnL w="12700">
                      <a:solidFill>
                        <a:schemeClr val="tx1"/>
                      </a:solidFill>
                      <a:prstDash val="solid"/>
                    </a:lnL>
                    <a:lnR>
                      <a:noFill/>
                    </a:lnR>
                    <a:lnT w="12700">
                      <a:solidFill>
                        <a:schemeClr val="tx1"/>
                      </a:solidFill>
                      <a:prstDash val="solid"/>
                    </a:lnT>
                    <a:lnB w="12700">
                      <a:solidFill>
                        <a:schemeClr val="tx1"/>
                      </a:solidFill>
                      <a:prstDash val="solid"/>
                    </a:lnB>
                  </a:tcPr>
                </a:tc>
              </a:tr>
              <a:tr h="419100">
                <a:tc>
                  <a:txBody>
                    <a:bodyPr/>
                    <a:lstStyle/>
                    <a:p>
                      <a:pPr indent="0" algn="ctr" eaLnBrk="1" fontAlgn="auto" latinLnBrk="0" hangingPunct="1">
                        <a:lnSpc>
                          <a:spcPct val="200000"/>
                        </a:lnSpc>
                      </a:pPr>
                      <a:r>
                        <a:rPr lang="zh-CN" sz="1600" b="1">
                          <a:solidFill>
                            <a:srgbClr val="1B1B19"/>
                          </a:solidFill>
                        </a:rPr>
                        <a:t>车辆</a:t>
                      </a:r>
                      <a:r>
                        <a:rPr sz="1600" b="1">
                          <a:solidFill>
                            <a:srgbClr val="1B1B19"/>
                          </a:solidFill>
                        </a:rPr>
                        <a:t>速度</a:t>
                      </a:r>
                      <a:endParaRPr sz="16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indent="0" algn="ctr" eaLnBrk="1" fontAlgn="auto" latinLnBrk="0" hangingPunct="1">
                        <a:lnSpc>
                          <a:spcPct val="200000"/>
                        </a:lnSpc>
                      </a:pPr>
                      <a:r>
                        <a:rPr sz="1600" b="0">
                          <a:solidFill>
                            <a:srgbClr val="1B1B19"/>
                          </a:solidFill>
                        </a:rPr>
                        <a:t>基线 40 km/h；压力测试扫 20/40/60/90</a:t>
                      </a:r>
                      <a:endParaRPr sz="1600" b="0">
                        <a:solidFill>
                          <a:srgbClr val="1B1B19"/>
                        </a:solidFill>
                      </a:endParaRPr>
                    </a:p>
                  </a:txBody>
                  <a:tcPr>
                    <a:lnL w="12700">
                      <a:solidFill>
                        <a:schemeClr val="tx1"/>
                      </a:solidFill>
                      <a:prstDash val="solid"/>
                    </a:lnL>
                    <a:lnR>
                      <a:noFill/>
                    </a:lnR>
                    <a:lnT w="12700">
                      <a:solidFill>
                        <a:schemeClr val="tx1"/>
                      </a:solidFill>
                      <a:prstDash val="solid"/>
                    </a:lnT>
                    <a:lnB w="12700">
                      <a:solidFill>
                        <a:schemeClr val="tx1"/>
                      </a:solidFill>
                      <a:prstDash val="solid"/>
                    </a:lnB>
                    <a:noFill/>
                  </a:tcPr>
                </a:tc>
              </a:tr>
              <a:tr h="419100">
                <a:tc>
                  <a:txBody>
                    <a:bodyPr/>
                    <a:lstStyle/>
                    <a:p>
                      <a:pPr indent="0" algn="ctr" eaLnBrk="1" fontAlgn="auto" latinLnBrk="0" hangingPunct="1">
                        <a:lnSpc>
                          <a:spcPct val="200000"/>
                        </a:lnSpc>
                      </a:pPr>
                      <a:r>
                        <a:rPr sz="1600" b="1">
                          <a:solidFill>
                            <a:srgbClr val="1B1B19"/>
                          </a:solidFill>
                        </a:rPr>
                        <a:t>链路带宽</a:t>
                      </a:r>
                      <a:endParaRPr sz="16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indent="0" algn="ctr" eaLnBrk="1" fontAlgn="auto" latinLnBrk="0" hangingPunct="1">
                        <a:lnSpc>
                          <a:spcPct val="200000"/>
                        </a:lnSpc>
                      </a:pPr>
                      <a:r>
                        <a:rPr sz="1600" b="0">
                          <a:solidFill>
                            <a:srgbClr val="1B1B19"/>
                          </a:solidFill>
                        </a:rPr>
                        <a:t>基线 500 Mbps；压力测试扫 100 Mbps/1 Gbps</a:t>
                      </a:r>
                      <a:endParaRPr sz="1600" b="0">
                        <a:solidFill>
                          <a:srgbClr val="1B1B19"/>
                        </a:solidFill>
                      </a:endParaRPr>
                    </a:p>
                  </a:txBody>
                  <a:tcPr>
                    <a:lnL w="12700">
                      <a:solidFill>
                        <a:schemeClr val="tx1"/>
                      </a:solidFill>
                      <a:prstDash val="solid"/>
                    </a:lnL>
                    <a:lnR>
                      <a:noFill/>
                    </a:lnR>
                    <a:lnT w="12700">
                      <a:solidFill>
                        <a:schemeClr val="tx1"/>
                      </a:solidFill>
                      <a:prstDash val="solid"/>
                    </a:lnT>
                    <a:lnB w="12700">
                      <a:solidFill>
                        <a:schemeClr val="tx1"/>
                      </a:solidFill>
                      <a:prstDash val="solid"/>
                    </a:lnB>
                  </a:tcPr>
                </a:tc>
              </a:tr>
              <a:tr h="419100">
                <a:tc>
                  <a:txBody>
                    <a:bodyPr/>
                    <a:lstStyle/>
                    <a:p>
                      <a:pPr indent="0" algn="ctr" eaLnBrk="1" fontAlgn="auto" latinLnBrk="0" hangingPunct="1">
                        <a:lnSpc>
                          <a:spcPct val="200000"/>
                        </a:lnSpc>
                      </a:pPr>
                      <a:r>
                        <a:rPr lang="en-US" sz="1600" b="1">
                          <a:solidFill>
                            <a:srgbClr val="1B1B19"/>
                          </a:solidFill>
                        </a:rPr>
                        <a:t>delta </a:t>
                      </a:r>
                      <a:r>
                        <a:rPr sz="1600" b="1">
                          <a:solidFill>
                            <a:srgbClr val="1B1B19"/>
                          </a:solidFill>
                        </a:rPr>
                        <a:t>恢复</a:t>
                      </a:r>
                      <a:endParaRPr sz="1600" b="1">
                        <a:solidFill>
                          <a:srgbClr val="1B1B19"/>
                        </a:solidFill>
                      </a:endParaRPr>
                    </a:p>
                  </a:txBody>
                  <a:tcPr>
                    <a:lnL>
                      <a:noFill/>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indent="0" algn="ctr" eaLnBrk="1" fontAlgn="auto" latinLnBrk="0" hangingPunct="1">
                        <a:lnSpc>
                          <a:spcPct val="200000"/>
                        </a:lnSpc>
                      </a:pPr>
                      <a:r>
                        <a:rPr sz="1600" b="0">
                          <a:solidFill>
                            <a:srgbClr val="1B1B19"/>
                          </a:solidFill>
                        </a:rPr>
                        <a:t>5 ms/MB</a:t>
                      </a:r>
                      <a:endParaRPr sz="1600" b="0">
                        <a:solidFill>
                          <a:srgbClr val="1B1B19"/>
                        </a:solidFill>
                      </a:endParaRPr>
                    </a:p>
                  </a:txBody>
                  <a:tcPr>
                    <a:lnL w="12700">
                      <a:solidFill>
                        <a:schemeClr val="tx1"/>
                      </a:solidFill>
                      <a:prstDash val="solid"/>
                    </a:lnL>
                    <a:lnR>
                      <a:noFill/>
                    </a:lnR>
                    <a:lnT w="12700">
                      <a:solidFill>
                        <a:schemeClr val="tx1"/>
                      </a:solidFill>
                      <a:prstDash val="solid"/>
                    </a:lnT>
                    <a:lnB w="12700">
                      <a:solidFill>
                        <a:schemeClr val="tx1"/>
                      </a:solidFill>
                      <a:prstDash val="solid"/>
                    </a:lnB>
                    <a:noFill/>
                  </a:tcPr>
                </a:tc>
              </a:tr>
              <a:tr h="419100">
                <a:tc>
                  <a:txBody>
                    <a:bodyPr/>
                    <a:lstStyle/>
                    <a:p>
                      <a:pPr indent="0" algn="ctr" eaLnBrk="1" fontAlgn="auto" latinLnBrk="0" hangingPunct="1">
                        <a:lnSpc>
                          <a:spcPct val="200000"/>
                        </a:lnSpc>
                      </a:pPr>
                      <a:r>
                        <a:rPr sz="1600" b="1">
                          <a:solidFill>
                            <a:srgbClr val="1B1B19"/>
                          </a:solidFill>
                        </a:rPr>
                        <a:t>提前量</a:t>
                      </a:r>
                      <a:endParaRPr sz="1600" b="1">
                        <a:solidFill>
                          <a:srgbClr val="1B1B19"/>
                        </a:solidFill>
                      </a:endParaRPr>
                    </a:p>
                  </a:txBody>
                  <a:tcPr>
                    <a:lnL>
                      <a:noFill/>
                    </a:lnL>
                    <a:lnR w="12700">
                      <a:solidFill>
                        <a:schemeClr val="tx1"/>
                      </a:solidFill>
                      <a:prstDash val="solid"/>
                    </a:lnR>
                    <a:lnT w="12700">
                      <a:solidFill>
                        <a:schemeClr val="tx1"/>
                      </a:solidFill>
                      <a:prstDash val="solid"/>
                    </a:lnT>
                    <a:lnB>
                      <a:noFill/>
                    </a:lnB>
                  </a:tcPr>
                </a:tc>
                <a:tc>
                  <a:txBody>
                    <a:bodyPr/>
                    <a:lstStyle/>
                    <a:p>
                      <a:pPr indent="0" algn="ctr" eaLnBrk="1" fontAlgn="auto" latinLnBrk="0" hangingPunct="1">
                        <a:lnSpc>
                          <a:spcPct val="200000"/>
                        </a:lnSpc>
                      </a:pPr>
                      <a:r>
                        <a:rPr sz="1600" b="0">
                          <a:solidFill>
                            <a:srgbClr val="1B1B19"/>
                          </a:solidFill>
                        </a:rPr>
                        <a:t>接近边界前</a:t>
                      </a:r>
                      <a:r>
                        <a:rPr lang="en-US" sz="1600" b="0">
                          <a:solidFill>
                            <a:srgbClr val="1B1B19"/>
                          </a:solidFill>
                        </a:rPr>
                        <a:t>{</a:t>
                      </a:r>
                      <a:r>
                        <a:rPr lang="zh-CN" sz="1600" b="0">
                          <a:solidFill>
                            <a:srgbClr val="1B1B19"/>
                          </a:solidFill>
                        </a:rPr>
                        <a:t>自适应</a:t>
                      </a:r>
                      <a:r>
                        <a:rPr lang="en-US" altLang="zh-CN" sz="1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cs typeface="微软雅黑" panose="020B0503020204020204" charset="-122"/>
                          <a:sym typeface="+mn-ea"/>
                        </a:rPr>
                        <a:t>(</a:t>
                      </a:r>
                      <a:r>
                        <a:rPr lang="zh-CN" altLang="en-US" sz="1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cs typeface="微软雅黑" panose="020B0503020204020204" charset="-122"/>
                          <a:sym typeface="+mn-ea"/>
                        </a:rPr>
                        <a:t>策略还没改好</a:t>
                      </a:r>
                      <a:r>
                        <a:rPr lang="en-US" altLang="zh-CN" sz="1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charset="-122"/>
                          <a:ea typeface="微软雅黑" panose="020B0503020204020204" charset="-122"/>
                          <a:cs typeface="微软雅黑" panose="020B0503020204020204" charset="-122"/>
                          <a:sym typeface="+mn-ea"/>
                        </a:rPr>
                        <a:t>)</a:t>
                      </a:r>
                      <a:r>
                        <a:rPr lang="en-US" altLang="zh-CN" sz="1600" b="0">
                          <a:solidFill>
                            <a:srgbClr val="1B1B19"/>
                          </a:solidFill>
                        </a:rPr>
                        <a:t>}</a:t>
                      </a:r>
                      <a:r>
                        <a:rPr lang="zh-CN" sz="1600" b="0">
                          <a:solidFill>
                            <a:srgbClr val="1B1B19"/>
                          </a:solidFill>
                        </a:rPr>
                        <a:t>仿真</a:t>
                      </a:r>
                      <a:r>
                        <a:rPr sz="1600" b="0">
                          <a:solidFill>
                            <a:srgbClr val="1B1B19"/>
                          </a:solidFill>
                        </a:rPr>
                        <a:t>步</a:t>
                      </a:r>
                      <a:r>
                        <a:rPr lang="zh-CN" sz="1600" b="0">
                          <a:solidFill>
                            <a:srgbClr val="1B1B19"/>
                          </a:solidFill>
                        </a:rPr>
                        <a:t>，</a:t>
                      </a:r>
                      <a:r>
                        <a:rPr sz="1600" b="0">
                          <a:solidFill>
                            <a:srgbClr val="1B1B19"/>
                          </a:solidFill>
                        </a:rPr>
                        <a:t>触发预迁移</a:t>
                      </a:r>
                      <a:endParaRPr sz="1600" b="0">
                        <a:solidFill>
                          <a:srgbClr val="1B1B19"/>
                        </a:solidFill>
                      </a:endParaRPr>
                    </a:p>
                  </a:txBody>
                  <a:tcPr>
                    <a:lnL w="12700">
                      <a:solidFill>
                        <a:schemeClr val="tx1"/>
                      </a:solidFill>
                      <a:prstDash val="solid"/>
                    </a:lnL>
                    <a:lnR>
                      <a:noFill/>
                    </a:lnR>
                    <a:lnT w="12700">
                      <a:solidFill>
                        <a:schemeClr val="tx1"/>
                      </a:solidFill>
                      <a:prstDash val="solid"/>
                    </a:lnT>
                    <a:lnB>
                      <a:noFill/>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lang="zh-CN" sz="2800" b="1">
                <a:solidFill>
                  <a:srgbClr val="1B1B19"/>
                </a:solidFill>
                <a:latin typeface="微软雅黑" panose="020B0503020204020204" charset="-122"/>
                <a:ea typeface="微软雅黑" panose="020B0503020204020204" charset="-122"/>
                <a:cs typeface="微软雅黑" panose="020B0503020204020204" charset="-122"/>
              </a:rPr>
              <a:t>基线策略</a:t>
            </a:r>
            <a:r>
              <a:rPr lang="en-US" altLang="zh-CN" sz="2800" b="1">
                <a:solidFill>
                  <a:srgbClr val="1B1B19"/>
                </a:solidFill>
                <a:latin typeface="微软雅黑" panose="020B0503020204020204" charset="-122"/>
                <a:ea typeface="微软雅黑" panose="020B0503020204020204" charset="-122"/>
                <a:cs typeface="微软雅黑" panose="020B0503020204020204" charset="-122"/>
              </a:rPr>
              <a:t> </a:t>
            </a:r>
            <a:r>
              <a:rPr sz="2800" b="1">
                <a:solidFill>
                  <a:srgbClr val="1B1B19"/>
                </a:solidFill>
                <a:latin typeface="微软雅黑" panose="020B0503020204020204" charset="-122"/>
                <a:ea typeface="微软雅黑" panose="020B0503020204020204" charset="-122"/>
                <a:cs typeface="微软雅黑" panose="020B0503020204020204" charset="-122"/>
              </a:rPr>
              <a:t>follow-me：车到哪，服务就把全部状态搬到哪</a:t>
            </a:r>
            <a:endParaRPr sz="28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sp>
        <p:nvSpPr>
          <p:cNvPr id="4" name="矩形 3"/>
          <p:cNvSpPr>
            <a:spLocks noGrp="1"/>
          </p:cNvSpPr>
          <p:nvPr/>
        </p:nvSpPr>
        <p:spPr>
          <a:xfrm>
            <a:off x="685800" y="1752600"/>
            <a:ext cx="3238500" cy="552450"/>
          </a:xfrm>
          <a:prstGeom prst="rect">
            <a:avLst/>
          </a:prstGeom>
          <a:noFill/>
          <a:ln w="0">
            <a:noFill/>
            <a:prstDash val="solid"/>
          </a:ln>
        </p:spPr>
        <p:txBody>
          <a:bodyPr wrap="square" lIns="0" tIns="0" rIns="0" bIns="0" anchor="t">
            <a:noAutofit/>
          </a:bodyPr>
          <a:lstStyle>
            <a:defPPr algn="l">
              <a:defRPr sz="2850" b="1">
                <a:solidFill>
                  <a:srgbClr val="B84A24"/>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2850" b="1">
                <a:solidFill>
                  <a:srgbClr val="B84A24"/>
                </a:solidFill>
                <a:latin typeface="微软雅黑" panose="020B0503020204020204" charset="-122"/>
                <a:ea typeface="微软雅黑" panose="020B0503020204020204" charset="-122"/>
                <a:cs typeface="微软雅黑" panose="020B0503020204020204" charset="-122"/>
              </a:defRPr>
            </a:pPr>
            <a:r>
              <a:rPr sz="2850">
                <a:solidFill>
                  <a:srgbClr val="B84A24"/>
                </a:solidFill>
                <a:latin typeface="微软雅黑" panose="020B0503020204020204" charset="-122"/>
                <a:ea typeface="微软雅黑" panose="020B0503020204020204" charset="-122"/>
                <a:cs typeface="微软雅黑" panose="020B0503020204020204" charset="-122"/>
              </a:rPr>
              <a:t>48.8%</a:t>
            </a:r>
            <a:endParaRPr sz="2850">
              <a:solidFill>
                <a:srgbClr val="B84A24"/>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685800" y="2305050"/>
            <a:ext cx="3238500" cy="285750"/>
          </a:xfrm>
          <a:prstGeom prst="rect">
            <a:avLst/>
          </a:prstGeom>
          <a:noFill/>
          <a:ln w="0">
            <a:noFill/>
            <a:prstDash val="solid"/>
          </a:ln>
        </p:spPr>
        <p:txBody>
          <a:bodyPr wrap="square" lIns="0" tIns="0" rIns="0" bIns="0" anchor="t">
            <a:noAutofit/>
          </a:bodyPr>
          <a:lstStyle>
            <a:defPPr algn="l">
              <a:defRPr sz="101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15" b="0">
                <a:solidFill>
                  <a:srgbClr val="5F5F58"/>
                </a:solidFill>
                <a:latin typeface="微软雅黑" panose="020B0503020204020204" charset="-122"/>
                <a:ea typeface="微软雅黑" panose="020B0503020204020204" charset="-122"/>
                <a:cs typeface="微软雅黑" panose="020B0503020204020204" charset="-122"/>
              </a:defRPr>
            </a:pPr>
            <a:r>
              <a:rPr lang="zh-CN" sz="1600" b="1">
                <a:solidFill>
                  <a:srgbClr val="5F5F58"/>
                </a:solidFill>
                <a:latin typeface="微软雅黑" panose="020B0503020204020204" charset="-122"/>
                <a:ea typeface="微软雅黑" panose="020B0503020204020204" charset="-122"/>
                <a:cs typeface="微软雅黑" panose="020B0503020204020204" charset="-122"/>
              </a:rPr>
              <a:t>时间</a:t>
            </a:r>
            <a:r>
              <a:rPr sz="1600" b="1">
                <a:solidFill>
                  <a:srgbClr val="5F5F58"/>
                </a:solidFill>
                <a:latin typeface="微软雅黑" panose="020B0503020204020204" charset="-122"/>
                <a:ea typeface="微软雅黑" panose="020B0503020204020204" charset="-122"/>
                <a:cs typeface="微软雅黑" panose="020B0503020204020204" charset="-122"/>
              </a:rPr>
              <a:t>发生服务中断</a:t>
            </a:r>
            <a:endParaRPr sz="16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343400" y="1752600"/>
            <a:ext cx="3238500" cy="552450"/>
          </a:xfrm>
          <a:prstGeom prst="rect">
            <a:avLst/>
          </a:prstGeom>
          <a:noFill/>
          <a:ln w="0">
            <a:noFill/>
            <a:prstDash val="solid"/>
          </a:ln>
        </p:spPr>
        <p:txBody>
          <a:bodyPr wrap="square" lIns="0" tIns="0" rIns="0" bIns="0" anchor="t">
            <a:noAutofit/>
          </a:bodyPr>
          <a:lstStyle>
            <a:defPPr algn="l">
              <a:defRPr sz="2850" b="1">
                <a:solidFill>
                  <a:srgbClr val="B84A24"/>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2850" b="1">
                <a:solidFill>
                  <a:srgbClr val="B84A24"/>
                </a:solidFill>
                <a:latin typeface="微软雅黑" panose="020B0503020204020204" charset="-122"/>
                <a:ea typeface="微软雅黑" panose="020B0503020204020204" charset="-122"/>
                <a:cs typeface="微软雅黑" panose="020B0503020204020204" charset="-122"/>
              </a:defRPr>
            </a:pPr>
            <a:r>
              <a:rPr sz="2850">
                <a:solidFill>
                  <a:srgbClr val="B84A24"/>
                </a:solidFill>
                <a:latin typeface="微软雅黑" panose="020B0503020204020204" charset="-122"/>
                <a:ea typeface="微软雅黑" panose="020B0503020204020204" charset="-122"/>
                <a:cs typeface="微软雅黑" panose="020B0503020204020204" charset="-122"/>
              </a:rPr>
              <a:t>345 GB</a:t>
            </a:r>
            <a:endParaRPr sz="2850">
              <a:solidFill>
                <a:srgbClr val="B84A24"/>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343400" y="2305050"/>
            <a:ext cx="3238500" cy="285750"/>
          </a:xfrm>
          <a:prstGeom prst="rect">
            <a:avLst/>
          </a:prstGeom>
          <a:noFill/>
          <a:ln w="0">
            <a:noFill/>
            <a:prstDash val="solid"/>
          </a:ln>
        </p:spPr>
        <p:txBody>
          <a:bodyPr wrap="square" lIns="0" tIns="0" rIns="0" bIns="0" anchor="t">
            <a:noAutofit/>
          </a:bodyPr>
          <a:lstStyle>
            <a:defPPr algn="l">
              <a:defRPr sz="101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15"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累计迁移字节</a:t>
            </a:r>
            <a:endParaRPr sz="16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001000" y="1752600"/>
            <a:ext cx="3238500" cy="552450"/>
          </a:xfrm>
          <a:prstGeom prst="rect">
            <a:avLst/>
          </a:prstGeom>
          <a:noFill/>
          <a:ln w="0">
            <a:noFill/>
            <a:prstDash val="solid"/>
          </a:ln>
        </p:spPr>
        <p:txBody>
          <a:bodyPr wrap="square" lIns="0" tIns="0" rIns="0" bIns="0" anchor="t">
            <a:noAutofit/>
          </a:bodyPr>
          <a:lstStyle>
            <a:defPPr algn="l">
              <a:defRPr sz="2850" b="1">
                <a:solidFill>
                  <a:srgbClr val="B84A24"/>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2850" b="1">
                <a:solidFill>
                  <a:srgbClr val="B84A24"/>
                </a:solidFill>
                <a:latin typeface="微软雅黑" panose="020B0503020204020204" charset="-122"/>
                <a:ea typeface="微软雅黑" panose="020B0503020204020204" charset="-122"/>
                <a:cs typeface="微软雅黑" panose="020B0503020204020204" charset="-122"/>
              </a:defRPr>
            </a:pPr>
            <a:r>
              <a:rPr sz="2850">
                <a:solidFill>
                  <a:srgbClr val="B84A24"/>
                </a:solidFill>
                <a:latin typeface="微软雅黑" panose="020B0503020204020204" charset="-122"/>
                <a:ea typeface="微软雅黑" panose="020B0503020204020204" charset="-122"/>
                <a:cs typeface="微软雅黑" panose="020B0503020204020204" charset="-122"/>
              </a:rPr>
              <a:t>48.2×</a:t>
            </a:r>
            <a:endParaRPr sz="2850">
              <a:solidFill>
                <a:srgbClr val="B84A24"/>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001000" y="2305050"/>
            <a:ext cx="3238500" cy="285750"/>
          </a:xfrm>
          <a:prstGeom prst="rect">
            <a:avLst/>
          </a:prstGeom>
          <a:noFill/>
          <a:ln w="0">
            <a:noFill/>
            <a:prstDash val="solid"/>
          </a:ln>
        </p:spPr>
        <p:txBody>
          <a:bodyPr wrap="square" lIns="0" tIns="0" rIns="0" bIns="0" anchor="t">
            <a:noAutofit/>
          </a:bodyPr>
          <a:lstStyle>
            <a:defPPr algn="l">
              <a:defRPr sz="101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15"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迁移字节 ÷ 业务字节</a:t>
            </a:r>
            <a:endParaRPr sz="1600" b="1">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685800" y="2924810"/>
            <a:ext cx="5219700" cy="1524000"/>
          </a:xfrm>
          <a:prstGeom prst="rect">
            <a:avLst/>
          </a:prstGeom>
          <a:noFill/>
          <a:ln w="0">
            <a:noFill/>
            <a:prstDash val="solid"/>
          </a:ln>
        </p:spPr>
        <p:txBody>
          <a:bodyPr wrap="square" lIns="0" tIns="0" rIns="0" bIns="0" anchor="t">
            <a:noAutofit/>
          </a:bodyPr>
          <a:lstStyle>
            <a:defPPr algn="l">
              <a:defRPr sz="114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42000"/>
              </a:lnSpc>
              <a:buNone/>
              <a:defRPr sz="1140" b="0">
                <a:solidFill>
                  <a:srgbClr val="1B1B19"/>
                </a:solidFill>
                <a:latin typeface="微软雅黑" panose="020B0503020204020204" charset="-122"/>
                <a:ea typeface="微软雅黑" panose="020B0503020204020204" charset="-122"/>
                <a:cs typeface="微软雅黑" panose="020B0503020204020204" charset="-122"/>
              </a:defRPr>
            </a:pPr>
            <a:r>
              <a:rPr lang="zh-CN" sz="1600" b="1">
                <a:solidFill>
                  <a:srgbClr val="1B1B19"/>
                </a:solidFill>
                <a:latin typeface="微软雅黑" panose="020B0503020204020204" charset="-122"/>
                <a:ea typeface="微软雅黑" panose="020B0503020204020204" charset="-122"/>
                <a:cs typeface="微软雅黑" panose="020B0503020204020204" charset="-122"/>
              </a:rPr>
              <a:t>数据集：</a:t>
            </a:r>
            <a:r>
              <a:rPr lang="en-US" altLang="zh-CN" sz="1600" b="1">
                <a:solidFill>
                  <a:srgbClr val="1B1B19"/>
                </a:solidFill>
                <a:latin typeface="微软雅黑" panose="020B0503020204020204" charset="-122"/>
                <a:ea typeface="微软雅黑" panose="020B0503020204020204" charset="-122"/>
                <a:cs typeface="微软雅黑" panose="020B0503020204020204" charset="-122"/>
              </a:rPr>
              <a:t>DATA7</a:t>
            </a:r>
            <a:endParaRPr sz="1600" b="1">
              <a:solidFill>
                <a:srgbClr val="1B1B19"/>
              </a:solidFill>
              <a:latin typeface="微软雅黑" panose="020B0503020204020204" charset="-122"/>
              <a:ea typeface="微软雅黑" panose="020B0503020204020204" charset="-122"/>
              <a:cs typeface="微软雅黑" panose="020B0503020204020204" charset="-122"/>
            </a:endParaRPr>
          </a:p>
          <a:p>
            <a:pPr algn="l">
              <a:lnSpc>
                <a:spcPct val="142000"/>
              </a:lnSpc>
              <a:buNone/>
              <a:defRPr sz="1140" b="0">
                <a:solidFill>
                  <a:srgbClr val="1B1B19"/>
                </a:solidFill>
                <a:latin typeface="微软雅黑" panose="020B0503020204020204" charset="-122"/>
                <a:ea typeface="微软雅黑" panose="020B0503020204020204" charset="-122"/>
                <a:cs typeface="微软雅黑" panose="020B0503020204020204" charset="-122"/>
              </a:defRPr>
            </a:pPr>
            <a:r>
              <a:rPr lang="zh-CN" sz="1600" b="1">
                <a:solidFill>
                  <a:srgbClr val="1B1B19"/>
                </a:solidFill>
                <a:latin typeface="微软雅黑" panose="020B0503020204020204" charset="-122"/>
                <a:ea typeface="微软雅黑" panose="020B0503020204020204" charset="-122"/>
                <a:cs typeface="微软雅黑" panose="020B0503020204020204" charset="-122"/>
              </a:rPr>
              <a:t>解释</a:t>
            </a:r>
            <a:r>
              <a:rPr sz="1600" b="1">
                <a:solidFill>
                  <a:srgbClr val="1B1B19"/>
                </a:solidFill>
                <a:latin typeface="微软雅黑" panose="020B0503020204020204" charset="-122"/>
                <a:ea typeface="微软雅黑" panose="020B0503020204020204" charset="-122"/>
                <a:cs typeface="微软雅黑" panose="020B0503020204020204" charset="-122"/>
              </a:rPr>
              <a:t>：在 12 辆车、1800 秒、500 Mbps 下，48.8% 的车辆秒至少有一个服务不可用</a:t>
            </a:r>
            <a:r>
              <a:rPr lang="zh-CN" sz="1600" b="1">
                <a:solidFill>
                  <a:srgbClr val="1B1B19"/>
                </a:solidFill>
                <a:latin typeface="微软雅黑" panose="020B0503020204020204" charset="-122"/>
                <a:ea typeface="微软雅黑" panose="020B0503020204020204" charset="-122"/>
                <a:cs typeface="微软雅黑" panose="020B0503020204020204" charset="-122"/>
              </a:rPr>
              <a:t>。</a:t>
            </a:r>
            <a:endParaRPr sz="1600" b="1">
              <a:solidFill>
                <a:srgbClr val="1B1B19"/>
              </a:solidFill>
              <a:latin typeface="微软雅黑" panose="020B0503020204020204" charset="-122"/>
              <a:ea typeface="微软雅黑" panose="020B0503020204020204" charset="-122"/>
              <a:cs typeface="微软雅黑" panose="020B0503020204020204" charset="-122"/>
            </a:endParaRPr>
          </a:p>
          <a:p>
            <a:pPr algn="l">
              <a:lnSpc>
                <a:spcPct val="142000"/>
              </a:lnSpc>
              <a:buNone/>
              <a:defRPr sz="1140" b="0">
                <a:solidFill>
                  <a:srgbClr val="1B1B19"/>
                </a:solidFill>
                <a:latin typeface="微软雅黑" panose="020B0503020204020204" charset="-122"/>
                <a:ea typeface="微软雅黑" panose="020B0503020204020204" charset="-122"/>
                <a:cs typeface="微软雅黑" panose="020B0503020204020204" charset="-122"/>
              </a:defRPr>
            </a:pPr>
            <a:endParaRPr sz="1600" b="1"/>
          </a:p>
          <a:p>
            <a:pPr algn="l">
              <a:lnSpc>
                <a:spcPct val="142000"/>
              </a:lnSpc>
              <a:buNone/>
              <a:defRPr sz="1140" b="0">
                <a:solidFill>
                  <a:srgbClr val="1B1B19"/>
                </a:solidFill>
                <a:latin typeface="微软雅黑" panose="020B0503020204020204" charset="-122"/>
                <a:ea typeface="微软雅黑" panose="020B0503020204020204" charset="-122"/>
                <a:cs typeface="微软雅黑" panose="020B0503020204020204" charset="-122"/>
              </a:defRPr>
            </a:pPr>
            <a:r>
              <a:rPr sz="1600" b="1">
                <a:solidFill>
                  <a:srgbClr val="1B1B19"/>
                </a:solidFill>
                <a:latin typeface="微软雅黑" panose="020B0503020204020204" charset="-122"/>
                <a:ea typeface="微软雅黑" panose="020B0503020204020204" charset="-122"/>
                <a:cs typeface="微软雅黑" panose="020B0503020204020204" charset="-122"/>
              </a:rPr>
              <a:t>345 GB 是迁移总字节，为业务流量的 48 倍。</a:t>
            </a:r>
            <a:endParaRPr sz="1600" b="1">
              <a:solidFill>
                <a:srgbClr val="1B1B19"/>
              </a:solidFill>
              <a:latin typeface="微软雅黑" panose="020B0503020204020204" charset="-122"/>
              <a:ea typeface="微软雅黑" panose="020B0503020204020204" charset="-122"/>
              <a:cs typeface="微软雅黑" panose="020B0503020204020204" charset="-122"/>
            </a:endParaRPr>
          </a:p>
          <a:p>
            <a:pPr algn="l">
              <a:lnSpc>
                <a:spcPct val="142000"/>
              </a:lnSpc>
              <a:buNone/>
              <a:defRPr sz="1140" b="0">
                <a:solidFill>
                  <a:srgbClr val="1B1B19"/>
                </a:solidFill>
                <a:latin typeface="微软雅黑" panose="020B0503020204020204" charset="-122"/>
                <a:ea typeface="微软雅黑" panose="020B0503020204020204" charset="-122"/>
                <a:cs typeface="微软雅黑" panose="020B0503020204020204" charset="-122"/>
              </a:defRPr>
            </a:pPr>
            <a:r>
              <a:rPr sz="1600" b="1">
                <a:solidFill>
                  <a:srgbClr val="1B1B19"/>
                </a:solidFill>
                <a:latin typeface="微软雅黑" panose="020B0503020204020204" charset="-122"/>
                <a:ea typeface="微软雅黑" panose="020B0503020204020204" charset="-122"/>
                <a:cs typeface="微软雅黑" panose="020B0503020204020204" charset="-122"/>
              </a:rPr>
              <a:t>搬服务本身成为主要网络负担。</a:t>
            </a:r>
            <a:endParaRPr sz="16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6286500" y="2924810"/>
            <a:ext cx="5219700" cy="2094865"/>
          </a:xfrm>
          <a:prstGeom prst="roundRect">
            <a:avLst>
              <a:gd name="adj" fmla="val 4545"/>
            </a:avLst>
          </a:prstGeom>
          <a:solidFill>
            <a:srgbClr val="F6EEDC"/>
          </a:solidFill>
          <a:ln w="9525">
            <a:solidFill>
              <a:srgbClr val="D7B56A"/>
            </a:solidFill>
            <a:prstDash val="solid"/>
          </a:ln>
        </p:spPr>
      </p:sp>
      <p:sp>
        <p:nvSpPr>
          <p:cNvPr id="12" name="矩形 11"/>
          <p:cNvSpPr>
            <a:spLocks noGrp="1"/>
          </p:cNvSpPr>
          <p:nvPr/>
        </p:nvSpPr>
        <p:spPr>
          <a:xfrm>
            <a:off x="6515100" y="3096260"/>
            <a:ext cx="4762500" cy="266700"/>
          </a:xfrm>
          <a:prstGeom prst="rect">
            <a:avLst/>
          </a:prstGeom>
          <a:noFill/>
          <a:ln w="0">
            <a:noFill/>
            <a:prstDash val="solid"/>
          </a:ln>
        </p:spPr>
        <p:txBody>
          <a:bodyPr wrap="square" lIns="0" tIns="0" rIns="0" bIns="0" anchor="t">
            <a:noAutofit/>
          </a:bodyPr>
          <a:lstStyle>
            <a:defPPr algn="l">
              <a:defRPr sz="1275"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1B1B19"/>
                </a:solidFill>
                <a:latin typeface="微软雅黑" panose="020B0503020204020204" charset="-122"/>
                <a:ea typeface="微软雅黑" panose="020B0503020204020204" charset="-122"/>
                <a:cs typeface="微软雅黑" panose="020B0503020204020204" charset="-122"/>
              </a:defRPr>
            </a:pPr>
            <a:r>
              <a:rPr sz="1800">
                <a:solidFill>
                  <a:srgbClr val="1B1B19"/>
                </a:solidFill>
                <a:latin typeface="微软雅黑" panose="020B0503020204020204" charset="-122"/>
                <a:ea typeface="微软雅黑" panose="020B0503020204020204" charset="-122"/>
                <a:cs typeface="微软雅黑" panose="020B0503020204020204" charset="-122"/>
              </a:rPr>
              <a:t>问题</a:t>
            </a:r>
            <a:endParaRPr sz="180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6515100" y="3458210"/>
            <a:ext cx="4762500" cy="971550"/>
          </a:xfrm>
          <a:prstGeom prst="rect">
            <a:avLst/>
          </a:prstGeom>
          <a:noFill/>
          <a:ln w="0">
            <a:noFill/>
            <a:prstDash val="solid"/>
          </a:ln>
        </p:spPr>
        <p:txBody>
          <a:bodyPr wrap="square" lIns="0" tIns="0" rIns="0" bIns="0" anchor="t">
            <a:noAutofit/>
          </a:bodyPr>
          <a:lstStyle>
            <a:defPPr algn="l">
              <a:defRPr sz="111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40000"/>
              </a:lnSpc>
              <a:buNone/>
              <a:defRPr sz="1110" b="0">
                <a:solidFill>
                  <a:srgbClr val="1B1B19"/>
                </a:solidFill>
                <a:latin typeface="微软雅黑" panose="020B0503020204020204" charset="-122"/>
                <a:ea typeface="微软雅黑" panose="020B0503020204020204" charset="-122"/>
                <a:cs typeface="微软雅黑" panose="020B0503020204020204" charset="-122"/>
              </a:defRPr>
            </a:pPr>
            <a:r>
              <a:rPr sz="1600" b="1">
                <a:solidFill>
                  <a:srgbClr val="1B1B19"/>
                </a:solidFill>
                <a:latin typeface="微软雅黑" panose="020B0503020204020204" charset="-122"/>
                <a:ea typeface="微软雅黑" panose="020B0503020204020204" charset="-122"/>
                <a:cs typeface="微软雅黑" panose="020B0503020204020204" charset="-122"/>
              </a:rPr>
              <a:t>follow-me 只有在车切换之后才开始搬。</a:t>
            </a:r>
            <a:endParaRPr sz="1600" b="1">
              <a:solidFill>
                <a:srgbClr val="1B1B19"/>
              </a:solidFill>
              <a:latin typeface="微软雅黑" panose="020B0503020204020204" charset="-122"/>
              <a:ea typeface="微软雅黑" panose="020B0503020204020204" charset="-122"/>
              <a:cs typeface="微软雅黑" panose="020B0503020204020204" charset="-122"/>
            </a:endParaRPr>
          </a:p>
          <a:p>
            <a:endParaRPr sz="1600" b="1"/>
          </a:p>
          <a:p>
            <a:pPr algn="l">
              <a:lnSpc>
                <a:spcPct val="140000"/>
              </a:lnSpc>
              <a:buNone/>
              <a:defRPr sz="1110" b="0">
                <a:solidFill>
                  <a:srgbClr val="1B1B19"/>
                </a:solidFill>
                <a:latin typeface="微软雅黑" panose="020B0503020204020204" charset="-122"/>
                <a:ea typeface="微软雅黑" panose="020B0503020204020204" charset="-122"/>
                <a:cs typeface="微软雅黑" panose="020B0503020204020204" charset="-122"/>
              </a:defRPr>
            </a:pPr>
            <a:r>
              <a:rPr sz="1600" b="1">
                <a:solidFill>
                  <a:srgbClr val="1B1B19"/>
                </a:solidFill>
                <a:latin typeface="微软雅黑" panose="020B0503020204020204" charset="-122"/>
                <a:ea typeface="微软雅黑" panose="020B0503020204020204" charset="-122"/>
                <a:cs typeface="微软雅黑" panose="020B0503020204020204" charset="-122"/>
              </a:rPr>
              <a:t>传输、拉取镜像和恢复都发生在用户移动之后，用户必须等它完成。</a:t>
            </a:r>
            <a:endParaRPr sz="16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85800" y="5629275"/>
            <a:ext cx="10820400" cy="666750"/>
          </a:xfrm>
          <a:prstGeom prst="rect">
            <a:avLst/>
          </a:prstGeom>
          <a:noFill/>
          <a:ln w="0">
            <a:noFill/>
            <a:prstDash val="solid"/>
          </a:ln>
        </p:spPr>
        <p:txBody>
          <a:bodyPr wrap="square" lIns="0" tIns="0" rIns="0" bIns="0" anchor="t">
            <a:noAutofit/>
          </a:bodyPr>
          <a:lstStyle>
            <a:defPPr algn="l">
              <a:defRPr sz="118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40000"/>
              </a:lnSpc>
              <a:buNone/>
              <a:defRPr sz="1185" b="0">
                <a:solidFill>
                  <a:srgbClr val="5F5F58"/>
                </a:solidFill>
                <a:latin typeface="微软雅黑" panose="020B0503020204020204" charset="-122"/>
                <a:ea typeface="微软雅黑" panose="020B0503020204020204" charset="-122"/>
                <a:cs typeface="微软雅黑" panose="020B0503020204020204" charset="-122"/>
              </a:defRPr>
            </a:pPr>
            <a:r>
              <a:rPr sz="1600" b="1">
                <a:solidFill>
                  <a:srgbClr val="5F5F58"/>
                </a:solidFill>
                <a:latin typeface="微软雅黑" panose="020B0503020204020204" charset="-122"/>
                <a:ea typeface="微软雅黑" panose="020B0503020204020204" charset="-122"/>
                <a:cs typeface="微软雅黑" panose="020B0503020204020204" charset="-122"/>
              </a:rPr>
              <a:t>follow-me是文献里最直接、最容易解释的基线</a:t>
            </a:r>
            <a:r>
              <a:rPr lang="zh-CN" sz="1600" b="1">
                <a:solidFill>
                  <a:srgbClr val="5F5F58"/>
                </a:solidFill>
                <a:latin typeface="微软雅黑" panose="020B0503020204020204" charset="-122"/>
                <a:ea typeface="微软雅黑" panose="020B0503020204020204" charset="-122"/>
                <a:cs typeface="微软雅黑" panose="020B0503020204020204" charset="-122"/>
              </a:rPr>
              <a:t>。</a:t>
            </a:r>
            <a:r>
              <a:rPr sz="1600" b="1">
                <a:solidFill>
                  <a:srgbClr val="5F5F58"/>
                </a:solidFill>
                <a:latin typeface="微软雅黑" panose="020B0503020204020204" charset="-122"/>
                <a:ea typeface="微软雅黑" panose="020B0503020204020204" charset="-122"/>
                <a:cs typeface="微软雅黑" panose="020B0503020204020204" charset="-122"/>
              </a:rPr>
              <a:t>回答“如果完全不做优化会怎样”。后面所有改进都要和它放在同一条件下比较。</a:t>
            </a:r>
            <a:endParaRPr sz="1600" b="1">
              <a:solidFill>
                <a:srgbClr val="5F5F58"/>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100" b="1">
                <a:solidFill>
                  <a:srgbClr val="1B1B19"/>
                </a:solidFill>
                <a:latin typeface="微软雅黑" panose="020B0503020204020204" charset="-122"/>
                <a:ea typeface="微软雅黑" panose="020B0503020204020204" charset="-122"/>
                <a:cs typeface="微软雅黑" panose="020B0503020204020204" charset="-122"/>
              </a:rPr>
              <a:t>把总量拆开后，信息娱乐主导了迁移成本</a:t>
            </a:r>
            <a:endParaRPr sz="21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graphicFrame>
        <p:nvGraphicFramePr>
          <p:cNvPr id="4" name="表格 3"/>
          <p:cNvGraphicFramePr/>
          <p:nvPr/>
        </p:nvGraphicFramePr>
        <p:xfrm>
          <a:off x="685800" y="1809750"/>
          <a:ext cx="6438900" cy="2857500"/>
        </p:xfrm>
        <a:graphic>
          <a:graphicData uri="http://schemas.openxmlformats.org/drawingml/2006/table">
            <a:tbl>
              <a:tblPr/>
              <a:tblGrid>
                <a:gridCol w="2190750"/>
                <a:gridCol w="2000250"/>
                <a:gridCol w="2247900"/>
              </a:tblGrid>
              <a:tr h="571500">
                <a:tc>
                  <a:txBody>
                    <a:bodyPr/>
                    <a:lstStyle/>
                    <a:p>
                      <a:pPr algn="l"/>
                      <a:r>
                        <a:rPr sz="940" b="1"/>
                        <a:t>服务</a:t>
                      </a:r>
                      <a:endParaRPr sz="940" b="1"/>
                    </a:p>
                  </a:txBody>
                  <a:tcPr>
                    <a:solidFill>
                      <a:srgbClr val="0F5B5B"/>
                    </a:solidFill>
                  </a:tcPr>
                </a:tc>
                <a:tc>
                  <a:txBody>
                    <a:bodyPr/>
                    <a:lstStyle/>
                    <a:p>
                      <a:pPr algn="ctr"/>
                      <a:r>
                        <a:rPr sz="940" b="1"/>
                        <a:t>中断率</a:t>
                      </a:r>
                      <a:endParaRPr sz="940" b="1"/>
                    </a:p>
                  </a:txBody>
                  <a:tcPr>
                    <a:solidFill>
                      <a:srgbClr val="0F5B5B"/>
                    </a:solidFill>
                  </a:tcPr>
                </a:tc>
                <a:tc>
                  <a:txBody>
                    <a:bodyPr/>
                    <a:lstStyle/>
                    <a:p>
                      <a:pPr algn="ctr"/>
                      <a:r>
                        <a:rPr sz="940" b="1"/>
                        <a:t>迁移字节</a:t>
                      </a:r>
                      <a:endParaRPr sz="940" b="1"/>
                    </a:p>
                  </a:txBody>
                  <a:tcPr>
                    <a:solidFill>
                      <a:srgbClr val="0F5B5B"/>
                    </a:solidFill>
                  </a:tcPr>
                </a:tc>
              </a:tr>
              <a:tr h="571500">
                <a:tc>
                  <a:txBody>
                    <a:bodyPr/>
                    <a:lstStyle/>
                    <a:p>
                      <a:pPr algn="l"/>
                      <a:r>
                        <a:rPr sz="990">
                          <a:solidFill>
                            <a:srgbClr val="1B1B19"/>
                          </a:solidFill>
                        </a:rPr>
                        <a:t>信息娱乐</a:t>
                      </a:r>
                      <a:endParaRPr sz="990">
                        <a:solidFill>
                          <a:srgbClr val="1B1B19"/>
                        </a:solidFill>
                      </a:endParaRPr>
                    </a:p>
                  </a:txBody>
                  <a:tcPr/>
                </a:tc>
                <a:tc>
                  <a:txBody>
                    <a:bodyPr/>
                    <a:lstStyle/>
                    <a:p>
                      <a:pPr algn="ctr"/>
                      <a:r>
                        <a:rPr sz="990">
                          <a:solidFill>
                            <a:srgbClr val="1B1B19"/>
                          </a:solidFill>
                        </a:rPr>
                        <a:t>47.9%</a:t>
                      </a:r>
                      <a:endParaRPr sz="990">
                        <a:solidFill>
                          <a:srgbClr val="1B1B19"/>
                        </a:solidFill>
                      </a:endParaRPr>
                    </a:p>
                  </a:txBody>
                  <a:tcPr/>
                </a:tc>
                <a:tc>
                  <a:txBody>
                    <a:bodyPr/>
                    <a:lstStyle/>
                    <a:p>
                      <a:pPr algn="ctr"/>
                      <a:r>
                        <a:rPr sz="990">
                          <a:solidFill>
                            <a:srgbClr val="1B1B19"/>
                          </a:solidFill>
                        </a:rPr>
                        <a:t>215 GB</a:t>
                      </a:r>
                      <a:endParaRPr sz="990">
                        <a:solidFill>
                          <a:srgbClr val="1B1B19"/>
                        </a:solidFill>
                      </a:endParaRPr>
                    </a:p>
                  </a:txBody>
                  <a:tcPr/>
                </a:tc>
              </a:tr>
              <a:tr h="571500">
                <a:tc>
                  <a:txBody>
                    <a:bodyPr/>
                    <a:lstStyle/>
                    <a:p>
                      <a:pPr algn="l"/>
                      <a:r>
                        <a:rPr sz="990">
                          <a:solidFill>
                            <a:srgbClr val="1B1B19"/>
                          </a:solidFill>
                        </a:rPr>
                        <a:t>实时交通分析</a:t>
                      </a:r>
                      <a:endParaRPr sz="990">
                        <a:solidFill>
                          <a:srgbClr val="1B1B19"/>
                        </a:solidFill>
                      </a:endParaRPr>
                    </a:p>
                  </a:txBody>
                  <a:tcPr>
                    <a:solidFill>
                      <a:srgbClr val="FBFBF8"/>
                    </a:solidFill>
                  </a:tcPr>
                </a:tc>
                <a:tc>
                  <a:txBody>
                    <a:bodyPr/>
                    <a:lstStyle/>
                    <a:p>
                      <a:pPr algn="ctr"/>
                      <a:r>
                        <a:rPr sz="990">
                          <a:solidFill>
                            <a:srgbClr val="1B1B19"/>
                          </a:solidFill>
                        </a:rPr>
                        <a:t>33.2%</a:t>
                      </a:r>
                      <a:endParaRPr sz="990">
                        <a:solidFill>
                          <a:srgbClr val="1B1B19"/>
                        </a:solidFill>
                      </a:endParaRPr>
                    </a:p>
                  </a:txBody>
                  <a:tcPr>
                    <a:solidFill>
                      <a:srgbClr val="FBFBF8"/>
                    </a:solidFill>
                  </a:tcPr>
                </a:tc>
                <a:tc>
                  <a:txBody>
                    <a:bodyPr/>
                    <a:lstStyle/>
                    <a:p>
                      <a:pPr algn="ctr"/>
                      <a:r>
                        <a:rPr sz="990">
                          <a:solidFill>
                            <a:srgbClr val="1B1B19"/>
                          </a:solidFill>
                        </a:rPr>
                        <a:t>108 GB</a:t>
                      </a:r>
                      <a:endParaRPr sz="990">
                        <a:solidFill>
                          <a:srgbClr val="1B1B19"/>
                        </a:solidFill>
                      </a:endParaRPr>
                    </a:p>
                  </a:txBody>
                  <a:tcPr>
                    <a:solidFill>
                      <a:srgbClr val="FBFBF8"/>
                    </a:solidFill>
                  </a:tcPr>
                </a:tc>
              </a:tr>
              <a:tr h="571500">
                <a:tc>
                  <a:txBody>
                    <a:bodyPr/>
                    <a:lstStyle/>
                    <a:p>
                      <a:pPr algn="l"/>
                      <a:r>
                        <a:rPr sz="990">
                          <a:solidFill>
                            <a:srgbClr val="1B1B19"/>
                          </a:solidFill>
                        </a:rPr>
                        <a:t>导航</a:t>
                      </a:r>
                      <a:endParaRPr sz="990">
                        <a:solidFill>
                          <a:srgbClr val="1B1B19"/>
                        </a:solidFill>
                      </a:endParaRPr>
                    </a:p>
                  </a:txBody>
                  <a:tcPr/>
                </a:tc>
                <a:tc>
                  <a:txBody>
                    <a:bodyPr/>
                    <a:lstStyle/>
                    <a:p>
                      <a:pPr algn="ctr"/>
                      <a:r>
                        <a:rPr sz="990">
                          <a:solidFill>
                            <a:srgbClr val="1B1B19"/>
                          </a:solidFill>
                        </a:rPr>
                        <a:t>5.5%</a:t>
                      </a:r>
                      <a:endParaRPr sz="990">
                        <a:solidFill>
                          <a:srgbClr val="1B1B19"/>
                        </a:solidFill>
                      </a:endParaRPr>
                    </a:p>
                  </a:txBody>
                  <a:tcPr/>
                </a:tc>
                <a:tc>
                  <a:txBody>
                    <a:bodyPr/>
                    <a:lstStyle/>
                    <a:p>
                      <a:pPr algn="ctr"/>
                      <a:r>
                        <a:rPr sz="990">
                          <a:solidFill>
                            <a:srgbClr val="1B1B19"/>
                          </a:solidFill>
                        </a:rPr>
                        <a:t>15.6 GB</a:t>
                      </a:r>
                      <a:endParaRPr sz="990">
                        <a:solidFill>
                          <a:srgbClr val="1B1B19"/>
                        </a:solidFill>
                      </a:endParaRPr>
                    </a:p>
                  </a:txBody>
                  <a:tcPr/>
                </a:tc>
              </a:tr>
              <a:tr h="571500">
                <a:tc>
                  <a:txBody>
                    <a:bodyPr/>
                    <a:lstStyle/>
                    <a:p>
                      <a:pPr algn="l"/>
                      <a:r>
                        <a:rPr sz="990">
                          <a:solidFill>
                            <a:srgbClr val="1B1B19"/>
                          </a:solidFill>
                        </a:rPr>
                        <a:t>上下文告警</a:t>
                      </a:r>
                      <a:endParaRPr sz="990">
                        <a:solidFill>
                          <a:srgbClr val="1B1B19"/>
                        </a:solidFill>
                      </a:endParaRPr>
                    </a:p>
                  </a:txBody>
                  <a:tcPr>
                    <a:solidFill>
                      <a:srgbClr val="FBFBF8"/>
                    </a:solidFill>
                  </a:tcPr>
                </a:tc>
                <a:tc>
                  <a:txBody>
                    <a:bodyPr/>
                    <a:lstStyle/>
                    <a:p>
                      <a:pPr algn="ctr"/>
                      <a:r>
                        <a:rPr sz="990">
                          <a:solidFill>
                            <a:srgbClr val="1B1B19"/>
                          </a:solidFill>
                        </a:rPr>
                        <a:t>4.0%</a:t>
                      </a:r>
                      <a:endParaRPr sz="990">
                        <a:solidFill>
                          <a:srgbClr val="1B1B19"/>
                        </a:solidFill>
                      </a:endParaRPr>
                    </a:p>
                  </a:txBody>
                  <a:tcPr>
                    <a:solidFill>
                      <a:srgbClr val="FBFBF8"/>
                    </a:solidFill>
                  </a:tcPr>
                </a:tc>
                <a:tc>
                  <a:txBody>
                    <a:bodyPr/>
                    <a:lstStyle/>
                    <a:p>
                      <a:pPr algn="ctr"/>
                      <a:r>
                        <a:rPr sz="990">
                          <a:solidFill>
                            <a:srgbClr val="1B1B19"/>
                          </a:solidFill>
                        </a:rPr>
                        <a:t>5.7 GB</a:t>
                      </a:r>
                      <a:endParaRPr sz="990">
                        <a:solidFill>
                          <a:srgbClr val="1B1B19"/>
                        </a:solidFill>
                      </a:endParaRPr>
                    </a:p>
                  </a:txBody>
                  <a:tcPr>
                    <a:solidFill>
                      <a:srgbClr val="FBFBF8"/>
                    </a:solidFill>
                  </a:tcPr>
                </a:tc>
              </a:tr>
            </a:tbl>
          </a:graphicData>
        </a:graphic>
      </p:graphicFrame>
      <p:sp>
        <p:nvSpPr>
          <p:cNvPr id="5" name="圆角矩形 4"/>
          <p:cNvSpPr>
            <a:spLocks noGrp="1"/>
          </p:cNvSpPr>
          <p:nvPr/>
        </p:nvSpPr>
        <p:spPr>
          <a:xfrm>
            <a:off x="7429500" y="1809750"/>
            <a:ext cx="4076700" cy="2857500"/>
          </a:xfrm>
          <a:prstGeom prst="roundRect">
            <a:avLst>
              <a:gd name="adj" fmla="val 2667"/>
            </a:avLst>
          </a:prstGeom>
          <a:solidFill>
            <a:srgbClr val="E7F0EE"/>
          </a:solidFill>
          <a:ln w="9525">
            <a:solidFill>
              <a:srgbClr val="0F5B5B"/>
            </a:solidFill>
            <a:prstDash val="solid"/>
          </a:ln>
        </p:spPr>
      </p:sp>
      <p:sp>
        <p:nvSpPr>
          <p:cNvPr id="6" name="矩形 5"/>
          <p:cNvSpPr>
            <a:spLocks noGrp="1"/>
          </p:cNvSpPr>
          <p:nvPr/>
        </p:nvSpPr>
        <p:spPr>
          <a:xfrm>
            <a:off x="7658100" y="2019300"/>
            <a:ext cx="3619500" cy="266700"/>
          </a:xfrm>
          <a:prstGeom prst="rect">
            <a:avLst/>
          </a:prstGeom>
          <a:noFill/>
          <a:ln w="0">
            <a:noFill/>
            <a:prstDash val="solid"/>
          </a:ln>
        </p:spPr>
        <p:txBody>
          <a:bodyPr wrap="square" lIns="0" tIns="0" rIns="0" bIns="0" anchor="t">
            <a:noAutofit/>
          </a:bodyPr>
          <a:lstStyle>
            <a:defPPr algn="l">
              <a:defRPr sz="135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50" b="1">
                <a:solidFill>
                  <a:srgbClr val="0F5B5B"/>
                </a:solidFill>
                <a:latin typeface="微软雅黑" panose="020B0503020204020204" charset="-122"/>
                <a:ea typeface="微软雅黑" panose="020B0503020204020204" charset="-122"/>
                <a:cs typeface="微软雅黑" panose="020B0503020204020204" charset="-122"/>
              </a:defRPr>
            </a:pPr>
            <a:r>
              <a:rPr sz="1350" b="1">
                <a:solidFill>
                  <a:srgbClr val="0F5B5B"/>
                </a:solidFill>
                <a:latin typeface="微软雅黑" panose="020B0503020204020204" charset="-122"/>
                <a:ea typeface="微软雅黑" panose="020B0503020204020204" charset="-122"/>
                <a:cs typeface="微软雅黑" panose="020B0503020204020204" charset="-122"/>
              </a:rPr>
              <a:t>这张表如何解释</a:t>
            </a:r>
            <a:endParaRPr sz="135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7658100" y="2419350"/>
            <a:ext cx="3619500" cy="2019300"/>
          </a:xfrm>
          <a:prstGeom prst="rect">
            <a:avLst/>
          </a:prstGeom>
          <a:noFill/>
          <a:ln w="0">
            <a:noFill/>
            <a:prstDash val="solid"/>
          </a:ln>
        </p:spPr>
        <p:txBody>
          <a:bodyPr wrap="square" lIns="0" tIns="0" rIns="0" bIns="0" anchor="t">
            <a:noAutofit/>
          </a:bodyPr>
          <a:lstStyle>
            <a:defPPr algn="l">
              <a:defRPr sz="109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42000"/>
              </a:lnSpc>
              <a:buNone/>
              <a:defRPr sz="1090" b="0">
                <a:solidFill>
                  <a:srgbClr val="1B1B19"/>
                </a:solidFill>
                <a:latin typeface="微软雅黑" panose="020B0503020204020204" charset="-122"/>
                <a:ea typeface="微软雅黑" panose="020B0503020204020204" charset="-122"/>
                <a:cs typeface="微软雅黑" panose="020B0503020204020204" charset="-122"/>
              </a:defRPr>
            </a:pPr>
            <a:r>
              <a:rPr sz="1090" b="0">
                <a:solidFill>
                  <a:srgbClr val="1B1B19"/>
                </a:solidFill>
                <a:latin typeface="微软雅黑" panose="020B0503020204020204" charset="-122"/>
                <a:ea typeface="微软雅黑" panose="020B0503020204020204" charset="-122"/>
                <a:cs typeface="微软雅黑" panose="020B0503020204020204" charset="-122"/>
              </a:rPr>
              <a:t>信息娱乐状态大，单次传输时间长，所以既贡献大量字节，也更容易在传输期间被用户感知。</a:t>
            </a:r>
            <a:endParaRPr sz="1090" b="0">
              <a:solidFill>
                <a:srgbClr val="1B1B19"/>
              </a:solidFill>
              <a:latin typeface="微软雅黑" panose="020B0503020204020204" charset="-122"/>
              <a:ea typeface="微软雅黑" panose="020B0503020204020204" charset="-122"/>
              <a:cs typeface="微软雅黑" panose="020B0503020204020204" charset="-122"/>
            </a:endParaRPr>
          </a:p>
          <a:p>
            <a:endParaRPr sz="1090"/>
          </a:p>
          <a:p>
            <a:pPr algn="l">
              <a:lnSpc>
                <a:spcPct val="142000"/>
              </a:lnSpc>
              <a:buNone/>
              <a:defRPr sz="1090" b="0">
                <a:solidFill>
                  <a:srgbClr val="1B1B19"/>
                </a:solidFill>
                <a:latin typeface="微软雅黑" panose="020B0503020204020204" charset="-122"/>
                <a:ea typeface="微软雅黑" panose="020B0503020204020204" charset="-122"/>
                <a:cs typeface="微软雅黑" panose="020B0503020204020204" charset="-122"/>
              </a:defRPr>
            </a:pPr>
            <a:r>
              <a:rPr sz="1090" b="0">
                <a:solidFill>
                  <a:srgbClr val="1B1B19"/>
                </a:solidFill>
                <a:latin typeface="微软雅黑" panose="020B0503020204020204" charset="-122"/>
                <a:ea typeface="微软雅黑" panose="020B0503020204020204" charset="-122"/>
                <a:cs typeface="微软雅黑" panose="020B0503020204020204" charset="-122"/>
              </a:rPr>
              <a:t>导航和告警状态小，虽然不代表完全无成本，但不应该和视频使用同一种全量迁移策略。</a:t>
            </a:r>
            <a:endParaRPr sz="1090" b="0">
              <a:solidFill>
                <a:srgbClr val="1B1B19"/>
              </a:solidFill>
              <a:latin typeface="微软雅黑" panose="020B0503020204020204" charset="-122"/>
              <a:ea typeface="微软雅黑" panose="020B0503020204020204" charset="-122"/>
              <a:cs typeface="微软雅黑" panose="020B0503020204020204" charset="-122"/>
            </a:endParaRPr>
          </a:p>
          <a:p>
            <a:endParaRPr sz="1090"/>
          </a:p>
          <a:p>
            <a:pPr algn="l">
              <a:lnSpc>
                <a:spcPct val="142000"/>
              </a:lnSpc>
              <a:buNone/>
              <a:defRPr sz="1090" b="0">
                <a:solidFill>
                  <a:srgbClr val="1B1B19"/>
                </a:solidFill>
                <a:latin typeface="微软雅黑" panose="020B0503020204020204" charset="-122"/>
                <a:ea typeface="微软雅黑" panose="020B0503020204020204" charset="-122"/>
                <a:cs typeface="微软雅黑" panose="020B0503020204020204" charset="-122"/>
              </a:defRPr>
            </a:pPr>
            <a:r>
              <a:rPr sz="1090" b="0">
                <a:solidFill>
                  <a:srgbClr val="1B1B19"/>
                </a:solidFill>
                <a:latin typeface="微软雅黑" panose="020B0503020204020204" charset="-122"/>
                <a:ea typeface="微软雅黑" panose="020B0503020204020204" charset="-122"/>
                <a:cs typeface="微软雅黑" panose="020B0503020204020204" charset="-122"/>
              </a:rPr>
              <a:t>这也是后面做服务级策略而不是“整车统一策略”的依据。</a:t>
            </a:r>
            <a:endParaRPr sz="1090"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685800" y="4953000"/>
            <a:ext cx="10820400" cy="419100"/>
          </a:xfrm>
          <a:prstGeom prst="rect">
            <a:avLst/>
          </a:prstGeom>
          <a:noFill/>
          <a:ln w="0">
            <a:noFill/>
            <a:prstDash val="solid"/>
          </a:ln>
        </p:spPr>
        <p:txBody>
          <a:bodyPr wrap="square" lIns="0" tIns="0" rIns="0" bIns="0" anchor="t">
            <a:noAutofit/>
          </a:bodyPr>
          <a:lstStyle>
            <a:defPPr algn="l">
              <a:defRPr sz="112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5000"/>
              </a:lnSpc>
              <a:buNone/>
              <a:defRPr sz="1125" b="0">
                <a:solidFill>
                  <a:srgbClr val="5F5F58"/>
                </a:solidFill>
                <a:latin typeface="微软雅黑" panose="020B0503020204020204" charset="-122"/>
                <a:ea typeface="微软雅黑" panose="020B0503020204020204" charset="-122"/>
                <a:cs typeface="微软雅黑" panose="020B0503020204020204" charset="-122"/>
              </a:defRPr>
            </a:pPr>
            <a:r>
              <a:rPr sz="1125" b="0">
                <a:solidFill>
                  <a:srgbClr val="5F5F58"/>
                </a:solidFill>
                <a:latin typeface="微软雅黑" panose="020B0503020204020204" charset="-122"/>
                <a:ea typeface="微软雅黑" panose="020B0503020204020204" charset="-122"/>
                <a:cs typeface="微软雅黑" panose="020B0503020204020204" charset="-122"/>
              </a:rPr>
              <a:t>信息娱乐一项占约 62% 的迁移字节，接近其他三类之和；把四个服务相加会发现总中断不是各服务中断的简单平均。</a:t>
            </a:r>
            <a:endParaRPr sz="1125"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685800" y="5772150"/>
            <a:ext cx="10820400" cy="9525"/>
          </a:xfrm>
          <a:prstGeom prst="rect">
            <a:avLst/>
          </a:prstGeom>
          <a:solidFill>
            <a:srgbClr val="D9D9D1"/>
          </a:solidFill>
          <a:ln w="0">
            <a:noFill/>
            <a:prstDash val="solid"/>
          </a:ln>
        </p:spPr>
      </p:sp>
      <p:sp>
        <p:nvSpPr>
          <p:cNvPr id="10" name="矩形 9"/>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275" b="1">
                <a:solidFill>
                  <a:srgbClr val="0F5B5B"/>
                </a:solidFill>
                <a:latin typeface="微软雅黑" panose="020B0503020204020204" charset="-122"/>
                <a:ea typeface="微软雅黑" panose="020B0503020204020204" charset="-122"/>
                <a:cs typeface="微软雅黑" panose="020B0503020204020204" charset="-122"/>
              </a:rPr>
              <a:t>服务级差异是优化空间：大状态服务优先增量，小状态服务优先避免启停。</a:t>
            </a:r>
            <a:endParaRPr sz="1275"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100" b="1">
                <a:solidFill>
                  <a:srgbClr val="1B1B19"/>
                </a:solidFill>
                <a:latin typeface="微软雅黑" panose="020B0503020204020204" charset="-122"/>
                <a:ea typeface="微软雅黑" panose="020B0503020204020204" charset="-122"/>
                <a:cs typeface="微软雅黑" panose="020B0503020204020204" charset="-122"/>
              </a:rPr>
              <a:t>增量迁移能省多少，取决于 base locality</a:t>
            </a:r>
            <a:endParaRPr sz="21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graphicFrame>
        <p:nvGraphicFramePr>
          <p:cNvPr id="4" name="表格 3"/>
          <p:cNvGraphicFramePr/>
          <p:nvPr/>
        </p:nvGraphicFramePr>
        <p:xfrm>
          <a:off x="685800" y="1771650"/>
          <a:ext cx="7486650" cy="2838450"/>
        </p:xfrm>
        <a:graphic>
          <a:graphicData uri="http://schemas.openxmlformats.org/drawingml/2006/table">
            <a:tbl>
              <a:tblPr/>
              <a:tblGrid>
                <a:gridCol w="1771650"/>
                <a:gridCol w="1905000"/>
                <a:gridCol w="1905000"/>
                <a:gridCol w="1905000"/>
              </a:tblGrid>
              <a:tr h="567690">
                <a:tc>
                  <a:txBody>
                    <a:bodyPr/>
                    <a:lstStyle/>
                    <a:p>
                      <a:pPr algn="l"/>
                      <a:r>
                        <a:rPr sz="940" b="1"/>
                        <a:t>数据</a:t>
                      </a:r>
                      <a:endParaRPr sz="940" b="1"/>
                    </a:p>
                  </a:txBody>
                  <a:tcPr>
                    <a:solidFill>
                      <a:srgbClr val="0F5B5B"/>
                    </a:solidFill>
                  </a:tcPr>
                </a:tc>
                <a:tc>
                  <a:txBody>
                    <a:bodyPr/>
                    <a:lstStyle/>
                    <a:p>
                      <a:pPr algn="ctr"/>
                      <a:r>
                        <a:rPr sz="940" b="1"/>
                        <a:t>冷目标比例</a:t>
                      </a:r>
                      <a:endParaRPr sz="940" b="1"/>
                    </a:p>
                  </a:txBody>
                  <a:tcPr>
                    <a:solidFill>
                      <a:srgbClr val="0F5B5B"/>
                    </a:solidFill>
                  </a:tcPr>
                </a:tc>
                <a:tc>
                  <a:txBody>
                    <a:bodyPr/>
                    <a:lstStyle/>
                    <a:p>
                      <a:pPr algn="ctr"/>
                      <a:r>
                        <a:rPr sz="940" b="1"/>
                        <a:t>字节节省</a:t>
                      </a:r>
                      <a:endParaRPr sz="940" b="1"/>
                    </a:p>
                  </a:txBody>
                  <a:tcPr>
                    <a:solidFill>
                      <a:srgbClr val="0F5B5B"/>
                    </a:solidFill>
                  </a:tcPr>
                </a:tc>
                <a:tc>
                  <a:txBody>
                    <a:bodyPr/>
                    <a:lstStyle/>
                    <a:p>
                      <a:pPr algn="ctr"/>
                      <a:r>
                        <a:rPr sz="940" b="1"/>
                        <a:t>中断：全量 → 增量</a:t>
                      </a:r>
                      <a:endParaRPr sz="940" b="1"/>
                    </a:p>
                  </a:txBody>
                  <a:tcPr>
                    <a:solidFill>
                      <a:srgbClr val="0F5B5B"/>
                    </a:solidFill>
                  </a:tcPr>
                </a:tc>
              </a:tr>
              <a:tr h="567690">
                <a:tc>
                  <a:txBody>
                    <a:bodyPr/>
                    <a:lstStyle/>
                    <a:p>
                      <a:pPr algn="l"/>
                      <a:r>
                        <a:rPr sz="975">
                          <a:solidFill>
                            <a:srgbClr val="1B1B19"/>
                          </a:solidFill>
                        </a:rPr>
                        <a:t>DATA7</a:t>
                      </a:r>
                      <a:endParaRPr sz="975">
                        <a:solidFill>
                          <a:srgbClr val="1B1B19"/>
                        </a:solidFill>
                      </a:endParaRPr>
                    </a:p>
                  </a:txBody>
                  <a:tcPr/>
                </a:tc>
                <a:tc>
                  <a:txBody>
                    <a:bodyPr/>
                    <a:lstStyle/>
                    <a:p>
                      <a:pPr algn="ctr"/>
                      <a:r>
                        <a:rPr sz="975">
                          <a:solidFill>
                            <a:srgbClr val="1B1B19"/>
                          </a:solidFill>
                        </a:rPr>
                        <a:t>17%</a:t>
                      </a:r>
                      <a:endParaRPr sz="975">
                        <a:solidFill>
                          <a:srgbClr val="1B1B19"/>
                        </a:solidFill>
                      </a:endParaRPr>
                    </a:p>
                  </a:txBody>
                  <a:tcPr/>
                </a:tc>
                <a:tc>
                  <a:txBody>
                    <a:bodyPr/>
                    <a:lstStyle/>
                    <a:p>
                      <a:pPr algn="ctr"/>
                      <a:r>
                        <a:rPr sz="975">
                          <a:solidFill>
                            <a:srgbClr val="1B1B19"/>
                          </a:solidFill>
                        </a:rPr>
                        <a:t>74%</a:t>
                      </a:r>
                      <a:endParaRPr sz="975">
                        <a:solidFill>
                          <a:srgbClr val="1B1B19"/>
                        </a:solidFill>
                      </a:endParaRPr>
                    </a:p>
                  </a:txBody>
                  <a:tcPr/>
                </a:tc>
                <a:tc>
                  <a:txBody>
                    <a:bodyPr/>
                    <a:lstStyle/>
                    <a:p>
                      <a:pPr algn="ctr"/>
                      <a:r>
                        <a:rPr sz="975">
                          <a:solidFill>
                            <a:srgbClr val="1B1B19"/>
                          </a:solidFill>
                        </a:rPr>
                        <a:t>48.8% → 11.5%</a:t>
                      </a:r>
                      <a:endParaRPr sz="975">
                        <a:solidFill>
                          <a:srgbClr val="1B1B19"/>
                        </a:solidFill>
                      </a:endParaRPr>
                    </a:p>
                  </a:txBody>
                  <a:tcPr/>
                </a:tc>
              </a:tr>
              <a:tr h="567690">
                <a:tc>
                  <a:txBody>
                    <a:bodyPr/>
                    <a:lstStyle/>
                    <a:p>
                      <a:pPr algn="l"/>
                      <a:r>
                        <a:rPr sz="975">
                          <a:solidFill>
                            <a:srgbClr val="1B1B19"/>
                          </a:solidFill>
                        </a:rPr>
                        <a:t>SF</a:t>
                      </a:r>
                      <a:endParaRPr sz="975">
                        <a:solidFill>
                          <a:srgbClr val="1B1B19"/>
                        </a:solidFill>
                      </a:endParaRPr>
                    </a:p>
                  </a:txBody>
                  <a:tcPr>
                    <a:solidFill>
                      <a:srgbClr val="FBFBF8"/>
                    </a:solidFill>
                  </a:tcPr>
                </a:tc>
                <a:tc>
                  <a:txBody>
                    <a:bodyPr/>
                    <a:lstStyle/>
                    <a:p>
                      <a:pPr algn="ctr"/>
                      <a:r>
                        <a:rPr sz="975">
                          <a:solidFill>
                            <a:srgbClr val="1B1B19"/>
                          </a:solidFill>
                        </a:rPr>
                        <a:t>42%</a:t>
                      </a:r>
                      <a:endParaRPr sz="975">
                        <a:solidFill>
                          <a:srgbClr val="1B1B19"/>
                        </a:solidFill>
                      </a:endParaRPr>
                    </a:p>
                  </a:txBody>
                  <a:tcPr>
                    <a:solidFill>
                      <a:srgbClr val="FBFBF8"/>
                    </a:solidFill>
                  </a:tcPr>
                </a:tc>
                <a:tc>
                  <a:txBody>
                    <a:bodyPr/>
                    <a:lstStyle/>
                    <a:p>
                      <a:pPr algn="ctr"/>
                      <a:r>
                        <a:rPr sz="975">
                          <a:solidFill>
                            <a:srgbClr val="1B1B19"/>
                          </a:solidFill>
                        </a:rPr>
                        <a:t>47%</a:t>
                      </a:r>
                      <a:endParaRPr sz="975">
                        <a:solidFill>
                          <a:srgbClr val="1B1B19"/>
                        </a:solidFill>
                      </a:endParaRPr>
                    </a:p>
                  </a:txBody>
                  <a:tcPr>
                    <a:solidFill>
                      <a:srgbClr val="FBFBF8"/>
                    </a:solidFill>
                  </a:tcPr>
                </a:tc>
                <a:tc>
                  <a:txBody>
                    <a:bodyPr/>
                    <a:lstStyle/>
                    <a:p>
                      <a:pPr algn="ctr"/>
                      <a:r>
                        <a:rPr sz="975">
                          <a:solidFill>
                            <a:srgbClr val="1B1B19"/>
                          </a:solidFill>
                        </a:rPr>
                        <a:t>13.2% → 4.8%</a:t>
                      </a:r>
                      <a:endParaRPr sz="975">
                        <a:solidFill>
                          <a:srgbClr val="1B1B19"/>
                        </a:solidFill>
                      </a:endParaRPr>
                    </a:p>
                  </a:txBody>
                  <a:tcPr>
                    <a:solidFill>
                      <a:srgbClr val="FBFBF8"/>
                    </a:solidFill>
                  </a:tcPr>
                </a:tc>
              </a:tr>
              <a:tr h="567690">
                <a:tc>
                  <a:txBody>
                    <a:bodyPr/>
                    <a:lstStyle/>
                    <a:p>
                      <a:pPr algn="l"/>
                      <a:r>
                        <a:rPr sz="975">
                          <a:solidFill>
                            <a:srgbClr val="1B1B19"/>
                          </a:solidFill>
                        </a:rPr>
                        <a:t>Rome</a:t>
                      </a:r>
                      <a:endParaRPr sz="975">
                        <a:solidFill>
                          <a:srgbClr val="1B1B19"/>
                        </a:solidFill>
                      </a:endParaRPr>
                    </a:p>
                  </a:txBody>
                  <a:tcPr/>
                </a:tc>
                <a:tc>
                  <a:txBody>
                    <a:bodyPr/>
                    <a:lstStyle/>
                    <a:p>
                      <a:pPr algn="ctr"/>
                      <a:r>
                        <a:rPr sz="975">
                          <a:solidFill>
                            <a:srgbClr val="1B1B19"/>
                          </a:solidFill>
                        </a:rPr>
                        <a:t>55%</a:t>
                      </a:r>
                      <a:endParaRPr sz="975">
                        <a:solidFill>
                          <a:srgbClr val="1B1B19"/>
                        </a:solidFill>
                      </a:endParaRPr>
                    </a:p>
                  </a:txBody>
                  <a:tcPr/>
                </a:tc>
                <a:tc>
                  <a:txBody>
                    <a:bodyPr/>
                    <a:lstStyle/>
                    <a:p>
                      <a:pPr algn="ctr"/>
                      <a:r>
                        <a:rPr sz="975">
                          <a:solidFill>
                            <a:srgbClr val="1B1B19"/>
                          </a:solidFill>
                        </a:rPr>
                        <a:t>28%</a:t>
                      </a:r>
                      <a:endParaRPr sz="975">
                        <a:solidFill>
                          <a:srgbClr val="1B1B19"/>
                        </a:solidFill>
                      </a:endParaRPr>
                    </a:p>
                  </a:txBody>
                  <a:tcPr/>
                </a:tc>
                <a:tc>
                  <a:txBody>
                    <a:bodyPr/>
                    <a:lstStyle/>
                    <a:p>
                      <a:pPr algn="ctr"/>
                      <a:r>
                        <a:rPr sz="975">
                          <a:solidFill>
                            <a:srgbClr val="1B1B19"/>
                          </a:solidFill>
                        </a:rPr>
                        <a:t>9.0% → 4.2%</a:t>
                      </a:r>
                      <a:endParaRPr sz="975">
                        <a:solidFill>
                          <a:srgbClr val="1B1B19"/>
                        </a:solidFill>
                      </a:endParaRPr>
                    </a:p>
                  </a:txBody>
                  <a:tcPr/>
                </a:tc>
              </a:tr>
              <a:tr h="567690">
                <a:tc>
                  <a:txBody>
                    <a:bodyPr/>
                    <a:lstStyle/>
                    <a:p>
                      <a:pPr algn="l"/>
                      <a:r>
                        <a:rPr sz="975">
                          <a:solidFill>
                            <a:srgbClr val="1B1B19"/>
                          </a:solidFill>
                        </a:rPr>
                        <a:t>合成网格</a:t>
                      </a:r>
                      <a:endParaRPr sz="975">
                        <a:solidFill>
                          <a:srgbClr val="1B1B19"/>
                        </a:solidFill>
                      </a:endParaRPr>
                    </a:p>
                  </a:txBody>
                  <a:tcPr>
                    <a:solidFill>
                      <a:srgbClr val="FBFBF8"/>
                    </a:solidFill>
                  </a:tcPr>
                </a:tc>
                <a:tc>
                  <a:txBody>
                    <a:bodyPr/>
                    <a:lstStyle/>
                    <a:p>
                      <a:pPr algn="ctr"/>
                      <a:r>
                        <a:rPr sz="975">
                          <a:solidFill>
                            <a:srgbClr val="1B1B19"/>
                          </a:solidFill>
                        </a:rPr>
                        <a:t>93%</a:t>
                      </a:r>
                      <a:endParaRPr sz="975">
                        <a:solidFill>
                          <a:srgbClr val="1B1B19"/>
                        </a:solidFill>
                      </a:endParaRPr>
                    </a:p>
                  </a:txBody>
                  <a:tcPr>
                    <a:solidFill>
                      <a:srgbClr val="FBFBF8"/>
                    </a:solidFill>
                  </a:tcPr>
                </a:tc>
                <a:tc>
                  <a:txBody>
                    <a:bodyPr/>
                    <a:lstStyle/>
                    <a:p>
                      <a:pPr algn="ctr"/>
                      <a:r>
                        <a:rPr sz="975">
                          <a:solidFill>
                            <a:srgbClr val="1B1B19"/>
                          </a:solidFill>
                        </a:rPr>
                        <a:t>2.4%</a:t>
                      </a:r>
                      <a:endParaRPr sz="975">
                        <a:solidFill>
                          <a:srgbClr val="1B1B19"/>
                        </a:solidFill>
                      </a:endParaRPr>
                    </a:p>
                  </a:txBody>
                  <a:tcPr>
                    <a:solidFill>
                      <a:srgbClr val="FBFBF8"/>
                    </a:solidFill>
                  </a:tcPr>
                </a:tc>
                <a:tc>
                  <a:txBody>
                    <a:bodyPr/>
                    <a:lstStyle/>
                    <a:p>
                      <a:pPr algn="ctr"/>
                      <a:r>
                        <a:rPr sz="975">
                          <a:solidFill>
                            <a:srgbClr val="1B1B19"/>
                          </a:solidFill>
                        </a:rPr>
                        <a:t>5.9% → 5.7%</a:t>
                      </a:r>
                      <a:endParaRPr sz="975">
                        <a:solidFill>
                          <a:srgbClr val="1B1B19"/>
                        </a:solidFill>
                      </a:endParaRPr>
                    </a:p>
                  </a:txBody>
                  <a:tcPr>
                    <a:solidFill>
                      <a:srgbClr val="FBFBF8"/>
                    </a:solidFill>
                  </a:tcPr>
                </a:tc>
              </a:tr>
            </a:tbl>
          </a:graphicData>
        </a:graphic>
      </p:graphicFrame>
      <p:sp>
        <p:nvSpPr>
          <p:cNvPr id="5" name="圆角矩形 4"/>
          <p:cNvSpPr>
            <a:spLocks noGrp="1"/>
          </p:cNvSpPr>
          <p:nvPr/>
        </p:nvSpPr>
        <p:spPr>
          <a:xfrm>
            <a:off x="8496300" y="1771650"/>
            <a:ext cx="3009900" cy="2838450"/>
          </a:xfrm>
          <a:prstGeom prst="roundRect">
            <a:avLst>
              <a:gd name="adj" fmla="val 2685"/>
            </a:avLst>
          </a:prstGeom>
          <a:solidFill>
            <a:srgbClr val="F6EEDC"/>
          </a:solidFill>
          <a:ln w="9525">
            <a:solidFill>
              <a:srgbClr val="D7B56A"/>
            </a:solidFill>
            <a:prstDash val="solid"/>
          </a:ln>
        </p:spPr>
      </p:sp>
      <p:sp>
        <p:nvSpPr>
          <p:cNvPr id="6" name="矩形 5"/>
          <p:cNvSpPr>
            <a:spLocks noGrp="1"/>
          </p:cNvSpPr>
          <p:nvPr/>
        </p:nvSpPr>
        <p:spPr>
          <a:xfrm>
            <a:off x="8724900" y="1971675"/>
            <a:ext cx="2552700" cy="266700"/>
          </a:xfrm>
          <a:prstGeom prst="rect">
            <a:avLst/>
          </a:prstGeom>
          <a:noFill/>
          <a:ln w="0">
            <a:noFill/>
            <a:prstDash val="solid"/>
          </a:ln>
        </p:spPr>
        <p:txBody>
          <a:bodyPr wrap="square" lIns="0" tIns="0" rIns="0" bIns="0" anchor="t">
            <a:noAutofit/>
          </a:bodyPr>
          <a:lstStyle>
            <a:defPPr algn="l">
              <a:defRPr sz="1275"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1B1B19"/>
                </a:solidFill>
                <a:latin typeface="微软雅黑" panose="020B0503020204020204" charset="-122"/>
                <a:ea typeface="微软雅黑" panose="020B0503020204020204" charset="-122"/>
                <a:cs typeface="微软雅黑" panose="020B0503020204020204" charset="-122"/>
              </a:defRPr>
            </a:pPr>
            <a:r>
              <a:rPr sz="1275" b="1">
                <a:solidFill>
                  <a:srgbClr val="1B1B19"/>
                </a:solidFill>
                <a:latin typeface="微软雅黑" panose="020B0503020204020204" charset="-122"/>
                <a:ea typeface="微软雅黑" panose="020B0503020204020204" charset="-122"/>
                <a:cs typeface="微软雅黑" panose="020B0503020204020204" charset="-122"/>
              </a:rPr>
              <a:t>最值得记住的对照</a:t>
            </a:r>
            <a:endParaRPr sz="1275"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8724900" y="2381250"/>
            <a:ext cx="2552700" cy="1885950"/>
          </a:xfrm>
          <a:prstGeom prst="rect">
            <a:avLst/>
          </a:prstGeom>
          <a:noFill/>
          <a:ln w="0">
            <a:noFill/>
            <a:prstDash val="solid"/>
          </a:ln>
        </p:spPr>
        <p:txBody>
          <a:bodyPr wrap="square" lIns="0" tIns="0" rIns="0" bIns="0" anchor="t">
            <a:noAutofit/>
          </a:bodyPr>
          <a:lstStyle>
            <a:defPPr algn="l">
              <a:defRPr sz="107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42000"/>
              </a:lnSpc>
              <a:buNone/>
              <a:defRPr sz="1075" b="0">
                <a:solidFill>
                  <a:srgbClr val="1B1B19"/>
                </a:solidFill>
                <a:latin typeface="微软雅黑" panose="020B0503020204020204" charset="-122"/>
                <a:ea typeface="微软雅黑" panose="020B0503020204020204" charset="-122"/>
                <a:cs typeface="微软雅黑" panose="020B0503020204020204" charset="-122"/>
              </a:defRPr>
            </a:pPr>
            <a:r>
              <a:rPr sz="1075" b="0">
                <a:solidFill>
                  <a:srgbClr val="1B1B19"/>
                </a:solidFill>
                <a:latin typeface="微软雅黑" panose="020B0503020204020204" charset="-122"/>
                <a:ea typeface="微软雅黑" panose="020B0503020204020204" charset="-122"/>
                <a:cs typeface="微软雅黑" panose="020B0503020204020204" charset="-122"/>
              </a:rPr>
              <a:t>DATA7 冷目标只有 17%，所以增量省 74%。</a:t>
            </a:r>
            <a:endParaRPr sz="1075" b="0">
              <a:solidFill>
                <a:srgbClr val="1B1B19"/>
              </a:solidFill>
              <a:latin typeface="微软雅黑" panose="020B0503020204020204" charset="-122"/>
              <a:ea typeface="微软雅黑" panose="020B0503020204020204" charset="-122"/>
              <a:cs typeface="微软雅黑" panose="020B0503020204020204" charset="-122"/>
            </a:endParaRPr>
          </a:p>
          <a:p>
            <a:endParaRPr sz="1075"/>
          </a:p>
          <a:p>
            <a:pPr algn="l">
              <a:lnSpc>
                <a:spcPct val="142000"/>
              </a:lnSpc>
              <a:buNone/>
              <a:defRPr sz="1075" b="0">
                <a:solidFill>
                  <a:srgbClr val="1B1B19"/>
                </a:solidFill>
                <a:latin typeface="微软雅黑" panose="020B0503020204020204" charset="-122"/>
                <a:ea typeface="微软雅黑" panose="020B0503020204020204" charset="-122"/>
                <a:cs typeface="微软雅黑" panose="020B0503020204020204" charset="-122"/>
              </a:defRPr>
            </a:pPr>
            <a:r>
              <a:rPr sz="1075" b="0">
                <a:solidFill>
                  <a:srgbClr val="1B1B19"/>
                </a:solidFill>
                <a:latin typeface="微软雅黑" panose="020B0503020204020204" charset="-122"/>
                <a:ea typeface="微软雅黑" panose="020B0503020204020204" charset="-122"/>
                <a:cs typeface="微软雅黑" panose="020B0503020204020204" charset="-122"/>
              </a:rPr>
              <a:t>合成数据冷目标 93%，增量只省 2.4%，几乎退化为全量。</a:t>
            </a:r>
            <a:endParaRPr sz="1075" b="0">
              <a:solidFill>
                <a:srgbClr val="1B1B19"/>
              </a:solidFill>
              <a:latin typeface="微软雅黑" panose="020B0503020204020204" charset="-122"/>
              <a:ea typeface="微软雅黑" panose="020B0503020204020204" charset="-122"/>
              <a:cs typeface="微软雅黑" panose="020B0503020204020204" charset="-122"/>
            </a:endParaRPr>
          </a:p>
          <a:p>
            <a:endParaRPr sz="1075"/>
          </a:p>
          <a:p>
            <a:pPr algn="l">
              <a:lnSpc>
                <a:spcPct val="142000"/>
              </a:lnSpc>
              <a:buNone/>
              <a:defRPr sz="1075" b="0">
                <a:solidFill>
                  <a:srgbClr val="1B1B19"/>
                </a:solidFill>
                <a:latin typeface="微软雅黑" panose="020B0503020204020204" charset="-122"/>
                <a:ea typeface="微软雅黑" panose="020B0503020204020204" charset="-122"/>
                <a:cs typeface="微软雅黑" panose="020B0503020204020204" charset="-122"/>
              </a:defRPr>
            </a:pPr>
            <a:r>
              <a:rPr sz="1075" b="0">
                <a:solidFill>
                  <a:srgbClr val="1B1B19"/>
                </a:solidFill>
                <a:latin typeface="微软雅黑" panose="020B0503020204020204" charset="-122"/>
                <a:ea typeface="微软雅黑" panose="020B0503020204020204" charset="-122"/>
                <a:cs typeface="微软雅黑" panose="020B0503020204020204" charset="-122"/>
              </a:rPr>
              <a:t>换了移动模式，收益就会不同。</a:t>
            </a:r>
            <a:endParaRPr sz="1075"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685800" y="4876800"/>
            <a:ext cx="10820400" cy="514350"/>
          </a:xfrm>
          <a:prstGeom prst="rect">
            <a:avLst/>
          </a:prstGeom>
          <a:noFill/>
          <a:ln w="0">
            <a:noFill/>
            <a:prstDash val="solid"/>
          </a:ln>
        </p:spPr>
        <p:txBody>
          <a:bodyPr wrap="square" lIns="0" tIns="0" rIns="0" bIns="0" anchor="t">
            <a:noAutofit/>
          </a:bodyPr>
          <a:lstStyle>
            <a:defPPr algn="l">
              <a:defRPr sz="1090"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5000"/>
              </a:lnSpc>
              <a:buNone/>
              <a:defRPr sz="1090" b="0">
                <a:solidFill>
                  <a:srgbClr val="5F5F58"/>
                </a:solidFill>
                <a:latin typeface="微软雅黑" panose="020B0503020204020204" charset="-122"/>
                <a:ea typeface="微软雅黑" panose="020B0503020204020204" charset="-122"/>
                <a:cs typeface="微软雅黑" panose="020B0503020204020204" charset="-122"/>
              </a:defRPr>
            </a:pPr>
            <a:r>
              <a:rPr sz="1090" b="0">
                <a:solidFill>
                  <a:srgbClr val="5F5F58"/>
                </a:solidFill>
                <a:latin typeface="微软雅黑" panose="020B0503020204020204" charset="-122"/>
                <a:ea typeface="微软雅黑" panose="020B0503020204020204" charset="-122"/>
                <a:cs typeface="微软雅黑" panose="020B0503020204020204" charset="-122"/>
              </a:rPr>
              <a:t>注意：四个数据集的服务区域尺度和轨迹来源不同，因此这不是严格同尺度的排名。它更适合回答“为什么增量收益不稳定”，而不是“哪个城市更好”。</a:t>
            </a:r>
            <a:endParaRPr sz="1090"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685800" y="5772150"/>
            <a:ext cx="10820400" cy="9525"/>
          </a:xfrm>
          <a:prstGeom prst="rect">
            <a:avLst/>
          </a:prstGeom>
          <a:solidFill>
            <a:srgbClr val="D9D9D1"/>
          </a:solidFill>
          <a:ln w="0">
            <a:noFill/>
            <a:prstDash val="solid"/>
          </a:ln>
        </p:spPr>
      </p:sp>
      <p:sp>
        <p:nvSpPr>
          <p:cNvPr id="10" name="矩形 9"/>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275" b="1">
                <a:solidFill>
                  <a:srgbClr val="0F5B5B"/>
                </a:solidFill>
                <a:latin typeface="微软雅黑" panose="020B0503020204020204" charset="-122"/>
                <a:ea typeface="微软雅黑" panose="020B0503020204020204" charset="-122"/>
                <a:cs typeface="微软雅黑" panose="020B0503020204020204" charset="-122"/>
              </a:rPr>
              <a:t>推进量优化的正确问题不是“能省几倍”，而是“哪些目标节点经常是热的”。</a:t>
            </a:r>
            <a:endParaRPr sz="1275"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100" b="1">
                <a:solidFill>
                  <a:srgbClr val="1B1B19"/>
                </a:solidFill>
                <a:latin typeface="微软雅黑" panose="020B0503020204020204" charset="-122"/>
                <a:ea typeface="微软雅黑" panose="020B0503020204020204" charset="-122"/>
                <a:cs typeface="微软雅黑" panose="020B0503020204020204" charset="-122"/>
              </a:rPr>
              <a:t>速度、带宽和车辆数共同决定系统何时撑不住</a:t>
            </a:r>
            <a:endParaRPr sz="21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graphicFrame>
        <p:nvGraphicFramePr>
          <p:cNvPr id="4" name="表格 3"/>
          <p:cNvGraphicFramePr/>
          <p:nvPr/>
        </p:nvGraphicFramePr>
        <p:xfrm>
          <a:off x="685800" y="1771650"/>
          <a:ext cx="10820400" cy="3238500"/>
        </p:xfrm>
        <a:graphic>
          <a:graphicData uri="http://schemas.openxmlformats.org/drawingml/2006/table">
            <a:tbl>
              <a:tblPr/>
              <a:tblGrid>
                <a:gridCol w="2724150"/>
                <a:gridCol w="2095500"/>
                <a:gridCol w="2095500"/>
                <a:gridCol w="3905250"/>
              </a:tblGrid>
              <a:tr h="539115">
                <a:tc>
                  <a:txBody>
                    <a:bodyPr/>
                    <a:lstStyle/>
                    <a:p>
                      <a:pPr algn="l"/>
                      <a:r>
                        <a:rPr sz="940" b="1"/>
                        <a:t>场景</a:t>
                      </a:r>
                      <a:endParaRPr sz="940" b="1"/>
                    </a:p>
                  </a:txBody>
                  <a:tcPr>
                    <a:solidFill>
                      <a:srgbClr val="0F5B5B"/>
                    </a:solidFill>
                  </a:tcPr>
                </a:tc>
                <a:tc>
                  <a:txBody>
                    <a:bodyPr/>
                    <a:lstStyle/>
                    <a:p>
                      <a:pPr algn="ctr"/>
                      <a:r>
                        <a:rPr sz="940" b="1"/>
                        <a:t>20 km/h</a:t>
                      </a:r>
                      <a:endParaRPr sz="940" b="1"/>
                    </a:p>
                  </a:txBody>
                  <a:tcPr>
                    <a:solidFill>
                      <a:srgbClr val="0F5B5B"/>
                    </a:solidFill>
                  </a:tcPr>
                </a:tc>
                <a:tc>
                  <a:txBody>
                    <a:bodyPr/>
                    <a:lstStyle/>
                    <a:p>
                      <a:pPr algn="ctr"/>
                      <a:r>
                        <a:rPr sz="940" b="1"/>
                        <a:t>90 km/h</a:t>
                      </a:r>
                      <a:endParaRPr sz="940" b="1"/>
                    </a:p>
                  </a:txBody>
                  <a:tcPr>
                    <a:solidFill>
                      <a:srgbClr val="0F5B5B"/>
                    </a:solidFill>
                  </a:tcPr>
                </a:tc>
                <a:tc>
                  <a:txBody>
                    <a:bodyPr/>
                    <a:lstStyle/>
                    <a:p>
                      <a:pPr algn="ctr"/>
                      <a:r>
                        <a:rPr sz="940" b="1"/>
                        <a:t>中断首次达到 50% 的速度</a:t>
                      </a:r>
                      <a:endParaRPr sz="940" b="1"/>
                    </a:p>
                  </a:txBody>
                  <a:tcPr>
                    <a:solidFill>
                      <a:srgbClr val="0F5B5B"/>
                    </a:solidFill>
                  </a:tcPr>
                </a:tc>
              </a:tr>
              <a:tr h="539115">
                <a:tc>
                  <a:txBody>
                    <a:bodyPr/>
                    <a:lstStyle/>
                    <a:p>
                      <a:pPr algn="l"/>
                      <a:r>
                        <a:rPr sz="960">
                          <a:solidFill>
                            <a:srgbClr val="1B1B19"/>
                          </a:solidFill>
                        </a:rPr>
                        <a:t>100 Mbps / 12 车</a:t>
                      </a:r>
                      <a:endParaRPr sz="960">
                        <a:solidFill>
                          <a:srgbClr val="1B1B19"/>
                        </a:solidFill>
                      </a:endParaRPr>
                    </a:p>
                  </a:txBody>
                  <a:tcPr/>
                </a:tc>
                <a:tc>
                  <a:txBody>
                    <a:bodyPr/>
                    <a:lstStyle/>
                    <a:p>
                      <a:pPr algn="ctr"/>
                      <a:r>
                        <a:rPr sz="960">
                          <a:solidFill>
                            <a:srgbClr val="1B1B19"/>
                          </a:solidFill>
                        </a:rPr>
                        <a:t>65.7%</a:t>
                      </a:r>
                      <a:endParaRPr sz="960">
                        <a:solidFill>
                          <a:srgbClr val="1B1B19"/>
                        </a:solidFill>
                      </a:endParaRPr>
                    </a:p>
                  </a:txBody>
                  <a:tcPr/>
                </a:tc>
                <a:tc>
                  <a:txBody>
                    <a:bodyPr/>
                    <a:lstStyle/>
                    <a:p>
                      <a:pPr algn="ctr"/>
                      <a:r>
                        <a:rPr sz="960">
                          <a:solidFill>
                            <a:srgbClr val="1B1B19"/>
                          </a:solidFill>
                        </a:rPr>
                        <a:t>92.3%</a:t>
                      </a:r>
                      <a:endParaRPr sz="960">
                        <a:solidFill>
                          <a:srgbClr val="1B1B19"/>
                        </a:solidFill>
                      </a:endParaRPr>
                    </a:p>
                  </a:txBody>
                  <a:tcPr/>
                </a:tc>
                <a:tc>
                  <a:txBody>
                    <a:bodyPr/>
                    <a:lstStyle/>
                    <a:p>
                      <a:pPr algn="ctr"/>
                      <a:r>
                        <a:rPr sz="960">
                          <a:solidFill>
                            <a:srgbClr val="1B1B19"/>
                          </a:solidFill>
                        </a:rPr>
                        <a:t>20 km/h</a:t>
                      </a:r>
                      <a:endParaRPr sz="960">
                        <a:solidFill>
                          <a:srgbClr val="1B1B19"/>
                        </a:solidFill>
                      </a:endParaRPr>
                    </a:p>
                  </a:txBody>
                  <a:tcPr/>
                </a:tc>
              </a:tr>
              <a:tr h="539115">
                <a:tc>
                  <a:txBody>
                    <a:bodyPr/>
                    <a:lstStyle/>
                    <a:p>
                      <a:pPr algn="l"/>
                      <a:r>
                        <a:rPr sz="960">
                          <a:solidFill>
                            <a:srgbClr val="1B1B19"/>
                          </a:solidFill>
                        </a:rPr>
                        <a:t>500 Mbps / 12 车</a:t>
                      </a:r>
                      <a:endParaRPr sz="960">
                        <a:solidFill>
                          <a:srgbClr val="1B1B19"/>
                        </a:solidFill>
                      </a:endParaRPr>
                    </a:p>
                  </a:txBody>
                  <a:tcPr>
                    <a:solidFill>
                      <a:srgbClr val="FBFBF8"/>
                    </a:solidFill>
                  </a:tcPr>
                </a:tc>
                <a:tc>
                  <a:txBody>
                    <a:bodyPr/>
                    <a:lstStyle/>
                    <a:p>
                      <a:pPr algn="ctr"/>
                      <a:r>
                        <a:rPr sz="960">
                          <a:solidFill>
                            <a:srgbClr val="1B1B19"/>
                          </a:solidFill>
                        </a:rPr>
                        <a:t>17.0%</a:t>
                      </a:r>
                      <a:endParaRPr sz="960">
                        <a:solidFill>
                          <a:srgbClr val="1B1B19"/>
                        </a:solidFill>
                      </a:endParaRPr>
                    </a:p>
                  </a:txBody>
                  <a:tcPr>
                    <a:solidFill>
                      <a:srgbClr val="FBFBF8"/>
                    </a:solidFill>
                  </a:tcPr>
                </a:tc>
                <a:tc>
                  <a:txBody>
                    <a:bodyPr/>
                    <a:lstStyle/>
                    <a:p>
                      <a:pPr algn="ctr"/>
                      <a:r>
                        <a:rPr sz="960">
                          <a:solidFill>
                            <a:srgbClr val="1B1B19"/>
                          </a:solidFill>
                        </a:rPr>
                        <a:t>72.3%</a:t>
                      </a:r>
                      <a:endParaRPr sz="960">
                        <a:solidFill>
                          <a:srgbClr val="1B1B19"/>
                        </a:solidFill>
                      </a:endParaRPr>
                    </a:p>
                  </a:txBody>
                  <a:tcPr>
                    <a:solidFill>
                      <a:srgbClr val="FBFBF8"/>
                    </a:solidFill>
                  </a:tcPr>
                </a:tc>
                <a:tc>
                  <a:txBody>
                    <a:bodyPr/>
                    <a:lstStyle/>
                    <a:p>
                      <a:pPr algn="ctr"/>
                      <a:r>
                        <a:rPr sz="960">
                          <a:solidFill>
                            <a:srgbClr val="1B1B19"/>
                          </a:solidFill>
                        </a:rPr>
                        <a:t>90 km/h</a:t>
                      </a:r>
                      <a:endParaRPr sz="960">
                        <a:solidFill>
                          <a:srgbClr val="1B1B19"/>
                        </a:solidFill>
                      </a:endParaRPr>
                    </a:p>
                  </a:txBody>
                  <a:tcPr>
                    <a:solidFill>
                      <a:srgbClr val="FBFBF8"/>
                    </a:solidFill>
                  </a:tcPr>
                </a:tc>
              </a:tr>
              <a:tr h="539115">
                <a:tc>
                  <a:txBody>
                    <a:bodyPr/>
                    <a:lstStyle/>
                    <a:p>
                      <a:pPr algn="l"/>
                      <a:r>
                        <a:rPr sz="960">
                          <a:solidFill>
                            <a:srgbClr val="1B1B19"/>
                          </a:solidFill>
                        </a:rPr>
                        <a:t>1 Gbps / 12 车</a:t>
                      </a:r>
                      <a:endParaRPr sz="960">
                        <a:solidFill>
                          <a:srgbClr val="1B1B19"/>
                        </a:solidFill>
                      </a:endParaRPr>
                    </a:p>
                  </a:txBody>
                  <a:tcPr/>
                </a:tc>
                <a:tc>
                  <a:txBody>
                    <a:bodyPr/>
                    <a:lstStyle/>
                    <a:p>
                      <a:pPr algn="ctr"/>
                      <a:r>
                        <a:rPr sz="960">
                          <a:solidFill>
                            <a:srgbClr val="1B1B19"/>
                          </a:solidFill>
                        </a:rPr>
                        <a:t>8.7%</a:t>
                      </a:r>
                      <a:endParaRPr sz="960">
                        <a:solidFill>
                          <a:srgbClr val="1B1B19"/>
                        </a:solidFill>
                      </a:endParaRPr>
                    </a:p>
                  </a:txBody>
                  <a:tcPr/>
                </a:tc>
                <a:tc>
                  <a:txBody>
                    <a:bodyPr/>
                    <a:lstStyle/>
                    <a:p>
                      <a:pPr algn="ctr"/>
                      <a:r>
                        <a:rPr sz="960">
                          <a:solidFill>
                            <a:srgbClr val="1B1B19"/>
                          </a:solidFill>
                        </a:rPr>
                        <a:t>39.2%</a:t>
                      </a:r>
                      <a:endParaRPr sz="960">
                        <a:solidFill>
                          <a:srgbClr val="1B1B19"/>
                        </a:solidFill>
                      </a:endParaRPr>
                    </a:p>
                  </a:txBody>
                  <a:tcPr/>
                </a:tc>
                <a:tc>
                  <a:txBody>
                    <a:bodyPr/>
                    <a:lstStyle/>
                    <a:p>
                      <a:pPr algn="ctr"/>
                      <a:r>
                        <a:rPr sz="960">
                          <a:solidFill>
                            <a:srgbClr val="1B1B19"/>
                          </a:solidFill>
                        </a:rPr>
                        <a:t>90 km/h 以上仍未达到</a:t>
                      </a:r>
                      <a:endParaRPr sz="960">
                        <a:solidFill>
                          <a:srgbClr val="1B1B19"/>
                        </a:solidFill>
                      </a:endParaRPr>
                    </a:p>
                  </a:txBody>
                  <a:tcPr/>
                </a:tc>
              </a:tr>
              <a:tr h="539115">
                <a:tc>
                  <a:txBody>
                    <a:bodyPr/>
                    <a:lstStyle/>
                    <a:p>
                      <a:pPr algn="l"/>
                      <a:r>
                        <a:rPr sz="960">
                          <a:solidFill>
                            <a:srgbClr val="1B1B19"/>
                          </a:solidFill>
                        </a:rPr>
                        <a:t>500 Mbps / 30 车</a:t>
                      </a:r>
                      <a:endParaRPr sz="960">
                        <a:solidFill>
                          <a:srgbClr val="1B1B19"/>
                        </a:solidFill>
                      </a:endParaRPr>
                    </a:p>
                  </a:txBody>
                  <a:tcPr>
                    <a:solidFill>
                      <a:srgbClr val="FBFBF8"/>
                    </a:solidFill>
                  </a:tcPr>
                </a:tc>
                <a:tc>
                  <a:txBody>
                    <a:bodyPr/>
                    <a:lstStyle/>
                    <a:p>
                      <a:pPr algn="ctr"/>
                      <a:r>
                        <a:rPr sz="960">
                          <a:solidFill>
                            <a:srgbClr val="1B1B19"/>
                          </a:solidFill>
                        </a:rPr>
                        <a:t>36.8%</a:t>
                      </a:r>
                      <a:endParaRPr sz="960">
                        <a:solidFill>
                          <a:srgbClr val="1B1B19"/>
                        </a:solidFill>
                      </a:endParaRPr>
                    </a:p>
                  </a:txBody>
                  <a:tcPr>
                    <a:solidFill>
                      <a:srgbClr val="FBFBF8"/>
                    </a:solidFill>
                  </a:tcPr>
                </a:tc>
                <a:tc>
                  <a:txBody>
                    <a:bodyPr/>
                    <a:lstStyle/>
                    <a:p>
                      <a:pPr algn="ctr"/>
                      <a:r>
                        <a:rPr sz="960">
                          <a:solidFill>
                            <a:srgbClr val="1B1B19"/>
                          </a:solidFill>
                        </a:rPr>
                        <a:t>89.0%</a:t>
                      </a:r>
                      <a:endParaRPr sz="960">
                        <a:solidFill>
                          <a:srgbClr val="1B1B19"/>
                        </a:solidFill>
                      </a:endParaRPr>
                    </a:p>
                  </a:txBody>
                  <a:tcPr>
                    <a:solidFill>
                      <a:srgbClr val="FBFBF8"/>
                    </a:solidFill>
                  </a:tcPr>
                </a:tc>
                <a:tc>
                  <a:txBody>
                    <a:bodyPr/>
                    <a:lstStyle/>
                    <a:p>
                      <a:pPr algn="ctr"/>
                      <a:r>
                        <a:rPr sz="960">
                          <a:solidFill>
                            <a:srgbClr val="1B1B19"/>
                          </a:solidFill>
                        </a:rPr>
                        <a:t>40 km/h</a:t>
                      </a:r>
                      <a:endParaRPr sz="960">
                        <a:solidFill>
                          <a:srgbClr val="1B1B19"/>
                        </a:solidFill>
                      </a:endParaRPr>
                    </a:p>
                  </a:txBody>
                  <a:tcPr>
                    <a:solidFill>
                      <a:srgbClr val="FBFBF8"/>
                    </a:solidFill>
                  </a:tcPr>
                </a:tc>
              </a:tr>
              <a:tr h="539115">
                <a:tc>
                  <a:txBody>
                    <a:bodyPr/>
                    <a:lstStyle/>
                    <a:p>
                      <a:pPr algn="l"/>
                      <a:r>
                        <a:rPr sz="960">
                          <a:solidFill>
                            <a:srgbClr val="1B1B19"/>
                          </a:solidFill>
                        </a:rPr>
                        <a:t>100 Mbps / 30 车</a:t>
                      </a:r>
                      <a:endParaRPr sz="960">
                        <a:solidFill>
                          <a:srgbClr val="1B1B19"/>
                        </a:solidFill>
                      </a:endParaRPr>
                    </a:p>
                  </a:txBody>
                  <a:tcPr/>
                </a:tc>
                <a:tc>
                  <a:txBody>
                    <a:bodyPr/>
                    <a:lstStyle/>
                    <a:p>
                      <a:pPr algn="ctr"/>
                      <a:r>
                        <a:rPr sz="960">
                          <a:solidFill>
                            <a:srgbClr val="1B1B19"/>
                          </a:solidFill>
                        </a:rPr>
                        <a:t>71.9%</a:t>
                      </a:r>
                      <a:endParaRPr sz="960">
                        <a:solidFill>
                          <a:srgbClr val="1B1B19"/>
                        </a:solidFill>
                      </a:endParaRPr>
                    </a:p>
                  </a:txBody>
                  <a:tcPr/>
                </a:tc>
                <a:tc>
                  <a:txBody>
                    <a:bodyPr/>
                    <a:lstStyle/>
                    <a:p>
                      <a:pPr algn="ctr"/>
                      <a:r>
                        <a:rPr sz="960">
                          <a:solidFill>
                            <a:srgbClr val="1B1B19"/>
                          </a:solidFill>
                        </a:rPr>
                        <a:t>93.1%</a:t>
                      </a:r>
                      <a:endParaRPr sz="960">
                        <a:solidFill>
                          <a:srgbClr val="1B1B19"/>
                        </a:solidFill>
                      </a:endParaRPr>
                    </a:p>
                  </a:txBody>
                  <a:tcPr/>
                </a:tc>
                <a:tc>
                  <a:txBody>
                    <a:bodyPr/>
                    <a:lstStyle/>
                    <a:p>
                      <a:pPr algn="ctr"/>
                      <a:r>
                        <a:rPr sz="960">
                          <a:solidFill>
                            <a:srgbClr val="1B1B19"/>
                          </a:solidFill>
                        </a:rPr>
                        <a:t>20 km/h</a:t>
                      </a:r>
                      <a:endParaRPr sz="960">
                        <a:solidFill>
                          <a:srgbClr val="1B1B19"/>
                        </a:solidFill>
                      </a:endParaRPr>
                    </a:p>
                  </a:txBody>
                  <a:tcPr/>
                </a:tc>
              </a:tr>
            </a:tbl>
          </a:graphicData>
        </a:graphic>
      </p:graphicFrame>
      <p:sp>
        <p:nvSpPr>
          <p:cNvPr id="5" name="矩形 4"/>
          <p:cNvSpPr>
            <a:spLocks noGrp="1"/>
          </p:cNvSpPr>
          <p:nvPr/>
        </p:nvSpPr>
        <p:spPr>
          <a:xfrm>
            <a:off x="685800" y="5181600"/>
            <a:ext cx="5238750" cy="457200"/>
          </a:xfrm>
          <a:prstGeom prst="rect">
            <a:avLst/>
          </a:prstGeom>
          <a:noFill/>
          <a:ln w="0">
            <a:noFill/>
            <a:prstDash val="solid"/>
          </a:ln>
        </p:spPr>
        <p:txBody>
          <a:bodyPr wrap="square" lIns="0" tIns="0" rIns="0" bIns="0" anchor="t">
            <a:noAutofit/>
          </a:bodyPr>
          <a:lstStyle>
            <a:defPPr algn="l">
              <a:defRPr sz="109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95" b="0">
                <a:solidFill>
                  <a:srgbClr val="5F5F58"/>
                </a:solidFill>
                <a:latin typeface="微软雅黑" panose="020B0503020204020204" charset="-122"/>
                <a:ea typeface="微软雅黑" panose="020B0503020204020204" charset="-122"/>
                <a:cs typeface="微软雅黑" panose="020B0503020204020204" charset="-122"/>
              </a:defRPr>
            </a:pPr>
            <a:r>
              <a:rPr sz="1095" b="0">
                <a:solidFill>
                  <a:srgbClr val="5F5F58"/>
                </a:solidFill>
                <a:latin typeface="微软雅黑" panose="020B0503020204020204" charset="-122"/>
                <a:ea typeface="微软雅黑" panose="020B0503020204020204" charset="-122"/>
                <a:cs typeface="微软雅黑" panose="020B0503020204020204" charset="-122"/>
              </a:rPr>
              <a:t>速度变快会让车更频繁跨区，也会缩短每次迁移可用的时间窗口。</a:t>
            </a:r>
            <a:endParaRPr sz="1095"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286500" y="5181600"/>
            <a:ext cx="5219700" cy="457200"/>
          </a:xfrm>
          <a:prstGeom prst="rect">
            <a:avLst/>
          </a:prstGeom>
          <a:noFill/>
          <a:ln w="0">
            <a:noFill/>
            <a:prstDash val="solid"/>
          </a:ln>
        </p:spPr>
        <p:txBody>
          <a:bodyPr wrap="square" lIns="0" tIns="0" rIns="0" bIns="0" anchor="t">
            <a:noAutofit/>
          </a:bodyPr>
          <a:lstStyle>
            <a:defPPr algn="l">
              <a:defRPr sz="109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95" b="0">
                <a:solidFill>
                  <a:srgbClr val="5F5F58"/>
                </a:solidFill>
                <a:latin typeface="微软雅黑" panose="020B0503020204020204" charset="-122"/>
                <a:ea typeface="微软雅黑" panose="020B0503020204020204" charset="-122"/>
                <a:cs typeface="微软雅黑" panose="020B0503020204020204" charset="-122"/>
              </a:defRPr>
            </a:pPr>
            <a:r>
              <a:rPr sz="1095" b="0">
                <a:solidFill>
                  <a:srgbClr val="5F5F58"/>
                </a:solidFill>
                <a:latin typeface="微软雅黑" panose="020B0503020204020204" charset="-122"/>
                <a:ea typeface="微软雅黑" panose="020B0503020204020204" charset="-122"/>
                <a:cs typeface="微软雅黑" panose="020B0503020204020204" charset="-122"/>
              </a:rPr>
              <a:t>但速度不是唯一变量：带宽越低、并发车越多，同一速度下也更容易中断。</a:t>
            </a:r>
            <a:endParaRPr sz="1095"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85800" y="5772150"/>
            <a:ext cx="10820400" cy="9525"/>
          </a:xfrm>
          <a:prstGeom prst="rect">
            <a:avLst/>
          </a:prstGeom>
          <a:solidFill>
            <a:srgbClr val="D9D9D1"/>
          </a:solidFill>
          <a:ln w="0">
            <a:noFill/>
            <a:prstDash val="solid"/>
          </a:ln>
        </p:spPr>
      </p:sp>
      <p:sp>
        <p:nvSpPr>
          <p:cNvPr id="8" name="矩形 7"/>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275" b="1">
                <a:solidFill>
                  <a:srgbClr val="0F5B5B"/>
                </a:solidFill>
                <a:latin typeface="微软雅黑" panose="020B0503020204020204" charset="-122"/>
                <a:ea typeface="微软雅黑" panose="020B0503020204020204" charset="-122"/>
                <a:cs typeface="微软雅黑" panose="020B0503020204020204" charset="-122"/>
              </a:rPr>
              <a:t>核心关系是“迁移需求 ÷ 可用容量”；速度只是把需求更快地压到一个节点上。</a:t>
            </a:r>
            <a:endParaRPr sz="1275"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100" b="1">
                <a:solidFill>
                  <a:srgbClr val="1B1B19"/>
                </a:solidFill>
                <a:latin typeface="微软雅黑" panose="020B0503020204020204" charset="-122"/>
                <a:ea typeface="微软雅黑" panose="020B0503020204020204" charset="-122"/>
                <a:cs typeface="微软雅黑" panose="020B0503020204020204" charset="-122"/>
              </a:rPr>
              <a:t>预测器的任务只是猜测下一个 cell</a:t>
            </a:r>
            <a:endParaRPr sz="21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sp>
        <p:nvSpPr>
          <p:cNvPr id="4" name="圆角矩形 3"/>
          <p:cNvSpPr>
            <a:spLocks noGrp="1"/>
          </p:cNvSpPr>
          <p:nvPr/>
        </p:nvSpPr>
        <p:spPr>
          <a:xfrm>
            <a:off x="685800" y="1866900"/>
            <a:ext cx="3048000" cy="1847850"/>
          </a:xfrm>
          <a:prstGeom prst="roundRect">
            <a:avLst>
              <a:gd name="adj" fmla="val 4124"/>
            </a:avLst>
          </a:prstGeom>
          <a:solidFill>
            <a:srgbClr val="FFFFFF"/>
          </a:solidFill>
          <a:ln w="9525">
            <a:solidFill>
              <a:srgbClr val="D9D9D1"/>
            </a:solidFill>
            <a:prstDash val="solid"/>
          </a:ln>
        </p:spPr>
      </p:sp>
      <p:sp>
        <p:nvSpPr>
          <p:cNvPr id="5" name="矩形 4"/>
          <p:cNvSpPr>
            <a:spLocks noGrp="1"/>
          </p:cNvSpPr>
          <p:nvPr/>
        </p:nvSpPr>
        <p:spPr>
          <a:xfrm>
            <a:off x="895350" y="2057400"/>
            <a:ext cx="2628900" cy="285750"/>
          </a:xfrm>
          <a:prstGeom prst="rect">
            <a:avLst/>
          </a:prstGeom>
          <a:noFill/>
          <a:ln w="0">
            <a:noFill/>
            <a:prstDash val="solid"/>
          </a:ln>
        </p:spPr>
        <p:txBody>
          <a:bodyPr wrap="square" lIns="0" tIns="0" rIns="0" bIns="0" anchor="t">
            <a:noAutofit/>
          </a:bodyPr>
          <a:lstStyle>
            <a:defPPr algn="l">
              <a:defRPr sz="139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90" b="1">
                <a:solidFill>
                  <a:srgbClr val="0F5B5B"/>
                </a:solidFill>
                <a:latin typeface="微软雅黑" panose="020B0503020204020204" charset="-122"/>
                <a:ea typeface="微软雅黑" panose="020B0503020204020204" charset="-122"/>
                <a:cs typeface="微软雅黑" panose="020B0503020204020204" charset="-122"/>
              </a:defRPr>
            </a:pPr>
            <a:r>
              <a:rPr sz="1390" b="1">
                <a:solidFill>
                  <a:srgbClr val="0F5B5B"/>
                </a:solidFill>
                <a:latin typeface="微软雅黑" panose="020B0503020204020204" charset="-122"/>
                <a:ea typeface="微软雅黑" panose="020B0503020204020204" charset="-122"/>
                <a:cs typeface="微软雅黑" panose="020B0503020204020204" charset="-122"/>
              </a:rPr>
              <a:t>last-direction</a:t>
            </a:r>
            <a:endParaRPr sz="13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895350" y="2476500"/>
            <a:ext cx="2628900" cy="514350"/>
          </a:xfrm>
          <a:prstGeom prst="rect">
            <a:avLst/>
          </a:prstGeom>
          <a:noFill/>
          <a:ln w="0">
            <a:noFill/>
            <a:prstDash val="solid"/>
          </a:ln>
        </p:spPr>
        <p:txBody>
          <a:bodyPr wrap="square" lIns="0" tIns="0" rIns="0" bIns="0" anchor="t">
            <a:noAutofit/>
          </a:bodyPr>
          <a:lstStyle>
            <a:defPPr algn="l">
              <a:defRPr sz="106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36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065" b="0">
                <a:solidFill>
                  <a:srgbClr val="1B1B19"/>
                </a:solidFill>
                <a:latin typeface="微软雅黑" panose="020B0503020204020204" charset="-122"/>
                <a:ea typeface="微软雅黑" panose="020B0503020204020204" charset="-122"/>
                <a:cs typeface="微软雅黑" panose="020B0503020204020204" charset="-122"/>
              </a:rPr>
              <a:t>沿着车辆最近一段方向继续外推。</a:t>
            </a:r>
            <a:endParaRPr sz="1065"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895350" y="3105150"/>
            <a:ext cx="2628900" cy="381000"/>
          </a:xfrm>
          <a:prstGeom prst="rect">
            <a:avLst/>
          </a:prstGeom>
          <a:noFill/>
          <a:ln w="0">
            <a:noFill/>
            <a:prstDash val="solid"/>
          </a:ln>
        </p:spPr>
        <p:txBody>
          <a:bodyPr wrap="square" lIns="0" tIns="0" rIns="0" bIns="0" anchor="t">
            <a:noAutofit/>
          </a:bodyPr>
          <a:lstStyle>
            <a:defPPr algn="l">
              <a:defRPr sz="940"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940" b="0">
                <a:solidFill>
                  <a:srgbClr val="5F5F58"/>
                </a:solidFill>
                <a:latin typeface="微软雅黑" panose="020B0503020204020204" charset="-122"/>
                <a:ea typeface="微软雅黑" panose="020B0503020204020204" charset="-122"/>
                <a:cs typeface="微软雅黑" panose="020B0503020204020204" charset="-122"/>
              </a:defRPr>
            </a:pPr>
            <a:r>
              <a:rPr sz="940" b="0">
                <a:solidFill>
                  <a:srgbClr val="5F5F58"/>
                </a:solidFill>
                <a:latin typeface="微软雅黑" panose="020B0503020204020204" charset="-122"/>
                <a:ea typeface="微软雅黑" panose="020B0503020204020204" charset="-122"/>
                <a:cs typeface="微软雅黑" panose="020B0503020204020204" charset="-122"/>
              </a:rPr>
              <a:t>简单、便宜；转弯就很容易错。</a:t>
            </a:r>
            <a:endParaRPr sz="940"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4343400" y="1866900"/>
            <a:ext cx="3048000" cy="1847850"/>
          </a:xfrm>
          <a:prstGeom prst="roundRect">
            <a:avLst>
              <a:gd name="adj" fmla="val 4124"/>
            </a:avLst>
          </a:prstGeom>
          <a:solidFill>
            <a:srgbClr val="FFFFFF"/>
          </a:solidFill>
          <a:ln w="9525">
            <a:solidFill>
              <a:srgbClr val="D9D9D1"/>
            </a:solidFill>
            <a:prstDash val="solid"/>
          </a:ln>
        </p:spPr>
      </p:sp>
      <p:sp>
        <p:nvSpPr>
          <p:cNvPr id="9" name="矩形 8"/>
          <p:cNvSpPr>
            <a:spLocks noGrp="1"/>
          </p:cNvSpPr>
          <p:nvPr/>
        </p:nvSpPr>
        <p:spPr>
          <a:xfrm>
            <a:off x="4552950" y="2057400"/>
            <a:ext cx="2628900" cy="285750"/>
          </a:xfrm>
          <a:prstGeom prst="rect">
            <a:avLst/>
          </a:prstGeom>
          <a:noFill/>
          <a:ln w="0">
            <a:noFill/>
            <a:prstDash val="solid"/>
          </a:ln>
        </p:spPr>
        <p:txBody>
          <a:bodyPr wrap="square" lIns="0" tIns="0" rIns="0" bIns="0" anchor="t">
            <a:noAutofit/>
          </a:bodyPr>
          <a:lstStyle>
            <a:defPPr algn="l">
              <a:defRPr sz="139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90" b="1">
                <a:solidFill>
                  <a:srgbClr val="0F5B5B"/>
                </a:solidFill>
                <a:latin typeface="微软雅黑" panose="020B0503020204020204" charset="-122"/>
                <a:ea typeface="微软雅黑" panose="020B0503020204020204" charset="-122"/>
                <a:cs typeface="微软雅黑" panose="020B0503020204020204" charset="-122"/>
              </a:defRPr>
            </a:pPr>
            <a:r>
              <a:rPr sz="1390" b="1">
                <a:solidFill>
                  <a:srgbClr val="0F5B5B"/>
                </a:solidFill>
                <a:latin typeface="微软雅黑" panose="020B0503020204020204" charset="-122"/>
                <a:ea typeface="微软雅黑" panose="020B0503020204020204" charset="-122"/>
                <a:cs typeface="微软雅黑" panose="020B0503020204020204" charset="-122"/>
              </a:rPr>
              <a:t>一阶马尔可夫</a:t>
            </a:r>
            <a:endParaRPr sz="139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4552950" y="2476500"/>
            <a:ext cx="2628900" cy="514350"/>
          </a:xfrm>
          <a:prstGeom prst="rect">
            <a:avLst/>
          </a:prstGeom>
          <a:noFill/>
          <a:ln w="0">
            <a:noFill/>
            <a:prstDash val="solid"/>
          </a:ln>
        </p:spPr>
        <p:txBody>
          <a:bodyPr wrap="square" lIns="0" tIns="0" rIns="0" bIns="0" anchor="t">
            <a:noAutofit/>
          </a:bodyPr>
          <a:lstStyle>
            <a:defPPr algn="l">
              <a:defRPr sz="106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36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065" b="0">
                <a:solidFill>
                  <a:srgbClr val="1B1B19"/>
                </a:solidFill>
                <a:latin typeface="微软雅黑" panose="020B0503020204020204" charset="-122"/>
                <a:ea typeface="微软雅黑" panose="020B0503020204020204" charset="-122"/>
                <a:cs typeface="微软雅黑" panose="020B0503020204020204" charset="-122"/>
              </a:rPr>
              <a:t>用其他车辆学到的 cell 转移概率猜下一格。</a:t>
            </a:r>
            <a:endParaRPr sz="1065"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4552950" y="3105150"/>
            <a:ext cx="2628900" cy="381000"/>
          </a:xfrm>
          <a:prstGeom prst="rect">
            <a:avLst/>
          </a:prstGeom>
          <a:noFill/>
          <a:ln w="0">
            <a:noFill/>
            <a:prstDash val="solid"/>
          </a:ln>
        </p:spPr>
        <p:txBody>
          <a:bodyPr wrap="square" lIns="0" tIns="0" rIns="0" bIns="0" anchor="t">
            <a:noAutofit/>
          </a:bodyPr>
          <a:lstStyle>
            <a:defPPr algn="l">
              <a:defRPr sz="940"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940" b="0">
                <a:solidFill>
                  <a:srgbClr val="5F5F58"/>
                </a:solidFill>
                <a:latin typeface="微软雅黑" panose="020B0503020204020204" charset="-122"/>
                <a:ea typeface="微软雅黑" panose="020B0503020204020204" charset="-122"/>
                <a:cs typeface="微软雅黑" panose="020B0503020204020204" charset="-122"/>
              </a:defRPr>
            </a:pPr>
            <a:r>
              <a:rPr sz="940" b="0">
                <a:solidFill>
                  <a:srgbClr val="5F5F58"/>
                </a:solidFill>
                <a:latin typeface="微软雅黑" panose="020B0503020204020204" charset="-122"/>
                <a:ea typeface="微软雅黑" panose="020B0503020204020204" charset="-122"/>
                <a:cs typeface="微软雅黑" panose="020B0503020204020204" charset="-122"/>
              </a:rPr>
              <a:t>CPU 可以训练；不需要 GPU。</a:t>
            </a:r>
            <a:endParaRPr sz="940"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001000" y="1866900"/>
            <a:ext cx="3048000" cy="1847850"/>
          </a:xfrm>
          <a:prstGeom prst="roundRect">
            <a:avLst>
              <a:gd name="adj" fmla="val 4124"/>
            </a:avLst>
          </a:prstGeom>
          <a:solidFill>
            <a:srgbClr val="F6EEDC"/>
          </a:solidFill>
          <a:ln w="9525">
            <a:solidFill>
              <a:srgbClr val="D7B56A"/>
            </a:solidFill>
            <a:prstDash val="solid"/>
          </a:ln>
        </p:spPr>
      </p:sp>
      <p:sp>
        <p:nvSpPr>
          <p:cNvPr id="13" name="矩形 12"/>
          <p:cNvSpPr>
            <a:spLocks noGrp="1"/>
          </p:cNvSpPr>
          <p:nvPr/>
        </p:nvSpPr>
        <p:spPr>
          <a:xfrm>
            <a:off x="8210550" y="2057400"/>
            <a:ext cx="2628900" cy="285750"/>
          </a:xfrm>
          <a:prstGeom prst="rect">
            <a:avLst/>
          </a:prstGeom>
          <a:noFill/>
          <a:ln w="0">
            <a:noFill/>
            <a:prstDash val="solid"/>
          </a:ln>
        </p:spPr>
        <p:txBody>
          <a:bodyPr wrap="square" lIns="0" tIns="0" rIns="0" bIns="0" anchor="t">
            <a:noAutofit/>
          </a:bodyPr>
          <a:lstStyle>
            <a:defPPr algn="l">
              <a:defRPr sz="1390" b="1">
                <a:solidFill>
                  <a:srgbClr val="A56A00"/>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90" b="1">
                <a:solidFill>
                  <a:srgbClr val="A56A00"/>
                </a:solidFill>
                <a:latin typeface="微软雅黑" panose="020B0503020204020204" charset="-122"/>
                <a:ea typeface="微软雅黑" panose="020B0503020204020204" charset="-122"/>
                <a:cs typeface="微软雅黑" panose="020B0503020204020204" charset="-122"/>
              </a:defRPr>
            </a:pPr>
            <a:r>
              <a:rPr sz="1390" b="1">
                <a:solidFill>
                  <a:srgbClr val="A56A00"/>
                </a:solidFill>
                <a:latin typeface="微软雅黑" panose="020B0503020204020204" charset="-122"/>
                <a:ea typeface="微软雅黑" panose="020B0503020204020204" charset="-122"/>
                <a:cs typeface="微软雅黑" panose="020B0503020204020204" charset="-122"/>
              </a:rPr>
              <a:t>oracle</a:t>
            </a:r>
            <a:endParaRPr sz="1390" b="1">
              <a:solidFill>
                <a:srgbClr val="A56A00"/>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8210550" y="2476500"/>
            <a:ext cx="2628900" cy="514350"/>
          </a:xfrm>
          <a:prstGeom prst="rect">
            <a:avLst/>
          </a:prstGeom>
          <a:noFill/>
          <a:ln w="0">
            <a:noFill/>
            <a:prstDash val="solid"/>
          </a:ln>
        </p:spPr>
        <p:txBody>
          <a:bodyPr wrap="square" lIns="0" tIns="0" rIns="0" bIns="0" anchor="t">
            <a:noAutofit/>
          </a:bodyPr>
          <a:lstStyle>
            <a:defPPr algn="l">
              <a:defRPr sz="106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36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065" b="0">
                <a:solidFill>
                  <a:srgbClr val="1B1B19"/>
                </a:solidFill>
                <a:latin typeface="微软雅黑" panose="020B0503020204020204" charset="-122"/>
                <a:ea typeface="微软雅黑" panose="020B0503020204020204" charset="-122"/>
                <a:cs typeface="微软雅黑" panose="020B0503020204020204" charset="-122"/>
              </a:rPr>
              <a:t>直接读取车辆真实未来轨迹。</a:t>
            </a:r>
            <a:endParaRPr sz="1065"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210550" y="3105150"/>
            <a:ext cx="2628900" cy="381000"/>
          </a:xfrm>
          <a:prstGeom prst="rect">
            <a:avLst/>
          </a:prstGeom>
          <a:noFill/>
          <a:ln w="0">
            <a:noFill/>
            <a:prstDash val="solid"/>
          </a:ln>
        </p:spPr>
        <p:txBody>
          <a:bodyPr wrap="square" lIns="0" tIns="0" rIns="0" bIns="0" anchor="t">
            <a:noAutofit/>
          </a:bodyPr>
          <a:lstStyle>
            <a:defPPr algn="l">
              <a:defRPr sz="940"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940" b="0">
                <a:solidFill>
                  <a:srgbClr val="5F5F58"/>
                </a:solidFill>
                <a:latin typeface="微软雅黑" panose="020B0503020204020204" charset="-122"/>
                <a:ea typeface="微软雅黑" panose="020B0503020204020204" charset="-122"/>
                <a:cs typeface="微软雅黑" panose="020B0503020204020204" charset="-122"/>
              </a:defRPr>
            </a:pPr>
            <a:r>
              <a:rPr sz="940" b="0">
                <a:solidFill>
                  <a:srgbClr val="5F5F58"/>
                </a:solidFill>
                <a:latin typeface="微软雅黑" panose="020B0503020204020204" charset="-122"/>
                <a:ea typeface="微软雅黑" panose="020B0503020204020204" charset="-122"/>
                <a:cs typeface="微软雅黑" panose="020B0503020204020204" charset="-122"/>
              </a:rPr>
              <a:t>实验上限，现实中不可获得。</a:t>
            </a:r>
            <a:endParaRPr sz="940"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685800" y="4076700"/>
            <a:ext cx="10820400" cy="1123950"/>
          </a:xfrm>
          <a:prstGeom prst="roundRect">
            <a:avLst>
              <a:gd name="adj" fmla="val 6780"/>
            </a:avLst>
          </a:prstGeom>
          <a:solidFill>
            <a:srgbClr val="E7F0EE"/>
          </a:solidFill>
          <a:ln w="9525">
            <a:solidFill>
              <a:srgbClr val="0F5B5B"/>
            </a:solidFill>
            <a:prstDash val="solid"/>
          </a:ln>
        </p:spPr>
      </p:sp>
      <p:sp>
        <p:nvSpPr>
          <p:cNvPr id="17" name="矩形 16"/>
          <p:cNvSpPr>
            <a:spLocks noGrp="1"/>
          </p:cNvSpPr>
          <p:nvPr/>
        </p:nvSpPr>
        <p:spPr>
          <a:xfrm>
            <a:off x="914400" y="4248150"/>
            <a:ext cx="10363200" cy="266700"/>
          </a:xfrm>
          <a:prstGeom prst="rect">
            <a:avLst/>
          </a:prstGeom>
          <a:noFill/>
          <a:ln w="0">
            <a:noFill/>
            <a:prstDash val="solid"/>
          </a:ln>
        </p:spPr>
        <p:txBody>
          <a:bodyPr wrap="square" lIns="0" tIns="0" rIns="0" bIns="0" anchor="t">
            <a:noAutofit/>
          </a:bodyPr>
          <a:lstStyle>
            <a:defPPr algn="l">
              <a:defRPr sz="124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40" b="1">
                <a:solidFill>
                  <a:srgbClr val="0F5B5B"/>
                </a:solidFill>
                <a:latin typeface="微软雅黑" panose="020B0503020204020204" charset="-122"/>
                <a:ea typeface="微软雅黑" panose="020B0503020204020204" charset="-122"/>
                <a:cs typeface="微软雅黑" panose="020B0503020204020204" charset="-122"/>
              </a:defRPr>
            </a:pPr>
            <a:r>
              <a:rPr sz="1240" b="1">
                <a:solidFill>
                  <a:srgbClr val="0F5B5B"/>
                </a:solidFill>
                <a:latin typeface="微软雅黑" panose="020B0503020204020204" charset="-122"/>
                <a:ea typeface="微软雅黑" panose="020B0503020204020204" charset="-122"/>
                <a:cs typeface="微软雅黑" panose="020B0503020204020204" charset="-122"/>
              </a:rPr>
              <a:t>预测错了会发生什么</a:t>
            </a:r>
            <a:endParaRPr sz="124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914400" y="4572000"/>
            <a:ext cx="10363200" cy="476250"/>
          </a:xfrm>
          <a:prstGeom prst="rect">
            <a:avLst/>
          </a:prstGeom>
          <a:noFill/>
          <a:ln w="0">
            <a:noFill/>
            <a:prstDash val="solid"/>
          </a:ln>
        </p:spPr>
        <p:txBody>
          <a:bodyPr wrap="square" lIns="0" tIns="0" rIns="0" bIns="0" anchor="t">
            <a:noAutofit/>
          </a:bodyPr>
          <a:lstStyle>
            <a:defPPr algn="l">
              <a:defRPr sz="112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40000"/>
              </a:lnSpc>
              <a:buNone/>
              <a:defRPr sz="1125" b="0">
                <a:solidFill>
                  <a:srgbClr val="1B1B19"/>
                </a:solidFill>
                <a:latin typeface="微软雅黑" panose="020B0503020204020204" charset="-122"/>
                <a:ea typeface="微软雅黑" panose="020B0503020204020204" charset="-122"/>
                <a:cs typeface="微软雅黑" panose="020B0503020204020204" charset="-122"/>
              </a:defRPr>
            </a:pPr>
            <a:r>
              <a:rPr sz="1125" b="0">
                <a:solidFill>
                  <a:srgbClr val="1B1B19"/>
                </a:solidFill>
                <a:latin typeface="微软雅黑" panose="020B0503020204020204" charset="-122"/>
                <a:ea typeface="微软雅黑" panose="020B0503020204020204" charset="-122"/>
                <a:cs typeface="微软雅黑" panose="020B0503020204020204" charset="-122"/>
              </a:rPr>
              <a:t>服务被搬到错误节点，车辆真正到达后还要再迁一次。结果可能是中断没有完全消失，迁移字节反而增加。所以 proactive 不是天然优于 follow-me。</a:t>
            </a:r>
            <a:endParaRPr sz="1125"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685800" y="5772150"/>
            <a:ext cx="10820400" cy="9525"/>
          </a:xfrm>
          <a:prstGeom prst="rect">
            <a:avLst/>
          </a:prstGeom>
          <a:solidFill>
            <a:srgbClr val="D9D9D1"/>
          </a:solidFill>
          <a:ln w="0">
            <a:noFill/>
            <a:prstDash val="solid"/>
          </a:ln>
        </p:spPr>
      </p:sp>
      <p:sp>
        <p:nvSpPr>
          <p:cNvPr id="20" name="矩形 19"/>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275" b="1">
                <a:solidFill>
                  <a:srgbClr val="0F5B5B"/>
                </a:solidFill>
                <a:latin typeface="微软雅黑" panose="020B0503020204020204" charset="-122"/>
                <a:ea typeface="微软雅黑" panose="020B0503020204020204" charset="-122"/>
                <a:cs typeface="微软雅黑" panose="020B0503020204020204" charset="-122"/>
              </a:rPr>
              <a:t>预迁移的收益不是“提前”本身带来的，而是“提前且猜对”带来的。</a:t>
            </a:r>
            <a:endParaRPr sz="1275"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100" b="1">
                <a:solidFill>
                  <a:srgbClr val="1B1B19"/>
                </a:solidFill>
                <a:latin typeface="微软雅黑" panose="020B0503020204020204" charset="-122"/>
                <a:ea typeface="微软雅黑" panose="020B0503020204020204" charset="-122"/>
                <a:cs typeface="微软雅黑" panose="020B0503020204020204" charset="-122"/>
              </a:rPr>
              <a:t>预测越差，中断仍可下降，但无谓字节会明显增加</a:t>
            </a:r>
            <a:endParaRPr sz="21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graphicFrame>
        <p:nvGraphicFramePr>
          <p:cNvPr id="4" name="表格 3"/>
          <p:cNvGraphicFramePr/>
          <p:nvPr/>
        </p:nvGraphicFramePr>
        <p:xfrm>
          <a:off x="685800" y="1771650"/>
          <a:ext cx="7562850" cy="2857500"/>
        </p:xfrm>
        <a:graphic>
          <a:graphicData uri="http://schemas.openxmlformats.org/drawingml/2006/table">
            <a:tbl>
              <a:tblPr/>
              <a:tblGrid>
                <a:gridCol w="2095500"/>
                <a:gridCol w="1428750"/>
                <a:gridCol w="1524000"/>
                <a:gridCol w="1257300"/>
                <a:gridCol w="1257300"/>
              </a:tblGrid>
              <a:tr h="571500">
                <a:tc>
                  <a:txBody>
                    <a:bodyPr/>
                    <a:lstStyle/>
                    <a:p>
                      <a:pPr algn="l"/>
                      <a:r>
                        <a:rPr sz="940" b="1"/>
                        <a:t>预测器</a:t>
                      </a:r>
                      <a:endParaRPr sz="940" b="1"/>
                    </a:p>
                  </a:txBody>
                  <a:tcPr>
                    <a:solidFill>
                      <a:srgbClr val="0F5B5B"/>
                    </a:solidFill>
                  </a:tcPr>
                </a:tc>
                <a:tc>
                  <a:txBody>
                    <a:bodyPr/>
                    <a:lstStyle/>
                    <a:p>
                      <a:pPr algn="ctr"/>
                      <a:r>
                        <a:rPr sz="940" b="1"/>
                        <a:t>准确率</a:t>
                      </a:r>
                      <a:endParaRPr sz="940" b="1"/>
                    </a:p>
                  </a:txBody>
                  <a:tcPr>
                    <a:solidFill>
                      <a:srgbClr val="0F5B5B"/>
                    </a:solidFill>
                  </a:tcPr>
                </a:tc>
                <a:tc>
                  <a:txBody>
                    <a:bodyPr/>
                    <a:lstStyle/>
                    <a:p>
                      <a:pPr algn="ctr"/>
                      <a:r>
                        <a:rPr sz="940" b="1"/>
                        <a:t>中断</a:t>
                      </a:r>
                      <a:endParaRPr sz="940" b="1"/>
                    </a:p>
                  </a:txBody>
                  <a:tcPr>
                    <a:solidFill>
                      <a:srgbClr val="0F5B5B"/>
                    </a:solidFill>
                  </a:tcPr>
                </a:tc>
                <a:tc>
                  <a:txBody>
                    <a:bodyPr/>
                    <a:lstStyle/>
                    <a:p>
                      <a:pPr algn="ctr"/>
                      <a:r>
                        <a:rPr sz="940" b="1"/>
                        <a:t>迁移数据</a:t>
                      </a:r>
                      <a:endParaRPr sz="940" b="1"/>
                    </a:p>
                  </a:txBody>
                  <a:tcPr>
                    <a:solidFill>
                      <a:srgbClr val="0F5B5B"/>
                    </a:solidFill>
                  </a:tcPr>
                </a:tc>
                <a:tc>
                  <a:txBody>
                    <a:bodyPr/>
                    <a:lstStyle/>
                    <a:p>
                      <a:pPr algn="ctr"/>
                      <a:r>
                        <a:rPr sz="940" b="1"/>
                        <a:t>到达后滞后</a:t>
                      </a:r>
                      <a:endParaRPr sz="940" b="1"/>
                    </a:p>
                  </a:txBody>
                  <a:tcPr>
                    <a:solidFill>
                      <a:srgbClr val="0F5B5B"/>
                    </a:solidFill>
                  </a:tcPr>
                </a:tc>
              </a:tr>
              <a:tr h="571500">
                <a:tc>
                  <a:txBody>
                    <a:bodyPr/>
                    <a:lstStyle/>
                    <a:p>
                      <a:pPr algn="l"/>
                      <a:r>
                        <a:rPr sz="925">
                          <a:solidFill>
                            <a:srgbClr val="1B1B19"/>
                          </a:solidFill>
                        </a:rPr>
                        <a:t>oracle（上限）</a:t>
                      </a:r>
                      <a:endParaRPr sz="925">
                        <a:solidFill>
                          <a:srgbClr val="1B1B19"/>
                        </a:solidFill>
                      </a:endParaRPr>
                    </a:p>
                  </a:txBody>
                  <a:tcPr/>
                </a:tc>
                <a:tc>
                  <a:txBody>
                    <a:bodyPr/>
                    <a:lstStyle/>
                    <a:p>
                      <a:pPr algn="ctr"/>
                      <a:r>
                        <a:rPr sz="925">
                          <a:solidFill>
                            <a:srgbClr val="1B1B19"/>
                          </a:solidFill>
                        </a:rPr>
                        <a:t>100%</a:t>
                      </a:r>
                      <a:endParaRPr sz="925">
                        <a:solidFill>
                          <a:srgbClr val="1B1B19"/>
                        </a:solidFill>
                      </a:endParaRPr>
                    </a:p>
                  </a:txBody>
                  <a:tcPr/>
                </a:tc>
                <a:tc>
                  <a:txBody>
                    <a:bodyPr/>
                    <a:lstStyle/>
                    <a:p>
                      <a:pPr algn="ctr"/>
                      <a:r>
                        <a:rPr sz="925">
                          <a:solidFill>
                            <a:srgbClr val="1B1B19"/>
                          </a:solidFill>
                        </a:rPr>
                        <a:t>7.4%</a:t>
                      </a:r>
                      <a:endParaRPr sz="925">
                        <a:solidFill>
                          <a:srgbClr val="1B1B19"/>
                        </a:solidFill>
                      </a:endParaRPr>
                    </a:p>
                  </a:txBody>
                  <a:tcPr/>
                </a:tc>
                <a:tc>
                  <a:txBody>
                    <a:bodyPr/>
                    <a:lstStyle/>
                    <a:p>
                      <a:pPr algn="ctr"/>
                      <a:r>
                        <a:rPr sz="925">
                          <a:solidFill>
                            <a:srgbClr val="1B1B19"/>
                          </a:solidFill>
                        </a:rPr>
                        <a:t>139 GB</a:t>
                      </a:r>
                      <a:endParaRPr sz="925">
                        <a:solidFill>
                          <a:srgbClr val="1B1B19"/>
                        </a:solidFill>
                      </a:endParaRPr>
                    </a:p>
                  </a:txBody>
                  <a:tcPr/>
                </a:tc>
                <a:tc>
                  <a:txBody>
                    <a:bodyPr/>
                    <a:lstStyle/>
                    <a:p>
                      <a:pPr algn="ctr"/>
                      <a:r>
                        <a:rPr sz="925">
                          <a:solidFill>
                            <a:srgbClr val="1B1B19"/>
                          </a:solidFill>
                        </a:rPr>
                        <a:t>1.7 步</a:t>
                      </a:r>
                      <a:endParaRPr sz="925">
                        <a:solidFill>
                          <a:srgbClr val="1B1B19"/>
                        </a:solidFill>
                      </a:endParaRPr>
                    </a:p>
                  </a:txBody>
                  <a:tcPr/>
                </a:tc>
              </a:tr>
              <a:tr h="571500">
                <a:tc>
                  <a:txBody>
                    <a:bodyPr/>
                    <a:lstStyle/>
                    <a:p>
                      <a:pPr algn="l"/>
                      <a:r>
                        <a:rPr sz="925">
                          <a:solidFill>
                            <a:srgbClr val="1B1B19"/>
                          </a:solidFill>
                        </a:rPr>
                        <a:t>一阶马尔可夫</a:t>
                      </a:r>
                      <a:endParaRPr sz="925">
                        <a:solidFill>
                          <a:srgbClr val="1B1B19"/>
                        </a:solidFill>
                      </a:endParaRPr>
                    </a:p>
                  </a:txBody>
                  <a:tcPr>
                    <a:solidFill>
                      <a:srgbClr val="FBFBF8"/>
                    </a:solidFill>
                  </a:tcPr>
                </a:tc>
                <a:tc>
                  <a:txBody>
                    <a:bodyPr/>
                    <a:lstStyle/>
                    <a:p>
                      <a:pPr algn="ctr"/>
                      <a:r>
                        <a:rPr sz="925">
                          <a:solidFill>
                            <a:srgbClr val="1B1B19"/>
                          </a:solidFill>
                        </a:rPr>
                        <a:t>49%</a:t>
                      </a:r>
                      <a:endParaRPr sz="925">
                        <a:solidFill>
                          <a:srgbClr val="1B1B19"/>
                        </a:solidFill>
                      </a:endParaRPr>
                    </a:p>
                  </a:txBody>
                  <a:tcPr>
                    <a:solidFill>
                      <a:srgbClr val="FBFBF8"/>
                    </a:solidFill>
                  </a:tcPr>
                </a:tc>
                <a:tc>
                  <a:txBody>
                    <a:bodyPr/>
                    <a:lstStyle/>
                    <a:p>
                      <a:pPr algn="ctr"/>
                      <a:r>
                        <a:rPr sz="925">
                          <a:solidFill>
                            <a:srgbClr val="1B1B19"/>
                          </a:solidFill>
                        </a:rPr>
                        <a:t>8.2%</a:t>
                      </a:r>
                      <a:endParaRPr sz="925">
                        <a:solidFill>
                          <a:srgbClr val="1B1B19"/>
                        </a:solidFill>
                      </a:endParaRPr>
                    </a:p>
                  </a:txBody>
                  <a:tcPr>
                    <a:solidFill>
                      <a:srgbClr val="FBFBF8"/>
                    </a:solidFill>
                  </a:tcPr>
                </a:tc>
                <a:tc>
                  <a:txBody>
                    <a:bodyPr/>
                    <a:lstStyle/>
                    <a:p>
                      <a:pPr algn="ctr"/>
                      <a:r>
                        <a:rPr sz="925">
                          <a:solidFill>
                            <a:srgbClr val="1B1B19"/>
                          </a:solidFill>
                        </a:rPr>
                        <a:t>192 GB</a:t>
                      </a:r>
                      <a:endParaRPr sz="925">
                        <a:solidFill>
                          <a:srgbClr val="1B1B19"/>
                        </a:solidFill>
                      </a:endParaRPr>
                    </a:p>
                  </a:txBody>
                  <a:tcPr>
                    <a:solidFill>
                      <a:srgbClr val="FBFBF8"/>
                    </a:solidFill>
                  </a:tcPr>
                </a:tc>
                <a:tc>
                  <a:txBody>
                    <a:bodyPr/>
                    <a:lstStyle/>
                    <a:p>
                      <a:pPr algn="ctr"/>
                      <a:r>
                        <a:rPr sz="925">
                          <a:solidFill>
                            <a:srgbClr val="1B1B19"/>
                          </a:solidFill>
                        </a:rPr>
                        <a:t>5.9 步</a:t>
                      </a:r>
                      <a:endParaRPr sz="925">
                        <a:solidFill>
                          <a:srgbClr val="1B1B19"/>
                        </a:solidFill>
                      </a:endParaRPr>
                    </a:p>
                  </a:txBody>
                  <a:tcPr>
                    <a:solidFill>
                      <a:srgbClr val="FBFBF8"/>
                    </a:solidFill>
                  </a:tcPr>
                </a:tc>
              </a:tr>
              <a:tr h="571500">
                <a:tc>
                  <a:txBody>
                    <a:bodyPr/>
                    <a:lstStyle/>
                    <a:p>
                      <a:pPr algn="l"/>
                      <a:r>
                        <a:rPr sz="925">
                          <a:solidFill>
                            <a:srgbClr val="1B1B19"/>
                          </a:solidFill>
                        </a:rPr>
                        <a:t>last-direction</a:t>
                      </a:r>
                      <a:endParaRPr sz="925">
                        <a:solidFill>
                          <a:srgbClr val="1B1B19"/>
                        </a:solidFill>
                      </a:endParaRPr>
                    </a:p>
                  </a:txBody>
                  <a:tcPr/>
                </a:tc>
                <a:tc>
                  <a:txBody>
                    <a:bodyPr/>
                    <a:lstStyle/>
                    <a:p>
                      <a:pPr algn="ctr"/>
                      <a:r>
                        <a:rPr sz="925">
                          <a:solidFill>
                            <a:srgbClr val="1B1B19"/>
                          </a:solidFill>
                        </a:rPr>
                        <a:t>21%</a:t>
                      </a:r>
                      <a:endParaRPr sz="925">
                        <a:solidFill>
                          <a:srgbClr val="1B1B19"/>
                        </a:solidFill>
                      </a:endParaRPr>
                    </a:p>
                  </a:txBody>
                  <a:tcPr/>
                </a:tc>
                <a:tc>
                  <a:txBody>
                    <a:bodyPr/>
                    <a:lstStyle/>
                    <a:p>
                      <a:pPr algn="ctr"/>
                      <a:r>
                        <a:rPr sz="925">
                          <a:solidFill>
                            <a:srgbClr val="1B1B19"/>
                          </a:solidFill>
                        </a:rPr>
                        <a:t>9.8%</a:t>
                      </a:r>
                      <a:endParaRPr sz="925">
                        <a:solidFill>
                          <a:srgbClr val="1B1B19"/>
                        </a:solidFill>
                      </a:endParaRPr>
                    </a:p>
                  </a:txBody>
                  <a:tcPr/>
                </a:tc>
                <a:tc>
                  <a:txBody>
                    <a:bodyPr/>
                    <a:lstStyle/>
                    <a:p>
                      <a:pPr algn="ctr"/>
                      <a:r>
                        <a:rPr sz="925">
                          <a:solidFill>
                            <a:srgbClr val="1B1B19"/>
                          </a:solidFill>
                        </a:rPr>
                        <a:t>214 GB</a:t>
                      </a:r>
                      <a:endParaRPr sz="925">
                        <a:solidFill>
                          <a:srgbClr val="1B1B19"/>
                        </a:solidFill>
                      </a:endParaRPr>
                    </a:p>
                  </a:txBody>
                  <a:tcPr/>
                </a:tc>
                <a:tc>
                  <a:txBody>
                    <a:bodyPr/>
                    <a:lstStyle/>
                    <a:p>
                      <a:pPr algn="ctr"/>
                      <a:r>
                        <a:rPr sz="925">
                          <a:solidFill>
                            <a:srgbClr val="1B1B19"/>
                          </a:solidFill>
                        </a:rPr>
                        <a:t>10.9 步</a:t>
                      </a:r>
                      <a:endParaRPr sz="925">
                        <a:solidFill>
                          <a:srgbClr val="1B1B19"/>
                        </a:solidFill>
                      </a:endParaRPr>
                    </a:p>
                  </a:txBody>
                  <a:tcPr/>
                </a:tc>
              </a:tr>
              <a:tr h="571500">
                <a:tc>
                  <a:txBody>
                    <a:bodyPr/>
                    <a:lstStyle/>
                    <a:p>
                      <a:pPr algn="l"/>
                      <a:r>
                        <a:rPr sz="925">
                          <a:solidFill>
                            <a:srgbClr val="1B1B19"/>
                          </a:solidFill>
                        </a:rPr>
                        <a:t>reactive（follow-me）</a:t>
                      </a:r>
                      <a:endParaRPr sz="925">
                        <a:solidFill>
                          <a:srgbClr val="1B1B19"/>
                        </a:solidFill>
                      </a:endParaRPr>
                    </a:p>
                  </a:txBody>
                  <a:tcPr>
                    <a:solidFill>
                      <a:srgbClr val="FBFBF8"/>
                    </a:solidFill>
                  </a:tcPr>
                </a:tc>
                <a:tc>
                  <a:txBody>
                    <a:bodyPr/>
                    <a:lstStyle/>
                    <a:p>
                      <a:pPr algn="ctr"/>
                      <a:r>
                        <a:rPr sz="925">
                          <a:solidFill>
                            <a:srgbClr val="1B1B19"/>
                          </a:solidFill>
                        </a:rPr>
                        <a:t>—</a:t>
                      </a:r>
                      <a:endParaRPr sz="925">
                        <a:solidFill>
                          <a:srgbClr val="1B1B19"/>
                        </a:solidFill>
                      </a:endParaRPr>
                    </a:p>
                  </a:txBody>
                  <a:tcPr>
                    <a:solidFill>
                      <a:srgbClr val="FBFBF8"/>
                    </a:solidFill>
                  </a:tcPr>
                </a:tc>
                <a:tc>
                  <a:txBody>
                    <a:bodyPr/>
                    <a:lstStyle/>
                    <a:p>
                      <a:pPr algn="ctr"/>
                      <a:r>
                        <a:rPr sz="925">
                          <a:solidFill>
                            <a:srgbClr val="1B1B19"/>
                          </a:solidFill>
                        </a:rPr>
                        <a:t>39.0%</a:t>
                      </a:r>
                      <a:endParaRPr sz="925">
                        <a:solidFill>
                          <a:srgbClr val="1B1B19"/>
                        </a:solidFill>
                      </a:endParaRPr>
                    </a:p>
                  </a:txBody>
                  <a:tcPr>
                    <a:solidFill>
                      <a:srgbClr val="FBFBF8"/>
                    </a:solidFill>
                  </a:tcPr>
                </a:tc>
                <a:tc>
                  <a:txBody>
                    <a:bodyPr/>
                    <a:lstStyle/>
                    <a:p>
                      <a:pPr algn="ctr"/>
                      <a:r>
                        <a:rPr sz="925">
                          <a:solidFill>
                            <a:srgbClr val="1B1B19"/>
                          </a:solidFill>
                        </a:rPr>
                        <a:t>140 GB</a:t>
                      </a:r>
                      <a:endParaRPr sz="925">
                        <a:solidFill>
                          <a:srgbClr val="1B1B19"/>
                        </a:solidFill>
                      </a:endParaRPr>
                    </a:p>
                  </a:txBody>
                  <a:tcPr>
                    <a:solidFill>
                      <a:srgbClr val="FBFBF8"/>
                    </a:solidFill>
                  </a:tcPr>
                </a:tc>
                <a:tc>
                  <a:txBody>
                    <a:bodyPr/>
                    <a:lstStyle/>
                    <a:p>
                      <a:pPr algn="ctr"/>
                      <a:r>
                        <a:rPr sz="925">
                          <a:solidFill>
                            <a:srgbClr val="1B1B19"/>
                          </a:solidFill>
                        </a:rPr>
                        <a:t>7.8 步</a:t>
                      </a:r>
                      <a:endParaRPr sz="925">
                        <a:solidFill>
                          <a:srgbClr val="1B1B19"/>
                        </a:solidFill>
                      </a:endParaRPr>
                    </a:p>
                  </a:txBody>
                  <a:tcPr>
                    <a:solidFill>
                      <a:srgbClr val="FBFBF8"/>
                    </a:solidFill>
                  </a:tcPr>
                </a:tc>
              </a:tr>
            </a:tbl>
          </a:graphicData>
        </a:graphic>
      </p:graphicFrame>
      <p:sp>
        <p:nvSpPr>
          <p:cNvPr id="5" name="圆角矩形 4"/>
          <p:cNvSpPr>
            <a:spLocks noGrp="1"/>
          </p:cNvSpPr>
          <p:nvPr/>
        </p:nvSpPr>
        <p:spPr>
          <a:xfrm>
            <a:off x="8572500" y="1771650"/>
            <a:ext cx="2933700" cy="2857500"/>
          </a:xfrm>
          <a:prstGeom prst="roundRect">
            <a:avLst>
              <a:gd name="adj" fmla="val 2667"/>
            </a:avLst>
          </a:prstGeom>
          <a:solidFill>
            <a:srgbClr val="F7E8E2"/>
          </a:solidFill>
          <a:ln w="9525">
            <a:solidFill>
              <a:srgbClr val="B84A24"/>
            </a:solidFill>
            <a:prstDash val="solid"/>
          </a:ln>
        </p:spPr>
      </p:sp>
      <p:sp>
        <p:nvSpPr>
          <p:cNvPr id="6" name="矩形 5"/>
          <p:cNvSpPr>
            <a:spLocks noGrp="1"/>
          </p:cNvSpPr>
          <p:nvPr/>
        </p:nvSpPr>
        <p:spPr>
          <a:xfrm>
            <a:off x="8782050" y="1981200"/>
            <a:ext cx="2514600" cy="247650"/>
          </a:xfrm>
          <a:prstGeom prst="rect">
            <a:avLst/>
          </a:prstGeom>
          <a:noFill/>
          <a:ln w="0">
            <a:noFill/>
            <a:prstDash val="solid"/>
          </a:ln>
        </p:spPr>
        <p:txBody>
          <a:bodyPr wrap="square" lIns="0" tIns="0" rIns="0" bIns="0" anchor="t">
            <a:noAutofit/>
          </a:bodyPr>
          <a:lstStyle>
            <a:defPPr algn="l">
              <a:defRPr sz="1275" b="1">
                <a:solidFill>
                  <a:srgbClr val="B84A24"/>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B84A24"/>
                </a:solidFill>
                <a:latin typeface="微软雅黑" panose="020B0503020204020204" charset="-122"/>
                <a:ea typeface="微软雅黑" panose="020B0503020204020204" charset="-122"/>
                <a:cs typeface="微软雅黑" panose="020B0503020204020204" charset="-122"/>
              </a:defRPr>
            </a:pPr>
            <a:r>
              <a:rPr sz="1275" b="1">
                <a:solidFill>
                  <a:srgbClr val="B84A24"/>
                </a:solidFill>
                <a:latin typeface="微软雅黑" panose="020B0503020204020204" charset="-122"/>
                <a:ea typeface="微软雅黑" panose="020B0503020204020204" charset="-122"/>
                <a:cs typeface="微软雅黑" panose="020B0503020204020204" charset="-122"/>
              </a:rPr>
              <a:t>关键对照</a:t>
            </a:r>
            <a:endParaRPr sz="1275" b="1">
              <a:solidFill>
                <a:srgbClr val="B84A24"/>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8782050" y="2343150"/>
            <a:ext cx="2514600" cy="2038350"/>
          </a:xfrm>
          <a:prstGeom prst="rect">
            <a:avLst/>
          </a:prstGeom>
          <a:noFill/>
          <a:ln w="0">
            <a:noFill/>
            <a:prstDash val="solid"/>
          </a:ln>
        </p:spPr>
        <p:txBody>
          <a:bodyPr wrap="square" lIns="0" tIns="0" rIns="0" bIns="0" anchor="t">
            <a:noAutofit/>
          </a:bodyPr>
          <a:lstStyle>
            <a:defPPr algn="l">
              <a:defRPr sz="103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38000"/>
              </a:lnSpc>
              <a:buNone/>
              <a:defRPr sz="1030" b="0">
                <a:solidFill>
                  <a:srgbClr val="1B1B19"/>
                </a:solidFill>
                <a:latin typeface="微软雅黑" panose="020B0503020204020204" charset="-122"/>
                <a:ea typeface="微软雅黑" panose="020B0503020204020204" charset="-122"/>
                <a:cs typeface="微软雅黑" panose="020B0503020204020204" charset="-122"/>
              </a:defRPr>
            </a:pPr>
            <a:r>
              <a:rPr sz="1030" b="0">
                <a:solidFill>
                  <a:srgbClr val="1B1B19"/>
                </a:solidFill>
                <a:latin typeface="微软雅黑" panose="020B0503020204020204" charset="-122"/>
                <a:ea typeface="微软雅黑" panose="020B0503020204020204" charset="-122"/>
                <a:cs typeface="微软雅黑" panose="020B0503020204020204" charset="-122"/>
              </a:rPr>
              <a:t>last-direction 的迁移数据是 214 GB，比 reactive 全量的 140 GB 还多。</a:t>
            </a:r>
            <a:endParaRPr sz="1030" b="0">
              <a:solidFill>
                <a:srgbClr val="1B1B19"/>
              </a:solidFill>
              <a:latin typeface="微软雅黑" panose="020B0503020204020204" charset="-122"/>
              <a:ea typeface="微软雅黑" panose="020B0503020204020204" charset="-122"/>
              <a:cs typeface="微软雅黑" panose="020B0503020204020204" charset="-122"/>
            </a:endParaRPr>
          </a:p>
          <a:p>
            <a:endParaRPr sz="1030"/>
          </a:p>
          <a:p>
            <a:pPr algn="l">
              <a:lnSpc>
                <a:spcPct val="138000"/>
              </a:lnSpc>
              <a:buNone/>
              <a:defRPr sz="1030" b="0">
                <a:solidFill>
                  <a:srgbClr val="1B1B19"/>
                </a:solidFill>
                <a:latin typeface="微软雅黑" panose="020B0503020204020204" charset="-122"/>
                <a:ea typeface="微软雅黑" panose="020B0503020204020204" charset="-122"/>
                <a:cs typeface="微软雅黑" panose="020B0503020204020204" charset="-122"/>
              </a:defRPr>
            </a:pPr>
            <a:r>
              <a:rPr sz="1030" b="0">
                <a:solidFill>
                  <a:srgbClr val="1B1B19"/>
                </a:solidFill>
                <a:latin typeface="微软雅黑" panose="020B0503020204020204" charset="-122"/>
                <a:ea typeface="微软雅黑" panose="020B0503020204020204" charset="-122"/>
                <a:cs typeface="微软雅黑" panose="020B0503020204020204" charset="-122"/>
              </a:rPr>
              <a:t>提前搬确实把中断从 39.0% 降到 9.8%，但付出了更高的字节成本。</a:t>
            </a:r>
            <a:endParaRPr sz="1030" b="0">
              <a:solidFill>
                <a:srgbClr val="1B1B19"/>
              </a:solidFill>
              <a:latin typeface="微软雅黑" panose="020B0503020204020204" charset="-122"/>
              <a:ea typeface="微软雅黑" panose="020B0503020204020204" charset="-122"/>
              <a:cs typeface="微软雅黑" panose="020B0503020204020204" charset="-122"/>
            </a:endParaRPr>
          </a:p>
          <a:p>
            <a:endParaRPr sz="1030"/>
          </a:p>
          <a:p>
            <a:pPr algn="l">
              <a:lnSpc>
                <a:spcPct val="138000"/>
              </a:lnSpc>
              <a:buNone/>
              <a:defRPr sz="1030" b="0">
                <a:solidFill>
                  <a:srgbClr val="1B1B19"/>
                </a:solidFill>
                <a:latin typeface="微软雅黑" panose="020B0503020204020204" charset="-122"/>
                <a:ea typeface="微软雅黑" panose="020B0503020204020204" charset="-122"/>
                <a:cs typeface="微软雅黑" panose="020B0503020204020204" charset="-122"/>
              </a:defRPr>
            </a:pPr>
            <a:r>
              <a:rPr sz="1030" b="0">
                <a:solidFill>
                  <a:srgbClr val="1B1B19"/>
                </a:solidFill>
                <a:latin typeface="微软雅黑" panose="020B0503020204020204" charset="-122"/>
                <a:ea typeface="微软雅黑" panose="020B0503020204020204" charset="-122"/>
                <a:cs typeface="微软雅黑" panose="020B0503020204020204" charset="-122"/>
              </a:rPr>
              <a:t>oracle 只能说明“如果完全猜对会怎样”，不能作为现实方案。</a:t>
            </a:r>
            <a:endParaRPr sz="1030"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685800" y="4895850"/>
            <a:ext cx="10820400" cy="495300"/>
          </a:xfrm>
          <a:prstGeom prst="rect">
            <a:avLst/>
          </a:prstGeom>
          <a:noFill/>
          <a:ln w="0">
            <a:noFill/>
            <a:prstDash val="solid"/>
          </a:ln>
        </p:spPr>
        <p:txBody>
          <a:bodyPr wrap="square" lIns="0" tIns="0" rIns="0" bIns="0" anchor="t">
            <a:noAutofit/>
          </a:bodyPr>
          <a:lstStyle>
            <a:defPPr algn="l">
              <a:defRPr sz="112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5000"/>
              </a:lnSpc>
              <a:buNone/>
              <a:defRPr sz="1125" b="0">
                <a:solidFill>
                  <a:srgbClr val="5F5F58"/>
                </a:solidFill>
                <a:latin typeface="微软雅黑" panose="020B0503020204020204" charset="-122"/>
                <a:ea typeface="微软雅黑" panose="020B0503020204020204" charset="-122"/>
                <a:cs typeface="微软雅黑" panose="020B0503020204020204" charset="-122"/>
              </a:defRPr>
            </a:pPr>
            <a:r>
              <a:rPr sz="1125" b="0">
                <a:solidFill>
                  <a:srgbClr val="5F5F58"/>
                </a:solidFill>
                <a:latin typeface="微软雅黑" panose="020B0503020204020204" charset="-122"/>
                <a:ea typeface="微软雅黑" panose="020B0503020204020204" charset="-122"/>
                <a:cs typeface="微软雅黑" panose="020B0503020204020204" charset="-122"/>
              </a:rPr>
              <a:t>所以必须同时报告中断、迁移字节和到达后滞后。只报中断，会把“频繁搬错再重搬”的方案说成成功。</a:t>
            </a:r>
            <a:endParaRPr sz="1125"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685800" y="5772150"/>
            <a:ext cx="10820400" cy="9525"/>
          </a:xfrm>
          <a:prstGeom prst="rect">
            <a:avLst/>
          </a:prstGeom>
          <a:solidFill>
            <a:srgbClr val="D9D9D1"/>
          </a:solidFill>
          <a:ln w="0">
            <a:noFill/>
            <a:prstDash val="solid"/>
          </a:ln>
        </p:spPr>
      </p:sp>
      <p:sp>
        <p:nvSpPr>
          <p:cNvPr id="10" name="矩形 9"/>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275" b="1">
                <a:solidFill>
                  <a:srgbClr val="0F5B5B"/>
                </a:solidFill>
                <a:latin typeface="微软雅黑" panose="020B0503020204020204" charset="-122"/>
                <a:ea typeface="微软雅黑" panose="020B0503020204020204" charset="-122"/>
                <a:cs typeface="微软雅黑" panose="020B0503020204020204" charset="-122"/>
              </a:rPr>
              <a:t>提前迁移（proactive）的价值取决于预测质量，必须在同样的中断目标下比较总字节。</a:t>
            </a:r>
            <a:endParaRPr sz="1275"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100" b="1">
                <a:solidFill>
                  <a:srgbClr val="1B1B19"/>
                </a:solidFill>
                <a:latin typeface="微软雅黑" panose="020B0503020204020204" charset="-122"/>
                <a:ea typeface="微软雅黑" panose="020B0503020204020204" charset="-122"/>
                <a:cs typeface="微软雅黑" panose="020B0503020204020204" charset="-122"/>
              </a:rPr>
              <a:t>降低迁移开销可以从四个层次下手</a:t>
            </a:r>
            <a:endParaRPr sz="21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sp>
        <p:nvSpPr>
          <p:cNvPr id="4" name="矩形 3"/>
          <p:cNvSpPr>
            <a:spLocks noGrp="1"/>
          </p:cNvSpPr>
          <p:nvPr/>
        </p:nvSpPr>
        <p:spPr>
          <a:xfrm>
            <a:off x="685800" y="1752600"/>
            <a:ext cx="1619250" cy="266700"/>
          </a:xfrm>
          <a:prstGeom prst="rect">
            <a:avLst/>
          </a:prstGeom>
          <a:noFill/>
          <a:ln w="0">
            <a:noFill/>
            <a:prstDash val="solid"/>
          </a:ln>
        </p:spPr>
        <p:txBody>
          <a:bodyPr wrap="square" lIns="0" tIns="0" rIns="0" bIns="0" anchor="t">
            <a:noAutofit/>
          </a:bodyPr>
          <a:lstStyle>
            <a:defPPr algn="l">
              <a:defRPr sz="135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50" b="1">
                <a:solidFill>
                  <a:srgbClr val="0F5B5B"/>
                </a:solidFill>
                <a:latin typeface="微软雅黑" panose="020B0503020204020204" charset="-122"/>
                <a:ea typeface="微软雅黑" panose="020B0503020204020204" charset="-122"/>
                <a:cs typeface="微软雅黑" panose="020B0503020204020204" charset="-122"/>
              </a:defRPr>
            </a:pPr>
            <a:r>
              <a:rPr sz="1350" b="1">
                <a:solidFill>
                  <a:srgbClr val="0F5B5B"/>
                </a:solidFill>
                <a:latin typeface="微软雅黑" panose="020B0503020204020204" charset="-122"/>
                <a:ea typeface="微软雅黑" panose="020B0503020204020204" charset="-122"/>
                <a:cs typeface="微软雅黑" panose="020B0503020204020204" charset="-122"/>
              </a:rPr>
              <a:t>1  决策层</a:t>
            </a:r>
            <a:endParaRPr sz="135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400300" y="1771650"/>
            <a:ext cx="2495550" cy="476250"/>
          </a:xfrm>
          <a:prstGeom prst="rect">
            <a:avLst/>
          </a:prstGeom>
          <a:noFill/>
          <a:ln w="0">
            <a:noFill/>
            <a:prstDash val="solid"/>
          </a:ln>
        </p:spPr>
        <p:txBody>
          <a:bodyPr wrap="square" lIns="0" tIns="0" rIns="0" bIns="0" anchor="t">
            <a:noAutofit/>
          </a:bodyPr>
          <a:lstStyle>
            <a:defPPr algn="l">
              <a:defRPr sz="109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90" b="0">
                <a:solidFill>
                  <a:srgbClr val="1B1B19"/>
                </a:solidFill>
                <a:latin typeface="微软雅黑" panose="020B0503020204020204" charset="-122"/>
                <a:ea typeface="微软雅黑" panose="020B0503020204020204" charset="-122"/>
                <a:cs typeface="微软雅黑" panose="020B0503020204020204" charset="-122"/>
              </a:defRPr>
            </a:pPr>
            <a:r>
              <a:rPr sz="1090" b="0">
                <a:solidFill>
                  <a:srgbClr val="1B1B19"/>
                </a:solidFill>
                <a:latin typeface="微软雅黑" panose="020B0503020204020204" charset="-122"/>
                <a:ea typeface="微软雅黑" panose="020B0503020204020204" charset="-122"/>
                <a:cs typeface="微软雅黑" panose="020B0503020204020204" charset="-122"/>
              </a:rPr>
              <a:t>何时迁、迁哪个服务</a:t>
            </a:r>
            <a:endParaRPr sz="1090"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5048250" y="1771650"/>
            <a:ext cx="3714750" cy="476250"/>
          </a:xfrm>
          <a:prstGeom prst="rect">
            <a:avLst/>
          </a:prstGeom>
          <a:noFill/>
          <a:ln w="0">
            <a:noFill/>
            <a:prstDash val="solid"/>
          </a:ln>
        </p:spPr>
        <p:txBody>
          <a:bodyPr wrap="square" lIns="0" tIns="0" rIns="0" bIns="0" anchor="t">
            <a:noAutofit/>
          </a:bodyPr>
          <a:lstStyle>
            <a:defPPr algn="l">
              <a:defRPr sz="105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50" b="0">
                <a:solidFill>
                  <a:srgbClr val="1B1B19"/>
                </a:solidFill>
                <a:latin typeface="微软雅黑" panose="020B0503020204020204" charset="-122"/>
                <a:ea typeface="微软雅黑" panose="020B0503020204020204" charset="-122"/>
                <a:cs typeface="微软雅黑" panose="020B0503020204020204" charset="-122"/>
              </a:defRPr>
            </a:pPr>
            <a:r>
              <a:rPr sz="1050" b="0">
                <a:solidFill>
                  <a:srgbClr val="1B1B19"/>
                </a:solidFill>
                <a:latin typeface="微软雅黑" panose="020B0503020204020204" charset="-122"/>
                <a:ea typeface="微软雅黑" panose="020B0503020204020204" charset="-122"/>
                <a:cs typeface="微软雅黑" panose="020B0503020204020204" charset="-122"/>
              </a:rPr>
              <a:t>小状态服务可远程访问；大状态服务优先迁移。</a:t>
            </a:r>
            <a:endParaRPr sz="1050"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8953500" y="1771650"/>
            <a:ext cx="2552700" cy="476250"/>
          </a:xfrm>
          <a:prstGeom prst="rect">
            <a:avLst/>
          </a:prstGeom>
          <a:noFill/>
          <a:ln w="0">
            <a:noFill/>
            <a:prstDash val="solid"/>
          </a:ln>
        </p:spPr>
        <p:txBody>
          <a:bodyPr wrap="square" lIns="0" tIns="0" rIns="0" bIns="0" anchor="t">
            <a:noAutofit/>
          </a:bodyPr>
          <a:lstStyle>
            <a:defPPr algn="l">
              <a:defRPr sz="95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955" b="0">
                <a:solidFill>
                  <a:srgbClr val="5F5F58"/>
                </a:solidFill>
                <a:latin typeface="微软雅黑" panose="020B0503020204020204" charset="-122"/>
                <a:ea typeface="微软雅黑" panose="020B0503020204020204" charset="-122"/>
                <a:cs typeface="微软雅黑" panose="020B0503020204020204" charset="-122"/>
              </a:defRPr>
            </a:pPr>
            <a:r>
              <a:rPr sz="955" b="0">
                <a:solidFill>
                  <a:srgbClr val="5F5F58"/>
                </a:solidFill>
                <a:latin typeface="微软雅黑" panose="020B0503020204020204" charset="-122"/>
                <a:ea typeface="微软雅黑" panose="020B0503020204020204" charset="-122"/>
                <a:cs typeface="微软雅黑" panose="020B0503020204020204" charset="-122"/>
              </a:rPr>
              <a:t>风险：延迟和一致性要求不同。</a:t>
            </a:r>
            <a:endParaRPr sz="955"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685800" y="2362200"/>
            <a:ext cx="10820400" cy="9525"/>
          </a:xfrm>
          <a:prstGeom prst="rect">
            <a:avLst/>
          </a:prstGeom>
          <a:solidFill>
            <a:srgbClr val="D9D9D1"/>
          </a:solidFill>
          <a:ln w="0">
            <a:noFill/>
            <a:prstDash val="solid"/>
          </a:ln>
        </p:spPr>
      </p:sp>
      <p:sp>
        <p:nvSpPr>
          <p:cNvPr id="9" name="矩形 8"/>
          <p:cNvSpPr>
            <a:spLocks noGrp="1"/>
          </p:cNvSpPr>
          <p:nvPr/>
        </p:nvSpPr>
        <p:spPr>
          <a:xfrm>
            <a:off x="685800" y="2647950"/>
            <a:ext cx="1619250" cy="266700"/>
          </a:xfrm>
          <a:prstGeom prst="rect">
            <a:avLst/>
          </a:prstGeom>
          <a:noFill/>
          <a:ln w="0">
            <a:noFill/>
            <a:prstDash val="solid"/>
          </a:ln>
        </p:spPr>
        <p:txBody>
          <a:bodyPr wrap="square" lIns="0" tIns="0" rIns="0" bIns="0" anchor="t">
            <a:noAutofit/>
          </a:bodyPr>
          <a:lstStyle>
            <a:defPPr algn="l">
              <a:defRPr sz="1350" b="1">
                <a:solidFill>
                  <a:srgbClr val="A56A00"/>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50" b="1">
                <a:solidFill>
                  <a:srgbClr val="A56A00"/>
                </a:solidFill>
                <a:latin typeface="微软雅黑" panose="020B0503020204020204" charset="-122"/>
                <a:ea typeface="微软雅黑" panose="020B0503020204020204" charset="-122"/>
                <a:cs typeface="微软雅黑" panose="020B0503020204020204" charset="-122"/>
              </a:defRPr>
            </a:pPr>
            <a:r>
              <a:rPr sz="1350" b="1">
                <a:solidFill>
                  <a:srgbClr val="A56A00"/>
                </a:solidFill>
                <a:latin typeface="微软雅黑" panose="020B0503020204020204" charset="-122"/>
                <a:ea typeface="微软雅黑" panose="020B0503020204020204" charset="-122"/>
                <a:cs typeface="微软雅黑" panose="020B0503020204020204" charset="-122"/>
              </a:rPr>
              <a:t>2  放置层</a:t>
            </a:r>
            <a:endParaRPr sz="1350" b="1">
              <a:solidFill>
                <a:srgbClr val="A56A00"/>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2400300" y="2667000"/>
            <a:ext cx="2495550" cy="476250"/>
          </a:xfrm>
          <a:prstGeom prst="rect">
            <a:avLst/>
          </a:prstGeom>
          <a:noFill/>
          <a:ln w="0">
            <a:noFill/>
            <a:prstDash val="solid"/>
          </a:ln>
        </p:spPr>
        <p:txBody>
          <a:bodyPr wrap="square" lIns="0" tIns="0" rIns="0" bIns="0" anchor="t">
            <a:noAutofit/>
          </a:bodyPr>
          <a:lstStyle>
            <a:defPPr algn="l">
              <a:defRPr sz="109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90" b="0">
                <a:solidFill>
                  <a:srgbClr val="1B1B19"/>
                </a:solidFill>
                <a:latin typeface="微软雅黑" panose="020B0503020204020204" charset="-122"/>
                <a:ea typeface="微软雅黑" panose="020B0503020204020204" charset="-122"/>
                <a:cs typeface="微软雅黑" panose="020B0503020204020204" charset="-122"/>
              </a:defRPr>
            </a:pPr>
            <a:r>
              <a:rPr sz="1090" b="0">
                <a:solidFill>
                  <a:srgbClr val="1B1B19"/>
                </a:solidFill>
                <a:latin typeface="微软雅黑" panose="020B0503020204020204" charset="-122"/>
                <a:ea typeface="微软雅黑" panose="020B0503020204020204" charset="-122"/>
                <a:cs typeface="微软雅黑" panose="020B0503020204020204" charset="-122"/>
              </a:rPr>
              <a:t>哪些节点提前保存 base</a:t>
            </a:r>
            <a:endParaRPr sz="1090"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5048250" y="2667000"/>
            <a:ext cx="3714750" cy="476250"/>
          </a:xfrm>
          <a:prstGeom prst="rect">
            <a:avLst/>
          </a:prstGeom>
          <a:noFill/>
          <a:ln w="0">
            <a:noFill/>
            <a:prstDash val="solid"/>
          </a:ln>
        </p:spPr>
        <p:txBody>
          <a:bodyPr wrap="square" lIns="0" tIns="0" rIns="0" bIns="0" anchor="t">
            <a:noAutofit/>
          </a:bodyPr>
          <a:lstStyle>
            <a:defPPr algn="l">
              <a:defRPr sz="105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50" b="0">
                <a:solidFill>
                  <a:srgbClr val="1B1B19"/>
                </a:solidFill>
                <a:latin typeface="微软雅黑" panose="020B0503020204020204" charset="-122"/>
                <a:ea typeface="微软雅黑" panose="020B0503020204020204" charset="-122"/>
                <a:cs typeface="微软雅黑" panose="020B0503020204020204" charset="-122"/>
              </a:defRPr>
            </a:pPr>
            <a:r>
              <a:rPr sz="1050" b="0">
                <a:solidFill>
                  <a:srgbClr val="1B1B19"/>
                </a:solidFill>
                <a:latin typeface="微软雅黑" panose="020B0503020204020204" charset="-122"/>
                <a:ea typeface="微软雅黑" panose="020B0503020204020204" charset="-122"/>
                <a:cs typeface="微软雅黑" panose="020B0503020204020204" charset="-122"/>
              </a:rPr>
              <a:t>沿常见路线预热快照和镜像，提高 base 命中率。</a:t>
            </a:r>
            <a:endParaRPr sz="1050"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953500" y="2667000"/>
            <a:ext cx="2552700" cy="476250"/>
          </a:xfrm>
          <a:prstGeom prst="rect">
            <a:avLst/>
          </a:prstGeom>
          <a:noFill/>
          <a:ln w="0">
            <a:noFill/>
            <a:prstDash val="solid"/>
          </a:ln>
        </p:spPr>
        <p:txBody>
          <a:bodyPr wrap="square" lIns="0" tIns="0" rIns="0" bIns="0" anchor="t">
            <a:noAutofit/>
          </a:bodyPr>
          <a:lstStyle>
            <a:defPPr algn="l">
              <a:defRPr sz="95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955" b="0">
                <a:solidFill>
                  <a:srgbClr val="5F5F58"/>
                </a:solidFill>
                <a:latin typeface="微软雅黑" panose="020B0503020204020204" charset="-122"/>
                <a:ea typeface="微软雅黑" panose="020B0503020204020204" charset="-122"/>
                <a:cs typeface="微软雅黑" panose="020B0503020204020204" charset="-122"/>
              </a:defRPr>
            </a:pPr>
            <a:r>
              <a:rPr sz="955" b="0">
                <a:solidFill>
                  <a:srgbClr val="5F5F58"/>
                </a:solidFill>
                <a:latin typeface="微软雅黑" panose="020B0503020204020204" charset="-122"/>
                <a:ea typeface="微软雅黑" panose="020B0503020204020204" charset="-122"/>
                <a:cs typeface="微软雅黑" panose="020B0503020204020204" charset="-122"/>
              </a:rPr>
              <a:t>风险：维护流量和存储占用增加。</a:t>
            </a:r>
            <a:endParaRPr sz="955"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685800" y="3257550"/>
            <a:ext cx="10820400" cy="9525"/>
          </a:xfrm>
          <a:prstGeom prst="rect">
            <a:avLst/>
          </a:prstGeom>
          <a:solidFill>
            <a:srgbClr val="D9D9D1"/>
          </a:solidFill>
          <a:ln w="0">
            <a:noFill/>
            <a:prstDash val="solid"/>
          </a:ln>
        </p:spPr>
      </p:sp>
      <p:sp>
        <p:nvSpPr>
          <p:cNvPr id="14" name="矩形 13"/>
          <p:cNvSpPr>
            <a:spLocks noGrp="1"/>
          </p:cNvSpPr>
          <p:nvPr/>
        </p:nvSpPr>
        <p:spPr>
          <a:xfrm>
            <a:off x="685800" y="3543300"/>
            <a:ext cx="1619250" cy="266700"/>
          </a:xfrm>
          <a:prstGeom prst="rect">
            <a:avLst/>
          </a:prstGeom>
          <a:noFill/>
          <a:ln w="0">
            <a:noFill/>
            <a:prstDash val="solid"/>
          </a:ln>
        </p:spPr>
        <p:txBody>
          <a:bodyPr wrap="square" lIns="0" tIns="0" rIns="0" bIns="0" anchor="t">
            <a:noAutofit/>
          </a:bodyPr>
          <a:lstStyle>
            <a:defPPr algn="l">
              <a:defRPr sz="1350" b="1">
                <a:solidFill>
                  <a:srgbClr val="B84A24"/>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50" b="1">
                <a:solidFill>
                  <a:srgbClr val="B84A24"/>
                </a:solidFill>
                <a:latin typeface="微软雅黑" panose="020B0503020204020204" charset="-122"/>
                <a:ea typeface="微软雅黑" panose="020B0503020204020204" charset="-122"/>
                <a:cs typeface="微软雅黑" panose="020B0503020204020204" charset="-122"/>
              </a:defRPr>
            </a:pPr>
            <a:r>
              <a:rPr sz="1350" b="1">
                <a:solidFill>
                  <a:srgbClr val="B84A24"/>
                </a:solidFill>
                <a:latin typeface="微软雅黑" panose="020B0503020204020204" charset="-122"/>
                <a:ea typeface="微软雅黑" panose="020B0503020204020204" charset="-122"/>
                <a:cs typeface="微软雅黑" panose="020B0503020204020204" charset="-122"/>
              </a:rPr>
              <a:t>3  传输层</a:t>
            </a:r>
            <a:endParaRPr sz="1350" b="1">
              <a:solidFill>
                <a:srgbClr val="B84A24"/>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2400300" y="3562350"/>
            <a:ext cx="2495550" cy="476250"/>
          </a:xfrm>
          <a:prstGeom prst="rect">
            <a:avLst/>
          </a:prstGeom>
          <a:noFill/>
          <a:ln w="0">
            <a:noFill/>
            <a:prstDash val="solid"/>
          </a:ln>
        </p:spPr>
        <p:txBody>
          <a:bodyPr wrap="square" lIns="0" tIns="0" rIns="0" bIns="0" anchor="t">
            <a:noAutofit/>
          </a:bodyPr>
          <a:lstStyle>
            <a:defPPr algn="l">
              <a:defRPr sz="109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90" b="0">
                <a:solidFill>
                  <a:srgbClr val="1B1B19"/>
                </a:solidFill>
                <a:latin typeface="微软雅黑" panose="020B0503020204020204" charset="-122"/>
                <a:ea typeface="微软雅黑" panose="020B0503020204020204" charset="-122"/>
                <a:cs typeface="微软雅黑" panose="020B0503020204020204" charset="-122"/>
              </a:defRPr>
            </a:pPr>
            <a:r>
              <a:rPr sz="1090" b="0">
                <a:solidFill>
                  <a:srgbClr val="1B1B19"/>
                </a:solidFill>
                <a:latin typeface="微软雅黑" panose="020B0503020204020204" charset="-122"/>
                <a:ea typeface="微软雅黑" panose="020B0503020204020204" charset="-122"/>
                <a:cs typeface="微软雅黑" panose="020B0503020204020204" charset="-122"/>
              </a:rPr>
              <a:t>一次迁移怎样搬得更少</a:t>
            </a:r>
            <a:endParaRPr sz="1090"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5048250" y="3562350"/>
            <a:ext cx="3714750" cy="476250"/>
          </a:xfrm>
          <a:prstGeom prst="rect">
            <a:avLst/>
          </a:prstGeom>
          <a:noFill/>
          <a:ln w="0">
            <a:noFill/>
            <a:prstDash val="solid"/>
          </a:ln>
        </p:spPr>
        <p:txBody>
          <a:bodyPr wrap="square" lIns="0" tIns="0" rIns="0" bIns="0" anchor="t">
            <a:noAutofit/>
          </a:bodyPr>
          <a:lstStyle>
            <a:defPPr algn="l">
              <a:defRPr sz="105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50" b="0">
                <a:solidFill>
                  <a:srgbClr val="1B1B19"/>
                </a:solidFill>
                <a:latin typeface="微软雅黑" panose="020B0503020204020204" charset="-122"/>
                <a:ea typeface="微软雅黑" panose="020B0503020204020204" charset="-122"/>
                <a:cs typeface="微软雅黑" panose="020B0503020204020204" charset="-122"/>
              </a:defRPr>
            </a:pPr>
            <a:r>
              <a:rPr sz="1050" b="0">
                <a:solidFill>
                  <a:srgbClr val="1B1B19"/>
                </a:solidFill>
                <a:latin typeface="微软雅黑" panose="020B0503020204020204" charset="-122"/>
                <a:ea typeface="微软雅黑" panose="020B0503020204020204" charset="-122"/>
                <a:cs typeface="微软雅黑" panose="020B0503020204020204" charset="-122"/>
              </a:rPr>
              <a:t>分块增量、压缩、去重、共享区域模型。</a:t>
            </a:r>
            <a:endParaRPr sz="1050"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8953500" y="3562350"/>
            <a:ext cx="2552700" cy="476250"/>
          </a:xfrm>
          <a:prstGeom prst="rect">
            <a:avLst/>
          </a:prstGeom>
          <a:noFill/>
          <a:ln w="0">
            <a:noFill/>
            <a:prstDash val="solid"/>
          </a:ln>
        </p:spPr>
        <p:txBody>
          <a:bodyPr wrap="square" lIns="0" tIns="0" rIns="0" bIns="0" anchor="t">
            <a:noAutofit/>
          </a:bodyPr>
          <a:lstStyle>
            <a:defPPr algn="l">
              <a:defRPr sz="95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955" b="0">
                <a:solidFill>
                  <a:srgbClr val="5F5F58"/>
                </a:solidFill>
                <a:latin typeface="微软雅黑" panose="020B0503020204020204" charset="-122"/>
                <a:ea typeface="微软雅黑" panose="020B0503020204020204" charset="-122"/>
                <a:cs typeface="微软雅黑" panose="020B0503020204020204" charset="-122"/>
              </a:defRPr>
            </a:pPr>
            <a:r>
              <a:rPr sz="955" b="0">
                <a:solidFill>
                  <a:srgbClr val="5F5F58"/>
                </a:solidFill>
                <a:latin typeface="微软雅黑" panose="020B0503020204020204" charset="-122"/>
                <a:ea typeface="微软雅黑" panose="020B0503020204020204" charset="-122"/>
                <a:cs typeface="微软雅黑" panose="020B0503020204020204" charset="-122"/>
              </a:rPr>
              <a:t>风险：CPU、兼容性、冷目标回退。</a:t>
            </a:r>
            <a:endParaRPr sz="955"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685800" y="4152900"/>
            <a:ext cx="10820400" cy="9525"/>
          </a:xfrm>
          <a:prstGeom prst="rect">
            <a:avLst/>
          </a:prstGeom>
          <a:solidFill>
            <a:srgbClr val="D9D9D1"/>
          </a:solidFill>
          <a:ln w="0">
            <a:noFill/>
            <a:prstDash val="solid"/>
          </a:ln>
        </p:spPr>
      </p:sp>
      <p:sp>
        <p:nvSpPr>
          <p:cNvPr id="19" name="矩形 18"/>
          <p:cNvSpPr>
            <a:spLocks noGrp="1"/>
          </p:cNvSpPr>
          <p:nvPr/>
        </p:nvSpPr>
        <p:spPr>
          <a:xfrm>
            <a:off x="685800" y="4438650"/>
            <a:ext cx="1619250" cy="266700"/>
          </a:xfrm>
          <a:prstGeom prst="rect">
            <a:avLst/>
          </a:prstGeom>
          <a:noFill/>
          <a:ln w="0">
            <a:noFill/>
            <a:prstDash val="solid"/>
          </a:ln>
        </p:spPr>
        <p:txBody>
          <a:bodyPr wrap="square" lIns="0" tIns="0" rIns="0" bIns="0" anchor="t">
            <a:noAutofit/>
          </a:bodyPr>
          <a:lstStyle>
            <a:defPPr algn="l">
              <a:defRPr sz="1350" b="1">
                <a:solidFill>
                  <a:srgbClr val="54724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50" b="1">
                <a:solidFill>
                  <a:srgbClr val="547248"/>
                </a:solidFill>
                <a:latin typeface="微软雅黑" panose="020B0503020204020204" charset="-122"/>
                <a:ea typeface="微软雅黑" panose="020B0503020204020204" charset="-122"/>
                <a:cs typeface="微软雅黑" panose="020B0503020204020204" charset="-122"/>
              </a:defRPr>
            </a:pPr>
            <a:r>
              <a:rPr sz="1350" b="1">
                <a:solidFill>
                  <a:srgbClr val="547248"/>
                </a:solidFill>
                <a:latin typeface="微软雅黑" panose="020B0503020204020204" charset="-122"/>
                <a:ea typeface="微软雅黑" panose="020B0503020204020204" charset="-122"/>
                <a:cs typeface="微软雅黑" panose="020B0503020204020204" charset="-122"/>
              </a:rPr>
              <a:t>4  恢复层</a:t>
            </a:r>
            <a:endParaRPr sz="1350" b="1">
              <a:solidFill>
                <a:srgbClr val="547248"/>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2400300" y="4457700"/>
            <a:ext cx="2495550" cy="476250"/>
          </a:xfrm>
          <a:prstGeom prst="rect">
            <a:avLst/>
          </a:prstGeom>
          <a:noFill/>
          <a:ln w="0">
            <a:noFill/>
            <a:prstDash val="solid"/>
          </a:ln>
        </p:spPr>
        <p:txBody>
          <a:bodyPr wrap="square" lIns="0" tIns="0" rIns="0" bIns="0" anchor="t">
            <a:noAutofit/>
          </a:bodyPr>
          <a:lstStyle>
            <a:defPPr algn="l">
              <a:defRPr sz="109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90" b="0">
                <a:solidFill>
                  <a:srgbClr val="1B1B19"/>
                </a:solidFill>
                <a:latin typeface="微软雅黑" panose="020B0503020204020204" charset="-122"/>
                <a:ea typeface="微软雅黑" panose="020B0503020204020204" charset="-122"/>
                <a:cs typeface="微软雅黑" panose="020B0503020204020204" charset="-122"/>
              </a:defRPr>
            </a:pPr>
            <a:r>
              <a:rPr sz="1090" b="0">
                <a:solidFill>
                  <a:srgbClr val="1B1B19"/>
                </a:solidFill>
                <a:latin typeface="微软雅黑" panose="020B0503020204020204" charset="-122"/>
                <a:ea typeface="微软雅黑" panose="020B0503020204020204" charset="-122"/>
                <a:cs typeface="微软雅黑" panose="020B0503020204020204" charset="-122"/>
              </a:rPr>
              <a:t>到了以后怎样更快可用</a:t>
            </a:r>
            <a:endParaRPr sz="1090"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5048250" y="4457700"/>
            <a:ext cx="3714750" cy="476250"/>
          </a:xfrm>
          <a:prstGeom prst="rect">
            <a:avLst/>
          </a:prstGeom>
          <a:noFill/>
          <a:ln w="0">
            <a:noFill/>
            <a:prstDash val="solid"/>
          </a:ln>
        </p:spPr>
        <p:txBody>
          <a:bodyPr wrap="square" lIns="0" tIns="0" rIns="0" bIns="0" anchor="t">
            <a:noAutofit/>
          </a:bodyPr>
          <a:lstStyle>
            <a:defPPr algn="l">
              <a:defRPr sz="105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50" b="0">
                <a:solidFill>
                  <a:srgbClr val="1B1B19"/>
                </a:solidFill>
                <a:latin typeface="微软雅黑" panose="020B0503020204020204" charset="-122"/>
                <a:ea typeface="微软雅黑" panose="020B0503020204020204" charset="-122"/>
                <a:cs typeface="微软雅黑" panose="020B0503020204020204" charset="-122"/>
              </a:defRPr>
            </a:pPr>
            <a:r>
              <a:rPr sz="1050" b="0">
                <a:solidFill>
                  <a:srgbClr val="1B1B19"/>
                </a:solidFill>
                <a:latin typeface="微软雅黑" panose="020B0503020204020204" charset="-122"/>
                <a:ea typeface="微软雅黑" panose="020B0503020204020204" charset="-122"/>
                <a:cs typeface="微软雅黑" panose="020B0503020204020204" charset="-122"/>
              </a:rPr>
              <a:t>镜像预热、并行拉层、状态应用加速。</a:t>
            </a:r>
            <a:endParaRPr sz="1050"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8953500" y="4457700"/>
            <a:ext cx="2552700" cy="476250"/>
          </a:xfrm>
          <a:prstGeom prst="rect">
            <a:avLst/>
          </a:prstGeom>
          <a:noFill/>
          <a:ln w="0">
            <a:noFill/>
            <a:prstDash val="solid"/>
          </a:ln>
        </p:spPr>
        <p:txBody>
          <a:bodyPr wrap="square" lIns="0" tIns="0" rIns="0" bIns="0" anchor="t">
            <a:noAutofit/>
          </a:bodyPr>
          <a:lstStyle>
            <a:defPPr algn="l">
              <a:defRPr sz="95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955" b="0">
                <a:solidFill>
                  <a:srgbClr val="5F5F58"/>
                </a:solidFill>
                <a:latin typeface="微软雅黑" panose="020B0503020204020204" charset="-122"/>
                <a:ea typeface="微软雅黑" panose="020B0503020204020204" charset="-122"/>
                <a:cs typeface="微软雅黑" panose="020B0503020204020204" charset="-122"/>
              </a:defRPr>
            </a:pPr>
            <a:r>
              <a:rPr sz="955" b="0">
                <a:solidFill>
                  <a:srgbClr val="5F5F58"/>
                </a:solidFill>
                <a:latin typeface="微软雅黑" panose="020B0503020204020204" charset="-122"/>
                <a:ea typeface="微软雅黑" panose="020B0503020204020204" charset="-122"/>
                <a:cs typeface="微软雅黑" panose="020B0503020204020204" charset="-122"/>
              </a:rPr>
              <a:t>风险：并发会争抢带宽和 CPU。</a:t>
            </a:r>
            <a:endParaRPr sz="955"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685800" y="5048250"/>
            <a:ext cx="10820400" cy="9525"/>
          </a:xfrm>
          <a:prstGeom prst="rect">
            <a:avLst/>
          </a:prstGeom>
          <a:solidFill>
            <a:srgbClr val="D9D9D1"/>
          </a:solidFill>
          <a:ln w="0">
            <a:noFill/>
            <a:prstDash val="solid"/>
          </a:ln>
        </p:spPr>
      </p:sp>
      <p:sp>
        <p:nvSpPr>
          <p:cNvPr id="24" name="矩形 23"/>
          <p:cNvSpPr>
            <a:spLocks noGrp="1"/>
          </p:cNvSpPr>
          <p:nvPr/>
        </p:nvSpPr>
        <p:spPr>
          <a:xfrm>
            <a:off x="685800" y="5295900"/>
            <a:ext cx="10820400" cy="304800"/>
          </a:xfrm>
          <a:prstGeom prst="rect">
            <a:avLst/>
          </a:prstGeom>
          <a:noFill/>
          <a:ln w="0">
            <a:noFill/>
            <a:prstDash val="solid"/>
          </a:ln>
        </p:spPr>
        <p:txBody>
          <a:bodyPr wrap="square" lIns="0" tIns="0" rIns="0" bIns="0" anchor="t">
            <a:noAutofit/>
          </a:bodyPr>
          <a:lstStyle>
            <a:defPPr algn="l">
              <a:defRPr sz="115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155" b="0">
                <a:solidFill>
                  <a:srgbClr val="5F5F58"/>
                </a:solidFill>
                <a:latin typeface="微软雅黑" panose="020B0503020204020204" charset="-122"/>
                <a:ea typeface="微软雅黑" panose="020B0503020204020204" charset="-122"/>
                <a:cs typeface="微软雅黑" panose="020B0503020204020204" charset="-122"/>
              </a:defRPr>
            </a:pPr>
            <a:r>
              <a:rPr sz="1155" b="0">
                <a:solidFill>
                  <a:srgbClr val="5F5F58"/>
                </a:solidFill>
                <a:latin typeface="微软雅黑" panose="020B0503020204020204" charset="-122"/>
                <a:ea typeface="微软雅黑" panose="020B0503020204020204" charset="-122"/>
                <a:cs typeface="微软雅黑" panose="020B0503020204020204" charset="-122"/>
              </a:rPr>
              <a:t>优先级建议：先量化“搬什么”，再做 base placement，最后决定是否需要更复杂的迁移策略。</a:t>
            </a:r>
            <a:endParaRPr sz="1155"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25" name="矩形 24"/>
          <p:cNvSpPr>
            <a:spLocks noGrp="1"/>
          </p:cNvSpPr>
          <p:nvPr/>
        </p:nvSpPr>
        <p:spPr>
          <a:xfrm>
            <a:off x="685800" y="5772150"/>
            <a:ext cx="10820400" cy="9525"/>
          </a:xfrm>
          <a:prstGeom prst="rect">
            <a:avLst/>
          </a:prstGeom>
          <a:solidFill>
            <a:srgbClr val="D9D9D1"/>
          </a:solidFill>
          <a:ln w="0">
            <a:noFill/>
            <a:prstDash val="solid"/>
          </a:ln>
        </p:spPr>
      </p:sp>
      <p:sp>
        <p:nvSpPr>
          <p:cNvPr id="26" name="矩形 25"/>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275" b="1">
                <a:solidFill>
                  <a:srgbClr val="0F5B5B"/>
                </a:solidFill>
                <a:latin typeface="微软雅黑" panose="020B0503020204020204" charset="-122"/>
                <a:ea typeface="微软雅黑" panose="020B0503020204020204" charset="-122"/>
                <a:cs typeface="微软雅黑" panose="020B0503020204020204" charset="-122"/>
              </a:rPr>
              <a:t>这四个层次共同决定中断和成本，不能用单一的“迁移算法更好”概括。</a:t>
            </a:r>
            <a:endParaRPr sz="1275"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100" b="1">
                <a:solidFill>
                  <a:srgbClr val="1B1B19"/>
                </a:solidFill>
                <a:latin typeface="微软雅黑" panose="020B0503020204020204" charset="-122"/>
                <a:ea typeface="微软雅黑" panose="020B0503020204020204" charset="-122"/>
                <a:cs typeface="微软雅黑" panose="020B0503020204020204" charset="-122"/>
              </a:rPr>
              <a:t>目前的实验支持四条判断</a:t>
            </a:r>
            <a:endParaRPr sz="21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sp>
        <p:nvSpPr>
          <p:cNvPr id="4" name="矩形 3"/>
          <p:cNvSpPr>
            <a:spLocks noGrp="1"/>
          </p:cNvSpPr>
          <p:nvPr/>
        </p:nvSpPr>
        <p:spPr>
          <a:xfrm>
            <a:off x="685800" y="1695450"/>
            <a:ext cx="533400" cy="342900"/>
          </a:xfrm>
          <a:prstGeom prst="rect">
            <a:avLst/>
          </a:prstGeom>
          <a:noFill/>
          <a:ln w="0">
            <a:noFill/>
            <a:prstDash val="solid"/>
          </a:ln>
        </p:spPr>
        <p:txBody>
          <a:bodyPr wrap="square" lIns="0" tIns="0" rIns="0" bIns="0" anchor="t">
            <a:noAutofit/>
          </a:bodyPr>
          <a:lstStyle>
            <a:defPPr algn="l">
              <a:defRPr sz="165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650" b="1">
                <a:solidFill>
                  <a:srgbClr val="0F5B5B"/>
                </a:solidFill>
                <a:latin typeface="微软雅黑" panose="020B0503020204020204" charset="-122"/>
                <a:ea typeface="微软雅黑" panose="020B0503020204020204" charset="-122"/>
                <a:cs typeface="微软雅黑" panose="020B0503020204020204" charset="-122"/>
              </a:defRPr>
            </a:pPr>
            <a:r>
              <a:rPr sz="1650" b="1">
                <a:solidFill>
                  <a:srgbClr val="0F5B5B"/>
                </a:solidFill>
                <a:latin typeface="微软雅黑" panose="020B0503020204020204" charset="-122"/>
                <a:ea typeface="微软雅黑" panose="020B0503020204020204" charset="-122"/>
                <a:cs typeface="微软雅黑" panose="020B0503020204020204" charset="-122"/>
              </a:rPr>
              <a:t>01</a:t>
            </a:r>
            <a:endParaRPr sz="165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409700" y="1695450"/>
            <a:ext cx="9906000" cy="266700"/>
          </a:xfrm>
          <a:prstGeom prst="rect">
            <a:avLst/>
          </a:prstGeom>
          <a:noFill/>
          <a:ln w="0">
            <a:noFill/>
            <a:prstDash val="solid"/>
          </a:ln>
        </p:spPr>
        <p:txBody>
          <a:bodyPr wrap="square" lIns="0" tIns="0" rIns="0" bIns="0" anchor="t">
            <a:noAutofit/>
          </a:bodyPr>
          <a:lstStyle>
            <a:defPPr algn="l">
              <a:defRPr sz="139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90" b="1">
                <a:solidFill>
                  <a:srgbClr val="1B1B19"/>
                </a:solidFill>
                <a:latin typeface="微软雅黑" panose="020B0503020204020204" charset="-122"/>
                <a:ea typeface="微软雅黑" panose="020B0503020204020204" charset="-122"/>
                <a:cs typeface="微软雅黑" panose="020B0503020204020204" charset="-122"/>
              </a:defRPr>
            </a:pPr>
            <a:r>
              <a:rPr sz="1390" b="1">
                <a:solidFill>
                  <a:srgbClr val="1B1B19"/>
                </a:solidFill>
                <a:latin typeface="微软雅黑" panose="020B0503020204020204" charset="-122"/>
                <a:ea typeface="微软雅黑" panose="020B0503020204020204" charset="-122"/>
                <a:cs typeface="微软雅黑" panose="020B0503020204020204" charset="-122"/>
              </a:rPr>
              <a:t>用户连续性必须有明确口径</a:t>
            </a:r>
            <a:endParaRPr sz="139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409700" y="2019300"/>
            <a:ext cx="9906000" cy="419100"/>
          </a:xfrm>
          <a:prstGeom prst="rect">
            <a:avLst/>
          </a:prstGeom>
          <a:noFill/>
          <a:ln w="0">
            <a:noFill/>
            <a:prstDash val="solid"/>
          </a:ln>
        </p:spPr>
        <p:txBody>
          <a:bodyPr wrap="square" lIns="0" tIns="0" rIns="0" bIns="0" anchor="t">
            <a:noAutofit/>
          </a:bodyPr>
          <a:lstStyle>
            <a:defPPr algn="l">
              <a:defRPr sz="107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5000"/>
              </a:lnSpc>
              <a:buNone/>
              <a:defRPr sz="1075" b="0">
                <a:solidFill>
                  <a:srgbClr val="5F5F58"/>
                </a:solidFill>
                <a:latin typeface="微软雅黑" panose="020B0503020204020204" charset="-122"/>
                <a:ea typeface="微软雅黑" panose="020B0503020204020204" charset="-122"/>
                <a:cs typeface="微软雅黑" panose="020B0503020204020204" charset="-122"/>
              </a:defRPr>
            </a:pPr>
            <a:r>
              <a:rPr sz="1075" b="0">
                <a:solidFill>
                  <a:srgbClr val="5F5F58"/>
                </a:solidFill>
                <a:latin typeface="微软雅黑" panose="020B0503020204020204" charset="-122"/>
                <a:ea typeface="微软雅黑" panose="020B0503020204020204" charset="-122"/>
                <a:cs typeface="微软雅黑" panose="020B0503020204020204" charset="-122"/>
              </a:rPr>
              <a:t>中断不是 handover 次数，而是用户无法获得服务的车辆秒占比。还要看切换前就绪和到达后滞后。</a:t>
            </a:r>
            <a:endParaRPr sz="1075"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85800" y="2571750"/>
            <a:ext cx="533400" cy="342900"/>
          </a:xfrm>
          <a:prstGeom prst="rect">
            <a:avLst/>
          </a:prstGeom>
          <a:noFill/>
          <a:ln w="0">
            <a:noFill/>
            <a:prstDash val="solid"/>
          </a:ln>
        </p:spPr>
        <p:txBody>
          <a:bodyPr wrap="square" lIns="0" tIns="0" rIns="0" bIns="0" anchor="t">
            <a:noAutofit/>
          </a:bodyPr>
          <a:lstStyle>
            <a:defPPr algn="l">
              <a:defRPr sz="165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650" b="1">
                <a:solidFill>
                  <a:srgbClr val="0F5B5B"/>
                </a:solidFill>
                <a:latin typeface="微软雅黑" panose="020B0503020204020204" charset="-122"/>
                <a:ea typeface="微软雅黑" panose="020B0503020204020204" charset="-122"/>
                <a:cs typeface="微软雅黑" panose="020B0503020204020204" charset="-122"/>
              </a:defRPr>
            </a:pPr>
            <a:r>
              <a:rPr sz="1650" b="1">
                <a:solidFill>
                  <a:srgbClr val="0F5B5B"/>
                </a:solidFill>
                <a:latin typeface="微软雅黑" panose="020B0503020204020204" charset="-122"/>
                <a:ea typeface="微软雅黑" panose="020B0503020204020204" charset="-122"/>
                <a:cs typeface="微软雅黑" panose="020B0503020204020204" charset="-122"/>
              </a:rPr>
              <a:t>02</a:t>
            </a:r>
            <a:endParaRPr sz="165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409700" y="2571750"/>
            <a:ext cx="9906000" cy="266700"/>
          </a:xfrm>
          <a:prstGeom prst="rect">
            <a:avLst/>
          </a:prstGeom>
          <a:noFill/>
          <a:ln w="0">
            <a:noFill/>
            <a:prstDash val="solid"/>
          </a:ln>
        </p:spPr>
        <p:txBody>
          <a:bodyPr wrap="square" lIns="0" tIns="0" rIns="0" bIns="0" anchor="t">
            <a:noAutofit/>
          </a:bodyPr>
          <a:lstStyle>
            <a:defPPr algn="l">
              <a:defRPr sz="139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90" b="1">
                <a:solidFill>
                  <a:srgbClr val="1B1B19"/>
                </a:solidFill>
                <a:latin typeface="微软雅黑" panose="020B0503020204020204" charset="-122"/>
                <a:ea typeface="微软雅黑" panose="020B0503020204020204" charset="-122"/>
                <a:cs typeface="微软雅黑" panose="020B0503020204020204" charset="-122"/>
              </a:defRPr>
            </a:pPr>
            <a:r>
              <a:rPr sz="1390" b="1">
                <a:solidFill>
                  <a:srgbClr val="1B1B19"/>
                </a:solidFill>
                <a:latin typeface="微软雅黑" panose="020B0503020204020204" charset="-122"/>
                <a:ea typeface="微软雅黑" panose="020B0503020204020204" charset="-122"/>
                <a:cs typeface="微软雅黑" panose="020B0503020204020204" charset="-122"/>
              </a:rPr>
              <a:t>迁移字节不是唯一开销</a:t>
            </a:r>
            <a:endParaRPr sz="139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1409700" y="2895600"/>
            <a:ext cx="9906000" cy="419100"/>
          </a:xfrm>
          <a:prstGeom prst="rect">
            <a:avLst/>
          </a:prstGeom>
          <a:noFill/>
          <a:ln w="0">
            <a:noFill/>
            <a:prstDash val="solid"/>
          </a:ln>
        </p:spPr>
        <p:txBody>
          <a:bodyPr wrap="square" lIns="0" tIns="0" rIns="0" bIns="0" anchor="t">
            <a:noAutofit/>
          </a:bodyPr>
          <a:lstStyle>
            <a:defPPr algn="l">
              <a:defRPr sz="107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5000"/>
              </a:lnSpc>
              <a:buNone/>
              <a:defRPr sz="1075" b="0">
                <a:solidFill>
                  <a:srgbClr val="5F5F58"/>
                </a:solidFill>
                <a:latin typeface="微软雅黑" panose="020B0503020204020204" charset="-122"/>
                <a:ea typeface="微软雅黑" panose="020B0503020204020204" charset="-122"/>
                <a:cs typeface="微软雅黑" panose="020B0503020204020204" charset="-122"/>
              </a:defRPr>
            </a:pPr>
            <a:r>
              <a:rPr sz="1075" b="0">
                <a:solidFill>
                  <a:srgbClr val="5F5F58"/>
                </a:solidFill>
                <a:latin typeface="微软雅黑" panose="020B0503020204020204" charset="-122"/>
                <a:ea typeface="微软雅黑" panose="020B0503020204020204" charset="-122"/>
                <a:cs typeface="微软雅黑" panose="020B0503020204020204" charset="-122"/>
              </a:rPr>
              <a:t>同一份状态，传得更久就会占用更多链路；恢复慢则会把中断继续拉长。</a:t>
            </a:r>
            <a:endParaRPr sz="1075"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685800" y="3448050"/>
            <a:ext cx="533400" cy="342900"/>
          </a:xfrm>
          <a:prstGeom prst="rect">
            <a:avLst/>
          </a:prstGeom>
          <a:noFill/>
          <a:ln w="0">
            <a:noFill/>
            <a:prstDash val="solid"/>
          </a:ln>
        </p:spPr>
        <p:txBody>
          <a:bodyPr wrap="square" lIns="0" tIns="0" rIns="0" bIns="0" anchor="t">
            <a:noAutofit/>
          </a:bodyPr>
          <a:lstStyle>
            <a:defPPr algn="l">
              <a:defRPr sz="165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650" b="1">
                <a:solidFill>
                  <a:srgbClr val="0F5B5B"/>
                </a:solidFill>
                <a:latin typeface="微软雅黑" panose="020B0503020204020204" charset="-122"/>
                <a:ea typeface="微软雅黑" panose="020B0503020204020204" charset="-122"/>
                <a:cs typeface="微软雅黑" panose="020B0503020204020204" charset="-122"/>
              </a:defRPr>
            </a:pPr>
            <a:r>
              <a:rPr sz="1650" b="1">
                <a:solidFill>
                  <a:srgbClr val="0F5B5B"/>
                </a:solidFill>
                <a:latin typeface="微软雅黑" panose="020B0503020204020204" charset="-122"/>
                <a:ea typeface="微软雅黑" panose="020B0503020204020204" charset="-122"/>
                <a:cs typeface="微软雅黑" panose="020B0503020204020204" charset="-122"/>
              </a:rPr>
              <a:t>03</a:t>
            </a:r>
            <a:endParaRPr sz="165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409700" y="3448050"/>
            <a:ext cx="9906000" cy="266700"/>
          </a:xfrm>
          <a:prstGeom prst="rect">
            <a:avLst/>
          </a:prstGeom>
          <a:noFill/>
          <a:ln w="0">
            <a:noFill/>
            <a:prstDash val="solid"/>
          </a:ln>
        </p:spPr>
        <p:txBody>
          <a:bodyPr wrap="square" lIns="0" tIns="0" rIns="0" bIns="0" anchor="t">
            <a:noAutofit/>
          </a:bodyPr>
          <a:lstStyle>
            <a:defPPr algn="l">
              <a:defRPr sz="139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90" b="1">
                <a:solidFill>
                  <a:srgbClr val="1B1B19"/>
                </a:solidFill>
                <a:latin typeface="微软雅黑" panose="020B0503020204020204" charset="-122"/>
                <a:ea typeface="微软雅黑" panose="020B0503020204020204" charset="-122"/>
                <a:cs typeface="微软雅黑" panose="020B0503020204020204" charset="-122"/>
              </a:defRPr>
            </a:pPr>
            <a:r>
              <a:rPr sz="1390" b="1">
                <a:solidFill>
                  <a:srgbClr val="1B1B19"/>
                </a:solidFill>
                <a:latin typeface="微软雅黑" panose="020B0503020204020204" charset="-122"/>
                <a:ea typeface="微软雅黑" panose="020B0503020204020204" charset="-122"/>
                <a:cs typeface="微软雅黑" panose="020B0503020204020204" charset="-122"/>
              </a:rPr>
              <a:t>增量的上限由 base locality 决定</a:t>
            </a:r>
            <a:endParaRPr sz="139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409700" y="3771900"/>
            <a:ext cx="9906000" cy="419100"/>
          </a:xfrm>
          <a:prstGeom prst="rect">
            <a:avLst/>
          </a:prstGeom>
          <a:noFill/>
          <a:ln w="0">
            <a:noFill/>
            <a:prstDash val="solid"/>
          </a:ln>
        </p:spPr>
        <p:txBody>
          <a:bodyPr wrap="square" lIns="0" tIns="0" rIns="0" bIns="0" anchor="t">
            <a:noAutofit/>
          </a:bodyPr>
          <a:lstStyle>
            <a:defPPr algn="l">
              <a:defRPr sz="107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5000"/>
              </a:lnSpc>
              <a:buNone/>
              <a:defRPr sz="1075" b="0">
                <a:solidFill>
                  <a:srgbClr val="5F5F58"/>
                </a:solidFill>
                <a:latin typeface="微软雅黑" panose="020B0503020204020204" charset="-122"/>
                <a:ea typeface="微软雅黑" panose="020B0503020204020204" charset="-122"/>
                <a:cs typeface="微软雅黑" panose="020B0503020204020204" charset="-122"/>
              </a:defRPr>
            </a:pPr>
            <a:r>
              <a:rPr sz="1075" b="0">
                <a:solidFill>
                  <a:srgbClr val="5F5F58"/>
                </a:solidFill>
                <a:latin typeface="微软雅黑" panose="020B0503020204020204" charset="-122"/>
                <a:ea typeface="微软雅黑" panose="020B0503020204020204" charset="-122"/>
                <a:cs typeface="微软雅黑" panose="020B0503020204020204" charset="-122"/>
              </a:rPr>
              <a:t>DATA7 冷目标 17%，增量省 74%；合成数据冷目标 93%，只省 2.4%。</a:t>
            </a:r>
            <a:endParaRPr sz="1075"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685800" y="4324350"/>
            <a:ext cx="533400" cy="342900"/>
          </a:xfrm>
          <a:prstGeom prst="rect">
            <a:avLst/>
          </a:prstGeom>
          <a:noFill/>
          <a:ln w="0">
            <a:noFill/>
            <a:prstDash val="solid"/>
          </a:ln>
        </p:spPr>
        <p:txBody>
          <a:bodyPr wrap="square" lIns="0" tIns="0" rIns="0" bIns="0" anchor="t">
            <a:noAutofit/>
          </a:bodyPr>
          <a:lstStyle>
            <a:defPPr algn="l">
              <a:defRPr sz="165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650" b="1">
                <a:solidFill>
                  <a:srgbClr val="0F5B5B"/>
                </a:solidFill>
                <a:latin typeface="微软雅黑" panose="020B0503020204020204" charset="-122"/>
                <a:ea typeface="微软雅黑" panose="020B0503020204020204" charset="-122"/>
                <a:cs typeface="微软雅黑" panose="020B0503020204020204" charset="-122"/>
              </a:defRPr>
            </a:pPr>
            <a:r>
              <a:rPr sz="1650" b="1">
                <a:solidFill>
                  <a:srgbClr val="0F5B5B"/>
                </a:solidFill>
                <a:latin typeface="微软雅黑" panose="020B0503020204020204" charset="-122"/>
                <a:ea typeface="微软雅黑" panose="020B0503020204020204" charset="-122"/>
                <a:cs typeface="微软雅黑" panose="020B0503020204020204" charset="-122"/>
              </a:rPr>
              <a:t>04</a:t>
            </a:r>
            <a:endParaRPr sz="165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409700" y="4324350"/>
            <a:ext cx="9906000" cy="266700"/>
          </a:xfrm>
          <a:prstGeom prst="rect">
            <a:avLst/>
          </a:prstGeom>
          <a:noFill/>
          <a:ln w="0">
            <a:noFill/>
            <a:prstDash val="solid"/>
          </a:ln>
        </p:spPr>
        <p:txBody>
          <a:bodyPr wrap="square" lIns="0" tIns="0" rIns="0" bIns="0" anchor="t">
            <a:noAutofit/>
          </a:bodyPr>
          <a:lstStyle>
            <a:defPPr algn="l">
              <a:defRPr sz="139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90" b="1">
                <a:solidFill>
                  <a:srgbClr val="1B1B19"/>
                </a:solidFill>
                <a:latin typeface="微软雅黑" panose="020B0503020204020204" charset="-122"/>
                <a:ea typeface="微软雅黑" panose="020B0503020204020204" charset="-122"/>
                <a:cs typeface="微软雅黑" panose="020B0503020204020204" charset="-122"/>
              </a:defRPr>
            </a:pPr>
            <a:r>
              <a:rPr sz="1390" b="1">
                <a:solidFill>
                  <a:srgbClr val="1B1B19"/>
                </a:solidFill>
                <a:latin typeface="微软雅黑" panose="020B0503020204020204" charset="-122"/>
                <a:ea typeface="微软雅黑" panose="020B0503020204020204" charset="-122"/>
                <a:cs typeface="微软雅黑" panose="020B0503020204020204" charset="-122"/>
              </a:rPr>
              <a:t>提前搬需要把预测错误计费</a:t>
            </a:r>
            <a:endParaRPr sz="139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1409700" y="4648200"/>
            <a:ext cx="9906000" cy="419100"/>
          </a:xfrm>
          <a:prstGeom prst="rect">
            <a:avLst/>
          </a:prstGeom>
          <a:noFill/>
          <a:ln w="0">
            <a:noFill/>
            <a:prstDash val="solid"/>
          </a:ln>
        </p:spPr>
        <p:txBody>
          <a:bodyPr wrap="square" lIns="0" tIns="0" rIns="0" bIns="0" anchor="t">
            <a:noAutofit/>
          </a:bodyPr>
          <a:lstStyle>
            <a:defPPr algn="l">
              <a:defRPr sz="1075" b="0">
                <a:solidFill>
                  <a:srgbClr val="5F5F58"/>
                </a:solidFill>
                <a:latin typeface="微软雅黑" panose="020B0503020204020204" charset="-122"/>
                <a:ea typeface="微软雅黑" panose="020B0503020204020204" charset="-122"/>
                <a:cs typeface="微软雅黑" panose="020B0503020204020204" charset="-122"/>
              </a:defRPr>
            </a:defPPr>
          </a:lstStyle>
          <a:p>
            <a:pPr algn="l">
              <a:lnSpc>
                <a:spcPct val="135000"/>
              </a:lnSpc>
              <a:buNone/>
              <a:defRPr sz="1075" b="0">
                <a:solidFill>
                  <a:srgbClr val="5F5F58"/>
                </a:solidFill>
                <a:latin typeface="微软雅黑" panose="020B0503020204020204" charset="-122"/>
                <a:ea typeface="微软雅黑" panose="020B0503020204020204" charset="-122"/>
                <a:cs typeface="微软雅黑" panose="020B0503020204020204" charset="-122"/>
              </a:defRPr>
            </a:pPr>
            <a:r>
              <a:rPr sz="1075" b="0">
                <a:solidFill>
                  <a:srgbClr val="5F5F58"/>
                </a:solidFill>
                <a:latin typeface="微软雅黑" panose="020B0503020204020204" charset="-122"/>
                <a:ea typeface="微软雅黑" panose="020B0503020204020204" charset="-122"/>
                <a:cs typeface="微软雅黑" panose="020B0503020204020204" charset="-122"/>
              </a:rPr>
              <a:t>last-direction 把中断降到 9.8%，却产生 214 GB，超过 reactive 的 140 GB。</a:t>
            </a:r>
            <a:endParaRPr sz="1075" b="0">
              <a:solidFill>
                <a:srgbClr val="5F5F58"/>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685800" y="5238750"/>
            <a:ext cx="10820400" cy="304800"/>
          </a:xfrm>
          <a:prstGeom prst="roundRect">
            <a:avLst>
              <a:gd name="adj" fmla="val 25000"/>
            </a:avLst>
          </a:prstGeom>
          <a:solidFill>
            <a:srgbClr val="E7F0EE"/>
          </a:solidFill>
          <a:ln w="9525">
            <a:solidFill>
              <a:srgbClr val="0F5B5B"/>
            </a:solidFill>
            <a:prstDash val="solid"/>
          </a:ln>
        </p:spPr>
      </p:sp>
      <p:sp>
        <p:nvSpPr>
          <p:cNvPr id="17" name="矩形 16"/>
          <p:cNvSpPr>
            <a:spLocks noGrp="1"/>
          </p:cNvSpPr>
          <p:nvPr/>
        </p:nvSpPr>
        <p:spPr>
          <a:xfrm>
            <a:off x="876300" y="5295900"/>
            <a:ext cx="10439400" cy="209550"/>
          </a:xfrm>
          <a:prstGeom prst="rect">
            <a:avLst/>
          </a:prstGeom>
          <a:noFill/>
          <a:ln w="0">
            <a:noFill/>
            <a:prstDash val="solid"/>
          </a:ln>
        </p:spPr>
        <p:txBody>
          <a:bodyPr wrap="square" lIns="0" tIns="0" rIns="0" bIns="0" anchor="t">
            <a:noAutofit/>
          </a:bodyPr>
          <a:lstStyle>
            <a:defPPr algn="l">
              <a:defRPr sz="100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005" b="1">
                <a:solidFill>
                  <a:srgbClr val="0F5B5B"/>
                </a:solidFill>
                <a:latin typeface="微软雅黑" panose="020B0503020204020204" charset="-122"/>
                <a:ea typeface="微软雅黑" panose="020B0503020204020204" charset="-122"/>
                <a:cs typeface="微软雅黑" panose="020B0503020204020204" charset="-122"/>
              </a:defRPr>
            </a:pPr>
            <a:r>
              <a:rPr sz="1005" b="1">
                <a:solidFill>
                  <a:srgbClr val="0F5B5B"/>
                </a:solidFill>
                <a:latin typeface="微软雅黑" panose="020B0503020204020204" charset="-122"/>
                <a:ea typeface="微软雅黑" panose="020B0503020204020204" charset="-122"/>
                <a:cs typeface="微软雅黑" panose="020B0503020204020204" charset="-122"/>
              </a:rPr>
              <a:t>这四条正对老师项目里的“跨边状态同步/密文增量”挑战：优化收益必须连恢复与同步成本一起算。</a:t>
            </a:r>
            <a:endParaRPr sz="1005"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685800" y="5772150"/>
            <a:ext cx="10820400" cy="9525"/>
          </a:xfrm>
          <a:prstGeom prst="rect">
            <a:avLst/>
          </a:prstGeom>
          <a:solidFill>
            <a:srgbClr val="D9D9D1"/>
          </a:solidFill>
          <a:ln w="0">
            <a:noFill/>
            <a:prstDash val="solid"/>
          </a:ln>
        </p:spPr>
      </p:sp>
      <p:sp>
        <p:nvSpPr>
          <p:cNvPr id="19" name="矩形 18"/>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275" b="1">
                <a:solidFill>
                  <a:srgbClr val="0F5B5B"/>
                </a:solidFill>
                <a:latin typeface="微软雅黑" panose="020B0503020204020204" charset="-122"/>
                <a:ea typeface="微软雅黑" panose="020B0503020204020204" charset="-122"/>
                <a:cs typeface="微软雅黑" panose="020B0503020204020204" charset="-122"/>
              </a:rPr>
              <a:t>没有单一最优策略；应按服务、速度、带宽和 base 命中情况组合选择。</a:t>
            </a:r>
            <a:endParaRPr sz="1275"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p:sp>
        <p:nvSpPr>
          <p:cNvPr id="2" name="矩形 1"/>
          <p:cNvSpPr>
            <a:spLocks noGrp="1"/>
          </p:cNvSpPr>
          <p:nvPr/>
        </p:nvSpPr>
        <p:spPr>
          <a:xfrm>
            <a:off x="685800" y="628650"/>
            <a:ext cx="10820400" cy="609600"/>
          </a:xfrm>
          <a:prstGeom prst="rect">
            <a:avLst/>
          </a:prstGeom>
          <a:noFill/>
          <a:ln w="0">
            <a:noFill/>
            <a:prstDash val="solid"/>
          </a:ln>
        </p:spPr>
        <p:txBody>
          <a:bodyPr wrap="square" lIns="0" tIns="0" rIns="0" bIns="0" anchor="t">
            <a:noAutofit/>
          </a:bodyPr>
          <a:lstStyle>
            <a:defPPr algn="l">
              <a:defRPr sz="210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08000"/>
              </a:lnSpc>
              <a:buNone/>
              <a:defRPr sz="2100" b="1">
                <a:solidFill>
                  <a:srgbClr val="1B1B19"/>
                </a:solidFill>
                <a:latin typeface="微软雅黑" panose="020B0503020204020204" charset="-122"/>
                <a:ea typeface="微软雅黑" panose="020B0503020204020204" charset="-122"/>
                <a:cs typeface="微软雅黑" panose="020B0503020204020204" charset="-122"/>
              </a:defRPr>
            </a:pPr>
            <a:r>
              <a:rPr sz="2100" b="1">
                <a:solidFill>
                  <a:srgbClr val="1B1B19"/>
                </a:solidFill>
                <a:latin typeface="微软雅黑" panose="020B0503020204020204" charset="-122"/>
                <a:ea typeface="微软雅黑" panose="020B0503020204020204" charset="-122"/>
                <a:cs typeface="微软雅黑" panose="020B0503020204020204" charset="-122"/>
              </a:rPr>
              <a:t>先补齐系统评估，再把安全机制叠上去</a:t>
            </a:r>
            <a:endParaRPr sz="210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85800" y="1362075"/>
            <a:ext cx="609600" cy="28575"/>
          </a:xfrm>
          <a:prstGeom prst="rect">
            <a:avLst/>
          </a:prstGeom>
          <a:solidFill>
            <a:srgbClr val="0F5B5B"/>
          </a:solidFill>
          <a:ln w="0">
            <a:noFill/>
            <a:prstDash val="solid"/>
          </a:ln>
        </p:spPr>
      </p:sp>
      <p:sp>
        <p:nvSpPr>
          <p:cNvPr id="4" name="圆角矩形 3"/>
          <p:cNvSpPr>
            <a:spLocks noGrp="1"/>
          </p:cNvSpPr>
          <p:nvPr/>
        </p:nvSpPr>
        <p:spPr>
          <a:xfrm>
            <a:off x="685800" y="1790700"/>
            <a:ext cx="5219700" cy="2724150"/>
          </a:xfrm>
          <a:prstGeom prst="roundRect">
            <a:avLst>
              <a:gd name="adj" fmla="val 2797"/>
            </a:avLst>
          </a:prstGeom>
          <a:solidFill>
            <a:srgbClr val="F6EEDC"/>
          </a:solidFill>
          <a:ln w="9525">
            <a:solidFill>
              <a:srgbClr val="D7B56A"/>
            </a:solidFill>
            <a:prstDash val="solid"/>
          </a:ln>
        </p:spPr>
      </p:sp>
      <p:sp>
        <p:nvSpPr>
          <p:cNvPr id="5" name="矩形 4"/>
          <p:cNvSpPr>
            <a:spLocks noGrp="1"/>
          </p:cNvSpPr>
          <p:nvPr/>
        </p:nvSpPr>
        <p:spPr>
          <a:xfrm>
            <a:off x="914400" y="1981200"/>
            <a:ext cx="4762500" cy="266700"/>
          </a:xfrm>
          <a:prstGeom prst="rect">
            <a:avLst/>
          </a:prstGeom>
          <a:noFill/>
          <a:ln w="0">
            <a:noFill/>
            <a:prstDash val="solid"/>
          </a:ln>
        </p:spPr>
        <p:txBody>
          <a:bodyPr wrap="square" lIns="0" tIns="0" rIns="0" bIns="0" anchor="t">
            <a:noAutofit/>
          </a:bodyPr>
          <a:lstStyle>
            <a:defPPr algn="l">
              <a:defRPr sz="1350" b="1">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50" b="1">
                <a:solidFill>
                  <a:srgbClr val="1B1B19"/>
                </a:solidFill>
                <a:latin typeface="微软雅黑" panose="020B0503020204020204" charset="-122"/>
                <a:ea typeface="微软雅黑" panose="020B0503020204020204" charset="-122"/>
                <a:cs typeface="微软雅黑" panose="020B0503020204020204" charset="-122"/>
              </a:defRPr>
            </a:pPr>
            <a:r>
              <a:rPr sz="1350" b="1">
                <a:solidFill>
                  <a:srgbClr val="1B1B19"/>
                </a:solidFill>
                <a:latin typeface="微软雅黑" panose="020B0503020204020204" charset="-122"/>
                <a:ea typeface="微软雅黑" panose="020B0503020204020204" charset="-122"/>
                <a:cs typeface="微软雅黑" panose="020B0503020204020204" charset="-122"/>
              </a:rPr>
              <a:t>现在还不能直接下论文结论的地方</a:t>
            </a:r>
            <a:endParaRPr sz="1350" b="1">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914400" y="2381250"/>
            <a:ext cx="4762500" cy="1924050"/>
          </a:xfrm>
          <a:prstGeom prst="rect">
            <a:avLst/>
          </a:prstGeom>
          <a:noFill/>
          <a:ln w="0">
            <a:noFill/>
            <a:prstDash val="solid"/>
          </a:ln>
        </p:spPr>
        <p:txBody>
          <a:bodyPr wrap="square" lIns="0" tIns="0" rIns="0" bIns="0" anchor="t">
            <a:noAutofit/>
          </a:bodyPr>
          <a:lstStyle>
            <a:defPPr algn="l">
              <a:defRPr sz="106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40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065" b="0">
                <a:solidFill>
                  <a:srgbClr val="1B1B19"/>
                </a:solidFill>
                <a:latin typeface="微软雅黑" panose="020B0503020204020204" charset="-122"/>
                <a:ea typeface="微软雅黑" panose="020B0503020204020204" charset="-122"/>
                <a:cs typeface="微软雅黑" panose="020B0503020204020204" charset="-122"/>
              </a:rPr>
              <a:t>1. 三类数据的 cell 尺度不同，不能当严格同条件排名。</a:t>
            </a:r>
            <a:endParaRPr sz="1065" b="0">
              <a:solidFill>
                <a:srgbClr val="1B1B19"/>
              </a:solidFill>
              <a:latin typeface="微软雅黑" panose="020B0503020204020204" charset="-122"/>
              <a:ea typeface="微软雅黑" panose="020B0503020204020204" charset="-122"/>
              <a:cs typeface="微软雅黑" panose="020B0503020204020204" charset="-122"/>
            </a:endParaRPr>
          </a:p>
          <a:p>
            <a:endParaRPr sz="1065"/>
          </a:p>
          <a:p>
            <a:pPr algn="l">
              <a:lnSpc>
                <a:spcPct val="140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065" b="0">
                <a:solidFill>
                  <a:srgbClr val="1B1B19"/>
                </a:solidFill>
                <a:latin typeface="微软雅黑" panose="020B0503020204020204" charset="-122"/>
                <a:ea typeface="微软雅黑" panose="020B0503020204020204" charset="-122"/>
                <a:cs typeface="微软雅黑" panose="020B0503020204020204" charset="-122"/>
              </a:rPr>
              <a:t>2. 12 步提前量是固定参数，还没做 5/12/30/60 的扫描。</a:t>
            </a:r>
            <a:endParaRPr sz="1065" b="0">
              <a:solidFill>
                <a:srgbClr val="1B1B19"/>
              </a:solidFill>
              <a:latin typeface="微软雅黑" panose="020B0503020204020204" charset="-122"/>
              <a:ea typeface="微软雅黑" panose="020B0503020204020204" charset="-122"/>
              <a:cs typeface="微软雅黑" panose="020B0503020204020204" charset="-122"/>
            </a:endParaRPr>
          </a:p>
          <a:p>
            <a:endParaRPr sz="1065"/>
          </a:p>
          <a:p>
            <a:pPr algn="l">
              <a:lnSpc>
                <a:spcPct val="140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065" b="0">
                <a:solidFill>
                  <a:srgbClr val="1B1B19"/>
                </a:solidFill>
                <a:latin typeface="微软雅黑" panose="020B0503020204020204" charset="-122"/>
                <a:ea typeface="微软雅黑" panose="020B0503020204020204" charset="-122"/>
                <a:cs typeface="微软雅黑" panose="020B0503020204020204" charset="-122"/>
              </a:rPr>
              <a:t>3. 暂未加入“完全不迁移、远程访问”的对照。</a:t>
            </a:r>
            <a:endParaRPr sz="1065" b="0">
              <a:solidFill>
                <a:srgbClr val="1B1B19"/>
              </a:solidFill>
              <a:latin typeface="微软雅黑" panose="020B0503020204020204" charset="-122"/>
              <a:ea typeface="微软雅黑" panose="020B0503020204020204" charset="-122"/>
              <a:cs typeface="微软雅黑" panose="020B0503020204020204" charset="-122"/>
            </a:endParaRPr>
          </a:p>
          <a:p>
            <a:endParaRPr sz="1065"/>
          </a:p>
          <a:p>
            <a:pPr algn="l">
              <a:lnSpc>
                <a:spcPct val="140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065" b="0">
                <a:solidFill>
                  <a:srgbClr val="1B1B19"/>
                </a:solidFill>
                <a:latin typeface="微软雅黑" panose="020B0503020204020204" charset="-122"/>
                <a:ea typeface="微软雅黑" panose="020B0503020204020204" charset="-122"/>
                <a:cs typeface="微软雅黑" panose="020B0503020204020204" charset="-122"/>
              </a:rPr>
              <a:t>4. 恢复模型是线性的，真实系统还要考虑启动、依赖和 I/O 抖动。</a:t>
            </a:r>
            <a:endParaRPr sz="1065"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6286500" y="1790700"/>
            <a:ext cx="5219700" cy="2724150"/>
          </a:xfrm>
          <a:prstGeom prst="roundRect">
            <a:avLst>
              <a:gd name="adj" fmla="val 2797"/>
            </a:avLst>
          </a:prstGeom>
          <a:solidFill>
            <a:srgbClr val="E7F0EE"/>
          </a:solidFill>
          <a:ln w="9525">
            <a:solidFill>
              <a:srgbClr val="0F5B5B"/>
            </a:solidFill>
            <a:prstDash val="solid"/>
          </a:ln>
        </p:spPr>
      </p:sp>
      <p:sp>
        <p:nvSpPr>
          <p:cNvPr id="8" name="矩形 7"/>
          <p:cNvSpPr>
            <a:spLocks noGrp="1"/>
          </p:cNvSpPr>
          <p:nvPr/>
        </p:nvSpPr>
        <p:spPr>
          <a:xfrm>
            <a:off x="6515100" y="1981200"/>
            <a:ext cx="4762500" cy="266700"/>
          </a:xfrm>
          <a:prstGeom prst="rect">
            <a:avLst/>
          </a:prstGeom>
          <a:noFill/>
          <a:ln w="0">
            <a:noFill/>
            <a:prstDash val="solid"/>
          </a:ln>
        </p:spPr>
        <p:txBody>
          <a:bodyPr wrap="square" lIns="0" tIns="0" rIns="0" bIns="0" anchor="t">
            <a:noAutofit/>
          </a:bodyPr>
          <a:lstStyle>
            <a:defPPr algn="l">
              <a:defRPr sz="1350"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350" b="1">
                <a:solidFill>
                  <a:srgbClr val="0F5B5B"/>
                </a:solidFill>
                <a:latin typeface="微软雅黑" panose="020B0503020204020204" charset="-122"/>
                <a:ea typeface="微软雅黑" panose="020B0503020204020204" charset="-122"/>
                <a:cs typeface="微软雅黑" panose="020B0503020204020204" charset="-122"/>
              </a:defRPr>
            </a:pPr>
            <a:r>
              <a:rPr sz="1350" b="1">
                <a:solidFill>
                  <a:srgbClr val="0F5B5B"/>
                </a:solidFill>
                <a:latin typeface="微软雅黑" panose="020B0503020204020204" charset="-122"/>
                <a:ea typeface="微软雅黑" panose="020B0503020204020204" charset="-122"/>
                <a:cs typeface="微软雅黑" panose="020B0503020204020204" charset="-122"/>
              </a:rPr>
              <a:t>下一步实验与安全扩展</a:t>
            </a:r>
            <a:endParaRPr sz="1350" b="1">
              <a:solidFill>
                <a:srgbClr val="0F5B5B"/>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6515100" y="2381250"/>
            <a:ext cx="4762500" cy="1924050"/>
          </a:xfrm>
          <a:prstGeom prst="rect">
            <a:avLst/>
          </a:prstGeom>
          <a:noFill/>
          <a:ln w="0">
            <a:noFill/>
            <a:prstDash val="solid"/>
          </a:ln>
        </p:spPr>
        <p:txBody>
          <a:bodyPr wrap="square" lIns="0" tIns="0" rIns="0" bIns="0" anchor="t">
            <a:noAutofit/>
          </a:bodyPr>
          <a:lstStyle>
            <a:defPPr algn="l">
              <a:defRPr sz="1065"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40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065" b="0">
                <a:solidFill>
                  <a:srgbClr val="1B1B19"/>
                </a:solidFill>
                <a:latin typeface="微软雅黑" panose="020B0503020204020204" charset="-122"/>
                <a:ea typeface="微软雅黑" panose="020B0503020204020204" charset="-122"/>
                <a:cs typeface="微软雅黑" panose="020B0503020204020204" charset="-122"/>
              </a:rPr>
              <a:t>1. 做 base 放置与预热间隔的敏感性分析。</a:t>
            </a:r>
            <a:endParaRPr sz="1065" b="0">
              <a:solidFill>
                <a:srgbClr val="1B1B19"/>
              </a:solidFill>
              <a:latin typeface="微软雅黑" panose="020B0503020204020204" charset="-122"/>
              <a:ea typeface="微软雅黑" panose="020B0503020204020204" charset="-122"/>
              <a:cs typeface="微软雅黑" panose="020B0503020204020204" charset="-122"/>
            </a:endParaRPr>
          </a:p>
          <a:p>
            <a:endParaRPr sz="1065"/>
          </a:p>
          <a:p>
            <a:pPr algn="l">
              <a:lnSpc>
                <a:spcPct val="140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065" b="0">
                <a:solidFill>
                  <a:srgbClr val="1B1B19"/>
                </a:solidFill>
                <a:latin typeface="微软雅黑" panose="020B0503020204020204" charset="-122"/>
                <a:ea typeface="微软雅黑" panose="020B0503020204020204" charset="-122"/>
                <a:cs typeface="微软雅黑" panose="020B0503020204020204" charset="-122"/>
              </a:rPr>
              <a:t>2. 扫描提前量，观察收益和冗余迁移的拐点。</a:t>
            </a:r>
            <a:endParaRPr sz="1065" b="0">
              <a:solidFill>
                <a:srgbClr val="1B1B19"/>
              </a:solidFill>
              <a:latin typeface="微软雅黑" panose="020B0503020204020204" charset="-122"/>
              <a:ea typeface="微软雅黑" panose="020B0503020204020204" charset="-122"/>
              <a:cs typeface="微软雅黑" panose="020B0503020204020204" charset="-122"/>
            </a:endParaRPr>
          </a:p>
          <a:p>
            <a:endParaRPr sz="1065"/>
          </a:p>
          <a:p>
            <a:pPr algn="l">
              <a:lnSpc>
                <a:spcPct val="140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065" b="0">
                <a:solidFill>
                  <a:srgbClr val="1B1B19"/>
                </a:solidFill>
                <a:latin typeface="微软雅黑" panose="020B0503020204020204" charset="-122"/>
                <a:ea typeface="微软雅黑" panose="020B0503020204020204" charset="-122"/>
                <a:cs typeface="微软雅黑" panose="020B0503020204020204" charset="-122"/>
              </a:rPr>
              <a:t>3. 建一个小规模 testbed 校准 5 ms/MB 恢复模型。</a:t>
            </a:r>
            <a:endParaRPr sz="1065" b="0">
              <a:solidFill>
                <a:srgbClr val="1B1B19"/>
              </a:solidFill>
              <a:latin typeface="微软雅黑" panose="020B0503020204020204" charset="-122"/>
              <a:ea typeface="微软雅黑" panose="020B0503020204020204" charset="-122"/>
              <a:cs typeface="微软雅黑" panose="020B0503020204020204" charset="-122"/>
            </a:endParaRPr>
          </a:p>
          <a:p>
            <a:endParaRPr sz="1065"/>
          </a:p>
          <a:p>
            <a:pPr algn="l">
              <a:lnSpc>
                <a:spcPct val="140000"/>
              </a:lnSpc>
              <a:buNone/>
              <a:defRPr sz="1065" b="0">
                <a:solidFill>
                  <a:srgbClr val="1B1B19"/>
                </a:solidFill>
                <a:latin typeface="微软雅黑" panose="020B0503020204020204" charset="-122"/>
                <a:ea typeface="微软雅黑" panose="020B0503020204020204" charset="-122"/>
                <a:cs typeface="微软雅黑" panose="020B0503020204020204" charset="-122"/>
              </a:defRPr>
            </a:pPr>
            <a:r>
              <a:rPr sz="1065" b="0">
                <a:solidFill>
                  <a:srgbClr val="1B1B19"/>
                </a:solidFill>
                <a:latin typeface="微软雅黑" panose="020B0503020204020204" charset="-122"/>
                <a:ea typeface="微软雅黑" panose="020B0503020204020204" charset="-122"/>
                <a:cs typeface="微软雅黑" panose="020B0503020204020204" charset="-122"/>
              </a:rPr>
              <a:t>4. 在迁移时刻、源/目标、字节数上加入隐私机制，再复用同一套开销指标。</a:t>
            </a:r>
            <a:endParaRPr sz="1065"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685800" y="4838700"/>
            <a:ext cx="10820400" cy="514350"/>
          </a:xfrm>
          <a:prstGeom prst="rect">
            <a:avLst/>
          </a:prstGeom>
          <a:noFill/>
          <a:ln w="0">
            <a:noFill/>
            <a:prstDash val="solid"/>
          </a:ln>
        </p:spPr>
        <p:txBody>
          <a:bodyPr wrap="square" lIns="0" tIns="0" rIns="0" bIns="0" anchor="t">
            <a:noAutofit/>
          </a:bodyPr>
          <a:lstStyle>
            <a:defPPr algn="l">
              <a:defRPr sz="1170" b="0">
                <a:solidFill>
                  <a:srgbClr val="1B1B19"/>
                </a:solidFill>
                <a:latin typeface="微软雅黑" panose="020B0503020204020204" charset="-122"/>
                <a:ea typeface="微软雅黑" panose="020B0503020204020204" charset="-122"/>
                <a:cs typeface="微软雅黑" panose="020B0503020204020204" charset="-122"/>
              </a:defRPr>
            </a:defPPr>
          </a:lstStyle>
          <a:p>
            <a:pPr algn="l">
              <a:lnSpc>
                <a:spcPct val="140000"/>
              </a:lnSpc>
              <a:buNone/>
              <a:defRPr sz="1170" b="0">
                <a:solidFill>
                  <a:srgbClr val="1B1B19"/>
                </a:solidFill>
                <a:latin typeface="微软雅黑" panose="020B0503020204020204" charset="-122"/>
                <a:ea typeface="微软雅黑" panose="020B0503020204020204" charset="-122"/>
                <a:cs typeface="微软雅黑" panose="020B0503020204020204" charset="-122"/>
              </a:defRPr>
            </a:pPr>
            <a:r>
              <a:rPr sz="1170" b="0">
                <a:solidFill>
                  <a:srgbClr val="1B1B19"/>
                </a:solidFill>
                <a:latin typeface="微软雅黑" panose="020B0503020204020204" charset="-122"/>
                <a:ea typeface="微软雅黑" panose="020B0503020204020204" charset="-122"/>
                <a:cs typeface="微软雅黑" panose="020B0503020204020204" charset="-122"/>
              </a:rPr>
              <a:t>安全机制为什么可以接在后面：加密、填充、批处理和诱饵迁移都会改变可观测时间与流量，但不会绕过“迁移字节、恢复时间、用户中断”这笔账。</a:t>
            </a:r>
            <a:endParaRPr sz="1170" b="0">
              <a:solidFill>
                <a:srgbClr val="1B1B19"/>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5800" y="5772150"/>
            <a:ext cx="10820400" cy="9525"/>
          </a:xfrm>
          <a:prstGeom prst="rect">
            <a:avLst/>
          </a:prstGeom>
          <a:solidFill>
            <a:srgbClr val="D9D9D1"/>
          </a:solidFill>
          <a:ln w="0">
            <a:noFill/>
            <a:prstDash val="solid"/>
          </a:ln>
        </p:spPr>
      </p:sp>
      <p:sp>
        <p:nvSpPr>
          <p:cNvPr id="12" name="矩形 11"/>
          <p:cNvSpPr>
            <a:spLocks noGrp="1"/>
          </p:cNvSpPr>
          <p:nvPr/>
        </p:nvSpPr>
        <p:spPr>
          <a:xfrm>
            <a:off x="685800" y="5905500"/>
            <a:ext cx="9906000" cy="361950"/>
          </a:xfrm>
          <a:prstGeom prst="rect">
            <a:avLst/>
          </a:prstGeom>
          <a:noFill/>
          <a:ln w="0">
            <a:noFill/>
            <a:prstDash val="solid"/>
          </a:ln>
        </p:spPr>
        <p:txBody>
          <a:bodyPr wrap="square" lIns="0" tIns="0" rIns="0" bIns="0" anchor="t">
            <a:noAutofit/>
          </a:bodyPr>
          <a:lstStyle>
            <a:defPPr algn="l">
              <a:defRPr sz="1275" b="1">
                <a:solidFill>
                  <a:srgbClr val="0F5B5B"/>
                </a:solidFill>
                <a:latin typeface="微软雅黑" panose="020B0503020204020204" charset="-122"/>
                <a:ea typeface="微软雅黑" panose="020B0503020204020204" charset="-122"/>
                <a:cs typeface="微软雅黑" panose="020B0503020204020204" charset="-122"/>
              </a:defRPr>
            </a:defPPr>
          </a:lstStyle>
          <a:p>
            <a:pPr algn="l">
              <a:lnSpc>
                <a:spcPct val="128000"/>
              </a:lnSpc>
              <a:buNone/>
              <a:defRPr sz="1275" b="1">
                <a:solidFill>
                  <a:srgbClr val="0F5B5B"/>
                </a:solidFill>
                <a:latin typeface="微软雅黑" panose="020B0503020204020204" charset="-122"/>
                <a:ea typeface="微软雅黑" panose="020B0503020204020204" charset="-122"/>
                <a:cs typeface="微软雅黑" panose="020B0503020204020204" charset="-122"/>
              </a:defRPr>
            </a:pPr>
            <a:r>
              <a:rPr sz="1275" b="1">
                <a:solidFill>
                  <a:srgbClr val="0F5B5B"/>
                </a:solidFill>
                <a:latin typeface="微软雅黑" panose="020B0503020204020204" charset="-122"/>
                <a:ea typeface="微软雅黑" panose="020B0503020204020204" charset="-122"/>
                <a:cs typeface="微软雅黑" panose="020B0503020204020204" charset="-122"/>
              </a:rPr>
              <a:t>先建立可解释的系统基线，再证明安全机制带来的额外开销是可以接受的。</a:t>
            </a:r>
            <a:endParaRPr sz="1275" b="1">
              <a:solidFill>
                <a:srgbClr val="0F5B5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180,&quot;left&quot;:54,&quot;top&quot;:145.5,&quot;width&quot;:852}"/>
</p:tagLst>
</file>

<file path=ppt/tags/tag2.xml><?xml version="1.0" encoding="utf-8"?>
<p:tagLst xmlns:p="http://schemas.openxmlformats.org/presentationml/2006/main">
  <p:tag name="KSO_WM_DIAGRAM_VIRTUALLY_FRAME" val="{&quot;height&quot;:180,&quot;left&quot;:54,&quot;top&quot;:145.5,&quot;width&quot;:852}"/>
</p:tagLst>
</file>

<file path=ppt/tags/tag3.xml><?xml version="1.0" encoding="utf-8"?>
<p:tagLst xmlns:p="http://schemas.openxmlformats.org/presentationml/2006/main">
  <p:tag name="KSO_WM_DIAGRAM_VIRTUALLY_FRAME" val="{&quot;height&quot;:180,&quot;left&quot;:54,&quot;top&quot;:145.5,&quot;width&quot;:852}"/>
</p:tagLst>
</file>

<file path=ppt/tags/tag4.xml><?xml version="1.0" encoding="utf-8"?>
<p:tagLst xmlns:p="http://schemas.openxmlformats.org/presentationml/2006/main">
  <p:tag name="KSO_WM_DIAGRAM_VIRTUALLY_FRAME" val="{&quot;height&quot;:180,&quot;left&quot;:54,&quot;top&quot;:145.5,&quot;width&quot;:852}"/>
</p:tagLst>
</file>

<file path=ppt/tags/tag5.xml><?xml version="1.0" encoding="utf-8"?>
<p:tagLst xmlns:p="http://schemas.openxmlformats.org/presentationml/2006/main">
  <p:tag name="KSO_WM_DIAGRAM_VIRTUALLY_FRAME" val="{&quot;height&quot;:180,&quot;left&quot;:54,&quot;top&quot;:145.5,&quot;width&quot;:852}"/>
</p:tagLst>
</file>

<file path=ppt/tags/tag6.xml><?xml version="1.0" encoding="utf-8"?>
<p:tagLst xmlns:p="http://schemas.openxmlformats.org/presentationml/2006/main">
  <p:tag name="KSO_WM_DIAGRAM_VIRTUALLY_FRAME" val="{&quot;height&quot;:180,&quot;left&quot;:54,&quot;top&quot;:145.5,&quot;width&quot;:852}"/>
</p:tagLst>
</file>

<file path=ppt/tags/tag7.xml><?xml version="1.0" encoding="utf-8"?>
<p:tagLst xmlns:p="http://schemas.openxmlformats.org/presentationml/2006/main">
  <p:tag name="KSO_WM_DIAGRAM_VIRTUALLY_FRAME" val="{&quot;height&quot;:177,&quot;left&quot;:79.5,&quot;top&quot;:189,&quot;width&quot;:265.5}"/>
</p:tagLst>
</file>

<file path=ppt/tags/tag8.xml><?xml version="1.0" encoding="utf-8"?>
<p:tagLst xmlns:p="http://schemas.openxmlformats.org/presentationml/2006/main">
  <p:tag name="KSO_WM_DIAGRAM_VIRTUALLY_FRAME" val="{&quot;height&quot;:177,&quot;left&quot;:79.5,&quot;top&quot;:189,&quot;width&quot;:265.5}"/>
</p:tagLst>
</file>

<file path=ppt/tags/tag9.xml><?xml version="1.0" encoding="utf-8"?>
<p:tagLst xmlns:p="http://schemas.openxmlformats.org/presentationml/2006/main">
  <p:tag name="KSO_WM_DIAGRAM_VIRTUALLY_FRAME" val="{&quot;height&quot;:177,&quot;left&quot;:79.5,&quot;top&quot;:189,&quot;width&quot;:265.5}"/>
</p:tagLst>
</file>

<file path=ppt/tags/tag10.xml><?xml version="1.0" encoding="utf-8"?>
<p:tagLst xmlns:p="http://schemas.openxmlformats.org/presentationml/2006/main">
  <p:tag name="KSO_WM_DIAGRAM_VIRTUALLY_FRAME" val="{&quot;height&quot;:177,&quot;left&quot;:79.5,&quot;top&quot;:189,&quot;width&quot;:265.5}"/>
</p:tagLst>
</file>

<file path=ppt/tags/tag11.xml><?xml version="1.0" encoding="utf-8"?>
<p:tagLst xmlns:p="http://schemas.openxmlformats.org/presentationml/2006/main">
  <p:tag name="KSO_WM_DIAGRAM_VIRTUALLY_FRAME" val="{&quot;height&quot;:177,&quot;left&quot;:79.5,&quot;top&quot;:189,&quot;width&quot;:265.5}"/>
</p:tagLst>
</file>

<file path=ppt/tags/tag12.xml><?xml version="1.0" encoding="utf-8"?>
<p:tagLst xmlns:p="http://schemas.openxmlformats.org/presentationml/2006/main">
  <p:tag name="KSO_WM_DIAGRAM_VIRTUALLY_FRAME" val="{&quot;height&quot;:177,&quot;left&quot;:79.5,&quot;top&quot;:189,&quot;width&quot;:265.5}"/>
</p:tagLst>
</file>

<file path=ppt/tags/tag13.xml><?xml version="1.0" encoding="utf-8"?>
<p:tagLst xmlns:p="http://schemas.openxmlformats.org/presentationml/2006/main">
  <p:tag name="KSO_WM_DIAGRAM_VIRTUALLY_FRAME" val="{&quot;height&quot;:177,&quot;left&quot;:79.5,&quot;top&quot;:189,&quot;width&quot;:265.5}"/>
</p:tagLst>
</file>

<file path=ppt/tags/tag14.xml><?xml version="1.0" encoding="utf-8"?>
<p:tagLst xmlns:p="http://schemas.openxmlformats.org/presentationml/2006/main">
  <p:tag name="KSO_WM_DIAGRAM_VIRTUALLY_FRAME" val="{&quot;height&quot;:177,&quot;left&quot;:79.5,&quot;top&quot;:189,&quot;width&quot;:265.5}"/>
</p:tagLst>
</file>

<file path=ppt/tags/tag15.xml><?xml version="1.0" encoding="utf-8"?>
<p:tagLst xmlns:p="http://schemas.openxmlformats.org/presentationml/2006/main">
  <p:tag name="KSO_WM_DIAGRAM_VIRTUALLY_FRAME" val="{&quot;height&quot;:177,&quot;left&quot;:79.5,&quot;top&quot;:189,&quot;width&quot;:265.5}"/>
</p:tagLst>
</file>

<file path=ppt/tags/tag16.xml><?xml version="1.0" encoding="utf-8"?>
<p:tagLst xmlns:p="http://schemas.openxmlformats.org/presentationml/2006/main">
  <p:tag name="TABLE_ENDDRAG_ORIGIN_RECT" val="681*364"/>
  <p:tag name="TABLE_ENDDRAG_RECT" val="54*128*681*364"/>
</p:tagLst>
</file>

<file path=ppt/theme/theme1.xml><?xml version="1.0" encoding="utf-8"?>
<a:theme xmlns:a="http://schemas.openxmlformats.org/drawingml/2006/main" name="ChatGPT">
  <a:themeElements>
    <a:clrScheme name="MEC Teaching Detailed">
      <a:dk1>
        <a:srgbClr val="000000"/>
      </a:dk1>
      <a:lt1>
        <a:srgbClr val="FFFFFF"/>
      </a:lt1>
      <a:dk2>
        <a:srgbClr val="123F3F"/>
      </a:dk2>
      <a:lt2>
        <a:srgbClr val="E7F0EE"/>
      </a:lt2>
      <a:accent1>
        <a:srgbClr val="0F5B5B"/>
      </a:accent1>
      <a:accent2>
        <a:srgbClr val="B84A24"/>
      </a:accent2>
      <a:accent3>
        <a:srgbClr val="2E7774"/>
      </a:accent3>
      <a:accent4>
        <a:srgbClr val="A56A00"/>
      </a:accent4>
      <a:accent5>
        <a:srgbClr val="547248"/>
      </a:accent5>
      <a:accent6>
        <a:srgbClr val="6A6A63"/>
      </a:accent6>
      <a:hlink>
        <a:srgbClr val="0F5B5B"/>
      </a:hlink>
      <a:folHlink>
        <a:srgbClr val="B84A24"/>
      </a:folHlink>
    </a:clrScheme>
    <a:fontScheme name="">
      <a:majorFont>
        <a:latin typeface="Microsoft YaHei"/>
        <a:ea typeface=""/>
        <a:cs typeface=""/>
      </a:majorFont>
      <a:minorFont>
        <a:latin typeface="Microsoft YaHei"/>
        <a:ea typeface=""/>
        <a:cs typeface=""/>
      </a:minorFont>
    </a:fontScheme>
    <a:fmtScheme name="MEC Teaching Detaile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MEC Teaching Detailed">
      <a:dk1>
        <a:srgbClr val="000000"/>
      </a:dk1>
      <a:lt1>
        <a:srgbClr val="FFFFFF"/>
      </a:lt1>
      <a:dk2>
        <a:srgbClr val="123F3F"/>
      </a:dk2>
      <a:lt2>
        <a:srgbClr val="E7F0EE"/>
      </a:lt2>
      <a:accent1>
        <a:srgbClr val="0F5B5B"/>
      </a:accent1>
      <a:accent2>
        <a:srgbClr val="B84A24"/>
      </a:accent2>
      <a:accent3>
        <a:srgbClr val="2E7774"/>
      </a:accent3>
      <a:accent4>
        <a:srgbClr val="A56A00"/>
      </a:accent4>
      <a:accent5>
        <a:srgbClr val="547248"/>
      </a:accent5>
      <a:accent6>
        <a:srgbClr val="6A6A63"/>
      </a:accent6>
      <a:hlink>
        <a:srgbClr val="0F5B5B"/>
      </a:hlink>
      <a:folHlink>
        <a:srgbClr val="B84A24"/>
      </a:folHlink>
    </a:clrScheme>
    <a:fontScheme name="">
      <a:majorFont>
        <a:latin typeface="Microsoft YaHei"/>
        <a:ea typeface=""/>
        <a:cs typeface=""/>
      </a:majorFont>
      <a:minorFont>
        <a:latin typeface="Microsoft YaHei"/>
        <a:ea typeface=""/>
        <a:cs typeface=""/>
      </a:minorFont>
    </a:fontScheme>
    <a:fmtScheme name="MEC Teaching Detaile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5537</Words>
  <Application>WPS 演示</Application>
  <PresentationFormat>Converted Presentation</PresentationFormat>
  <Paragraphs>776</Paragraphs>
  <Slides>22</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22</vt:i4>
      </vt:variant>
    </vt:vector>
  </HeadingPairs>
  <TitlesOfParts>
    <vt:vector size="28" baseType="lpstr">
      <vt:lpstr>Arial</vt:lpstr>
      <vt:lpstr>宋体</vt:lpstr>
      <vt:lpstr>Wingdings</vt:lpstr>
      <vt:lpstr>微软雅黑</vt:lpstr>
      <vt:lpstr>Arial Unicode MS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WPS_1680165588</cp:lastModifiedBy>
  <cp:revision>142</cp:revision>
  <dcterms:created xsi:type="dcterms:W3CDTF">2026-10-21T12:03:51Z</dcterms:created>
  <dcterms:modified xsi:type="dcterms:W3CDTF">2026-10-22T03:41:21Z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F96E948D09FD46C298B66E5E60D03E3F_12</vt:lpwstr>
  </property>
  <property fmtid="{D5CDD505-2E9C-101B-9397-08002B2CF9AE}" pid="3" name="KSOProductBuildVer">
    <vt:lpwstr>2052-12.1.0.28505</vt:lpwstr>
  </property>
</Properties>
</file>