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2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7542610aea3442c" /><Relationship Type="http://schemas.openxmlformats.org/officeDocument/2006/relationships/extended-properties" Target="/docProps/app.xml" Id="R38e1150cbc744354" /><Relationship Type="http://schemas.openxmlformats.org/officeDocument/2006/relationships/officeDocument" Target="/ppt/presentation.xml" Id="Rca8b9b131c72484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fa7f79c7b13475f"/>
  </p:sldMasterIdLst>
  <p:notesMasterIdLst>
    <p:notesMasterId xmlns:r="http://schemas.openxmlformats.org/officeDocument/2006/relationships" r:id="R58cde98ef6f04fd2"/>
  </p:notesMasterIdLst>
  <p:sldIdLst>
    <p:sldId xmlns:r="http://schemas.openxmlformats.org/officeDocument/2006/relationships" id="256" r:id="Reb8f57b303f64bcd"/>
    <p:sldId xmlns:r="http://schemas.openxmlformats.org/officeDocument/2006/relationships" id="257" r:id="R9fc6995b86354941"/>
    <p:sldId xmlns:r="http://schemas.openxmlformats.org/officeDocument/2006/relationships" id="258" r:id="R738d633362b94844"/>
    <p:sldId xmlns:r="http://schemas.openxmlformats.org/officeDocument/2006/relationships" id="259" r:id="Rfd2a72f67f014bce"/>
    <p:sldId xmlns:r="http://schemas.openxmlformats.org/officeDocument/2006/relationships" id="260" r:id="Rff31d44944a44ba5"/>
    <p:sldId xmlns:r="http://schemas.openxmlformats.org/officeDocument/2006/relationships" id="261" r:id="R8fbdb18e51ca43a2"/>
    <p:sldId xmlns:r="http://schemas.openxmlformats.org/officeDocument/2006/relationships" id="262" r:id="R28ae104345c146a9"/>
    <p:sldId xmlns:r="http://schemas.openxmlformats.org/officeDocument/2006/relationships" id="263" r:id="R42c62f7bfdcd4f4c"/>
    <p:sldId xmlns:r="http://schemas.openxmlformats.org/officeDocument/2006/relationships" id="264" r:id="Rb3d9d1b2cf134ea8"/>
    <p:sldId xmlns:r="http://schemas.openxmlformats.org/officeDocument/2006/relationships" id="265" r:id="R84d86da5e76f442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8228cbf6dd24192" /><Relationship Type="http://schemas.openxmlformats.org/officeDocument/2006/relationships/slideMaster" Target="/ppt/slideMasters/slideMaster1.xml" Id="R0fa7f79c7b13475f" /><Relationship Type="http://schemas.openxmlformats.org/officeDocument/2006/relationships/notesMaster" Target="/ppt/notesMasters/notesMaster1.xml" Id="R58cde98ef6f04fd2" /><Relationship Type="http://schemas.openxmlformats.org/officeDocument/2006/relationships/presProps" Target="/ppt/presProps.xml" Id="R131de200a3c243ad" /><Relationship Type="http://schemas.openxmlformats.org/officeDocument/2006/relationships/tableStyles" Target="/ppt/tableStyles.xml" Id="R414b5a688dfd489f" /><Relationship Type="http://schemas.openxmlformats.org/officeDocument/2006/relationships/slide" Target="/ppt/slides/slide1.xml" Id="Reb8f57b303f64bcd" /><Relationship Type="http://schemas.openxmlformats.org/officeDocument/2006/relationships/slide" Target="/ppt/slides/slide2.xml" Id="R9fc6995b86354941" /><Relationship Type="http://schemas.openxmlformats.org/officeDocument/2006/relationships/slide" Target="/ppt/slides/slide3.xml" Id="R738d633362b94844" /><Relationship Type="http://schemas.openxmlformats.org/officeDocument/2006/relationships/slide" Target="/ppt/slides/slide4.xml" Id="Rfd2a72f67f014bce" /><Relationship Type="http://schemas.openxmlformats.org/officeDocument/2006/relationships/slide" Target="/ppt/slides/slide5.xml" Id="Rff31d44944a44ba5" /><Relationship Type="http://schemas.openxmlformats.org/officeDocument/2006/relationships/slide" Target="/ppt/slides/slide6.xml" Id="R8fbdb18e51ca43a2" /><Relationship Type="http://schemas.openxmlformats.org/officeDocument/2006/relationships/slide" Target="/ppt/slides/slide7.xml" Id="R28ae104345c146a9" /><Relationship Type="http://schemas.openxmlformats.org/officeDocument/2006/relationships/slide" Target="/ppt/slides/slide8.xml" Id="R42c62f7bfdcd4f4c" /><Relationship Type="http://schemas.openxmlformats.org/officeDocument/2006/relationships/slide" Target="/ppt/slides/slide9.xml" Id="Rb3d9d1b2cf134ea8" /><Relationship Type="http://schemas.openxmlformats.org/officeDocument/2006/relationships/slide" Target="/ppt/slides/slide10.xml" Id="R84d86da5e76f442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558bc77cfde4c7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Migration Resource Teaching">
      <a:dk1>
        <a:srgbClr val="000000"/>
      </a:dk1>
      <a:lt1>
        <a:srgbClr val="FFFFFF"/>
      </a:lt1>
      <a:dk2>
        <a:srgbClr val="123F3F"/>
      </a:dk2>
      <a:lt2>
        <a:srgbClr val="E7F0EE"/>
      </a:lt2>
      <a:accent1>
        <a:srgbClr val="0F5B5B"/>
      </a:accent1>
      <a:accent2>
        <a:srgbClr val="B84A24"/>
      </a:accent2>
      <a:accent3>
        <a:srgbClr val="A56A00"/>
      </a:accent3>
      <a:accent4>
        <a:srgbClr val="547248"/>
      </a:accent4>
      <a:accent5>
        <a:srgbClr val="4C6B78"/>
      </a:accent5>
      <a:accent6>
        <a:srgbClr val="7A8F8B"/>
      </a:accent6>
      <a:hlink>
        <a:srgbClr val="0F5B5B"/>
      </a:hlink>
      <a:folHlink>
        <a:srgbClr val="B84A24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Migration Resource Teaching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31ec0d46d29436c" /><Relationship Type="http://schemas.openxmlformats.org/officeDocument/2006/relationships/notesMaster" Target="/ppt/notesMasters/notesMaster1.xml" Id="R943d2db407f7438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2708a9f78704280" /><Relationship Type="http://schemas.openxmlformats.org/officeDocument/2006/relationships/notesMaster" Target="/ppt/notesMasters/notesMaster1.xml" Id="Radee158844a8442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7fde106a6514645" /><Relationship Type="http://schemas.openxmlformats.org/officeDocument/2006/relationships/notesMaster" Target="/ppt/notesMasters/notesMaster1.xml" Id="Ra5f2c1ceac6e47d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30116c36dff4574" /><Relationship Type="http://schemas.openxmlformats.org/officeDocument/2006/relationships/notesMaster" Target="/ppt/notesMasters/notesMaster1.xml" Id="Re0a013b79168446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551e1cbecb746b4" /><Relationship Type="http://schemas.openxmlformats.org/officeDocument/2006/relationships/notesMaster" Target="/ppt/notesMasters/notesMaster1.xml" Id="Rce06dce5aabd493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9c4942548234175" /><Relationship Type="http://schemas.openxmlformats.org/officeDocument/2006/relationships/notesMaster" Target="/ppt/notesMasters/notesMaster1.xml" Id="Rbaec908f39064fc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5d910f5fc894929" /><Relationship Type="http://schemas.openxmlformats.org/officeDocument/2006/relationships/notesMaster" Target="/ppt/notesMasters/notesMaster1.xml" Id="Rde1797eab0a241b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442432992ce44a6" /><Relationship Type="http://schemas.openxmlformats.org/officeDocument/2006/relationships/notesMaster" Target="/ppt/notesMasters/notesMaster1.xml" Id="Ra8496d6684dd481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0e4b5eff8f14148" /><Relationship Type="http://schemas.openxmlformats.org/officeDocument/2006/relationships/notesMaster" Target="/ppt/notesMasters/notesMaster1.xml" Id="R8e2a52850f4449a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86e4a120a38402c" /><Relationship Type="http://schemas.openxmlformats.org/officeDocument/2006/relationships/notesMaster" Target="/ppt/notesMasters/notesMaster1.xml" Id="Rc3a0df8747624e1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这份汇报只讨论新补的一组系统开销指标：带宽时间、并发、控制面流、排队和 base 维护。目的不是重新介绍 MEC，而是解释迁移到底占用了哪些资源，以及预热 base 是否值得。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四个指标分别回答不同问题。带宽时间衡量链路占用，迁移字节只回答搬了多少。并发数回答同一时刻有多少迁移一起跑。控制面流数量回答一次切换产生多少作业和镜像层下载。排队比例回答时间到底花在等待还是实际传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带宽时间不是只看搬了多少 MB，而是数据量乘以它占用链路的时间。SF 从 15052 降到 4392，Rome 从 16227 降到 10736。合成数据几乎没变，因为绝大多数目标是冷目标，增量仍然要传全量。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补跑的 DATA7 同口径结果已经存在。在 40 公里每小时、500 Mbps、12 辆车、1800 秒的平均结果中，拉镜像只占 2.2%，业务状态传输占 97.8%，排队接近 0。这说明 DATA7 中镜像层大多已有缓存，关键路径是状态传输。作为对照，SF 拉镜像约 4.3%，Rome 约 16.8%，合成数据约 74.9%。来源为 results/data7_report/metrics_summary.csv。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SF 和 Rome 平均只同时运行 1.5 到 3 个迁移，合成数据平均约 18 个。三者的峰值都到 48，因为 12 辆车的四类服务可能同时触发。控制面流每切换分别约 4.26、5.94 和 12.38，合成数据明显更高，因为它经常需要拉取很多镜像层。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当前排队时间占比是 0，因为链路还没有被打满。这个结果的价值是告诉我们：当前主要瓶颈是数据量，不是调度等待。如果下一步要研究调度，就必须增加压力，例如降低带宽、增加车辆数或增加并发，否则不同调度器不会产生差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 base 维护实验。策略是 reactive_delta，40 公里每小时，每 600 秒把 base 复制给四个邻居。SF 的中断从 4.82% 降到 2.78%，Rome 从 4.20% 降到 2.69%。但是总流量分别从 26.9 GB 增到 52.1 GB，以及从 61.1 GB 增到 89.7 GB，开销比明显上升。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这页把 base 维护解释成交易。SF 用总流量增加 94% 换来中断下降约 2 个百分点，Rome 用总流量增加 47% 换来中断下降约 1.5 个百分点。老师关心的存储问题正好在这里：base 副本占用邻居存储，后台复制占用链路，还需要失效和更新机制。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下一步不应只说复制给一个邻居。要把复制范围、刷新间隔和保存期限一起作为设计变量。只复制预测下一格看似把复制量降到四分之一，但这是一个上界假设，预测错时可能没有命中，仍要回退全量。实验应报告 base 命中率、额外后台流量、邻居存储占用和中断变化。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总结四点。第一，带宽时间比字节数更接近链路成本。第二，时间去向说明不同数据的优化重点不同。第三，当前没有排队，所以调度不是第一瓶颈。第四，base 维护确实降低中断，但会显著增加总流量和存储占用。下一阶段应联合研究 base 放置、复制范围和刷新间隔。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a35ce212894e6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c3528dea61497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fe97565f924ec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ea054c2089418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d62b9750e7408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4b6dec4367423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ACA1E75-0A0C-480A-8F2B-5CDEBCF8AF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FC138A8-1F5F-4BD8-BFF6-5D855BA7BB3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92801B6-2B9B-4DBA-8852-FC9F4BCA8D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26C2A0A-B963-4E72-8810-908DF2EE316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2098DCC-A293-4095-8646-48535E0B574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1AA089F-253D-4E82-A4AB-C9051B3495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034F846-E329-4076-8AFE-4FE7DA6BF8B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DC46037-C182-4F61-8249-52D8340B26F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4A6E199-CFEE-4E16-B342-3FB41DA5AD1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1A9F1AD-E6AB-41F5-91C7-E254287BA83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85441ecf3f4403e" /><Relationship Type="http://schemas.openxmlformats.org/officeDocument/2006/relationships/slideLayout" Target="/ppt/slideLayouts/slideLayout1.xml" Id="R646b7f50aa7c4fe6" /><Relationship Type="http://schemas.openxmlformats.org/officeDocument/2006/relationships/slideLayout" Target="/ppt/slideLayouts/slideLayout2.xml" Id="R161aa20551fa4058" /><Relationship Type="http://schemas.openxmlformats.org/officeDocument/2006/relationships/slideLayout" Target="/ppt/slideLayouts/slideLayout3.xml" Id="R5f12abb268944a7c" /><Relationship Type="http://schemas.openxmlformats.org/officeDocument/2006/relationships/slideLayout" Target="/ppt/slideLayouts/slideLayout4.xml" Id="R9af77befd996475d" /><Relationship Type="http://schemas.openxmlformats.org/officeDocument/2006/relationships/slideLayout" Target="/ppt/slideLayouts/slideLayout5.xml" Id="Rfbc4f0147cf24ada" /><Relationship Type="http://schemas.openxmlformats.org/officeDocument/2006/relationships/slideLayout" Target="/ppt/slideLayouts/slideLayout6.xml" Id="R6c2a5e797b8e4ea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46b7f50aa7c4fe6"/>
    <p:sldLayoutId xmlns:r="http://schemas.openxmlformats.org/officeDocument/2006/relationships" id="2147483650" r:id="R161aa20551fa4058"/>
    <p:sldLayoutId xmlns:r="http://schemas.openxmlformats.org/officeDocument/2006/relationships" id="2147483651" r:id="R5f12abb268944a7c"/>
    <p:sldLayoutId xmlns:r="http://schemas.openxmlformats.org/officeDocument/2006/relationships" id="2147483652" r:id="R9af77befd996475d"/>
    <p:sldLayoutId xmlns:r="http://schemas.openxmlformats.org/officeDocument/2006/relationships" id="2147483653" r:id="Rfbc4f0147cf24ada"/>
    <p:sldLayoutId xmlns:r="http://schemas.openxmlformats.org/officeDocument/2006/relationships" id="2147483654" r:id="R6c2a5e797b8e4ea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Migration Resource Teaching">
      <a:dk1>
        <a:srgbClr val="000000"/>
      </a:dk1>
      <a:lt1>
        <a:srgbClr val="FFFFFF"/>
      </a:lt1>
      <a:dk2>
        <a:srgbClr val="123F3F"/>
      </a:dk2>
      <a:lt2>
        <a:srgbClr val="E7F0EE"/>
      </a:lt2>
      <a:accent1>
        <a:srgbClr val="0F5B5B"/>
      </a:accent1>
      <a:accent2>
        <a:srgbClr val="B84A24"/>
      </a:accent2>
      <a:accent3>
        <a:srgbClr val="A56A00"/>
      </a:accent3>
      <a:accent4>
        <a:srgbClr val="547248"/>
      </a:accent4>
      <a:accent5>
        <a:srgbClr val="4C6B78"/>
      </a:accent5>
      <a:accent6>
        <a:srgbClr val="7A8F8B"/>
      </a:accent6>
      <a:hlink>
        <a:srgbClr val="0F5B5B"/>
      </a:hlink>
      <a:folHlink>
        <a:srgbClr val="B84A24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Migration Resource Teaching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d6a322b4d84009" /><Relationship Type="http://schemas.openxmlformats.org/officeDocument/2006/relationships/notesSlide" Target="/ppt/notesSlides/notesSlide1.xml" Id="R5fd88e06a4284e5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9b6b948e1f4648" /><Relationship Type="http://schemas.openxmlformats.org/officeDocument/2006/relationships/notesSlide" Target="/ppt/notesSlides/notesSlide2.xml" Id="R15fc6be2b02d463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4776aad295482f" /><Relationship Type="http://schemas.openxmlformats.org/officeDocument/2006/relationships/chart" Target="/ppt/slides/charts/chart1.xml" Id="R8b74acb9f4ed47ab" /><Relationship Type="http://schemas.openxmlformats.org/officeDocument/2006/relationships/notesSlide" Target="/ppt/notesSlides/notesSlide3.xml" Id="Rc7caff1f2fef465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77657712e94973" /><Relationship Type="http://schemas.openxmlformats.org/officeDocument/2006/relationships/chart" Target="/ppt/slides/charts/chart2.xml" Id="R66cede2cc92e4582" /><Relationship Type="http://schemas.openxmlformats.org/officeDocument/2006/relationships/notesSlide" Target="/ppt/notesSlides/notesSlide4.xml" Id="R2fe58f7a444e4f0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a21d2864cf4338" /><Relationship Type="http://schemas.openxmlformats.org/officeDocument/2006/relationships/notesSlide" Target="/ppt/notesSlides/notesSlide5.xml" Id="Ra517d20e5b0142a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f4c04e73284533" /><Relationship Type="http://schemas.openxmlformats.org/officeDocument/2006/relationships/notesSlide" Target="/ppt/notesSlides/notesSlide6.xml" Id="R8fd6ca1512d8493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d2e2551ac64346" /><Relationship Type="http://schemas.openxmlformats.org/officeDocument/2006/relationships/notesSlide" Target="/ppt/notesSlides/notesSlide7.xml" Id="R3d9b7b1e3ec9405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a7921b229e4ee1" /><Relationship Type="http://schemas.openxmlformats.org/officeDocument/2006/relationships/notesSlide" Target="/ppt/notesSlides/notesSlide8.xml" Id="R56fb1c37b48841f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207314e4574589" /><Relationship Type="http://schemas.openxmlformats.org/officeDocument/2006/relationships/notesSlide" Target="/ppt/notesSlides/notesSlide9.xml" Id="Rc5a87c6afd04425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ce4798056a4c15" /><Relationship Type="http://schemas.openxmlformats.org/officeDocument/2006/relationships/notesSlide" Target="/ppt/notesSlides/notesSlide10.xml" Id="Rfc358f3209e94e08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增量后占全量比例</c:v>
          </c:tx>
          <c:spPr>
            <a:solidFill xmlns:a="http://schemas.openxmlformats.org/drawingml/2006/main">
              <a:schemeClr val="accent1"/>
            </a:solidFill>
          </c:spPr>
          <c:cat>
            <c:strRef>
              <c:f>'Chart Data'!$A$2:$A$4</c:f>
              <c:strCache>
                <c:ptCount val="3"/>
                <c:pt idx="0">
                  <c:v>SF</c:v>
                </c:pt>
                <c:pt idx="1">
                  <c:v>Rome</c:v>
                </c:pt>
                <c:pt idx="2">
                  <c:v>合成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29.2</c:v>
                </c:pt>
                <c:pt idx="1">
                  <c:v>66.2</c:v>
                </c:pt>
                <c:pt idx="2">
                  <c:v>99.5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9D1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stacked"/>
        <c:varyColors val="0"/>
        <c:ser>
          <c:idx val="0"/>
          <c:order val="0"/>
          <c:tx>
            <c:v>拉取镜像</c:v>
          </c:tx>
          <c:spPr>
            <a:solidFill xmlns:a="http://schemas.openxmlformats.org/drawingml/2006/main">
              <a:schemeClr val="accent3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Data'!$A$2:$A$5</c:f>
              <c:strCache>
                <c:ptCount val="4"/>
                <c:pt idx="0">
                  <c:v>合成</c:v>
                </c:pt>
                <c:pt idx="1">
                  <c:v>Rome</c:v>
                </c:pt>
                <c:pt idx="2">
                  <c:v>SF</c:v>
                </c:pt>
                <c:pt idx="3">
                  <c:v>DATA7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74.9</c:v>
                </c:pt>
                <c:pt idx="1">
                  <c:v>16.8</c:v>
                </c:pt>
                <c:pt idx="2">
                  <c:v>4.3</c:v>
                </c:pt>
                <c:pt idx="3">
                  <c:v>2.2</c:v>
                </c:pt>
              </c:numCache>
            </c:numRef>
          </c:val>
        </c:ser>
        <c:ser>
          <c:idx val="1"/>
          <c:order val="1"/>
          <c:tx>
            <c:v>状态传输</c:v>
          </c:tx>
          <c:spPr>
            <a:solidFill xmlns:a="http://schemas.openxmlformats.org/drawingml/2006/main">
              <a:schemeClr val="accent1"/>
            </a:solidFill>
          </c:spPr>
          <c:cat>
            <c:strRef>
              <c:f>'Chart Data'!$C$2:$C$5</c:f>
              <c:strCache>
                <c:ptCount val="4"/>
                <c:pt idx="0">
                  <c:v>合成</c:v>
                </c:pt>
                <c:pt idx="1">
                  <c:v>Rome</c:v>
                </c:pt>
                <c:pt idx="2">
                  <c:v>SF</c:v>
                </c:pt>
                <c:pt idx="3">
                  <c:v>DATA7</c:v>
                </c:pt>
              </c:strCache>
            </c:strRef>
          </c:cat>
          <c:val>
            <c:numRef>
              <c:f>'Chart Data'!$D$2:$D$5</c:f>
              <c:numCache>
                <c:formatCode>General</c:formatCode>
                <c:ptCount val="4"/>
                <c:pt idx="0">
                  <c:v>25.1</c:v>
                </c:pt>
                <c:pt idx="1">
                  <c:v>83.2</c:v>
                </c:pt>
                <c:pt idx="2">
                  <c:v>95.7</c:v>
                </c:pt>
                <c:pt idx="3">
                  <c:v>97.8</c:v>
                </c:pt>
              </c:numCache>
            </c:numRef>
          </c:val>
        </c:ser>
        <c:dLbls>
          <c:numFmt formatCode="0.0&quot;%&quot;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FFFFFF"/>
                  </a:solidFill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8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0&quot;%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D9D9D1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legend>
      <c:legendPos val="b"/>
      <c:overlay val="0"/>
    </c:legend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E3A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E2A210-2BD5-4CBD-8F06-F4096F176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1">
                <a:solidFill>
                  <a:srgbClr val="BFD6D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975" b="1">
                <a:solidFill>
                  <a:srgbClr val="BFD6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BFD6D2"/>
                </a:solidFill>
                <a:latin typeface="Microsoft YaHei"/>
                <a:ea typeface="Microsoft YaHei"/>
                <a:cs typeface="Microsoft YaHei"/>
              </a:rPr>
              <a:t>迁移开销专题  /  2026年10月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D6C617-0EF7-4CEA-BFF8-D2E84EFEE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001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迁移不只搬字节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还要占多久、并发多少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E21A94-F034-4072-BFC7-03A2CAB34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05200"/>
            <a:ext cx="914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B8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CC9EB1-A02B-482D-A589-FEDE3F05A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D6E5E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650" b="0">
                <a:solidFill>
                  <a:srgbClr val="D6E5E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D6E5E2"/>
                </a:solidFill>
                <a:latin typeface="Microsoft YaHei"/>
                <a:ea typeface="Microsoft YaHei"/>
                <a:cs typeface="Microsoft YaHei"/>
              </a:rPr>
              <a:t>资源时间、并发、排队与 base 维护评估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1BD151-5936-4AEE-95CD-424537099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981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BFD6D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275" b="0">
                <a:solidFill>
                  <a:srgbClr val="BFD6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FD6D2"/>
                </a:solidFill>
                <a:latin typeface="Microsoft YaHei"/>
                <a:ea typeface="Microsoft YaHei"/>
                <a:cs typeface="Microsoft YaHei"/>
              </a:rPr>
              <a:t>核心问题：一次迁移给链路、控制面和用户连续性带来了多少真实代价。</a:t>
            </a:r>
          </a:p>
        </p:txBody>
      </p:sp>
    </p:spTree>
    <p:extLst>
      <p:ext uri="{BB962C8B-B14F-4D97-AF65-F5344CB8AC3E}">
        <p14:creationId xmlns:p14="http://schemas.microsoft.com/office/powerpoint/2010/main" val="165800403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27989C-F212-4BAB-A125-C31BEB83C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02  资源与开销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14D79C-1266-4C2B-B969-9B2010A99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四个新增指标补齐了字节之外的资源成本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D38679-77DF-4296-B429-5A1C1EE97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62F910-5A46-4340-BB13-FCBF82335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3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带宽-时间积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FF8E90-789C-4CF3-B4CC-A1B5989E8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800225"/>
            <a:ext cx="4343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4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14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4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迁移数据量 × 占用链路的时间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DFBCEA-7C84-4F57-93F0-A0B63E98E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800225"/>
            <a:ext cx="4076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8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08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链路在多久内被占用了多少容量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94CA3E-108B-4073-B023-FD2166AED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E76C4A-9AFE-4078-9A6B-C8D3EEE96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3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并发迁移数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7BBAD6-6B66-459E-8712-D08FB262E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676525"/>
            <a:ext cx="4343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4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14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4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同一时刻正在运行的迁移数量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99F1D9-894E-49E2-8683-200ABBCBB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676525"/>
            <a:ext cx="4076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8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08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是否形成瞬时洪峰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F09D4B-99C5-4137-BCD3-1E847520E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5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155E32-E5D0-48AE-88FF-55BB6F2F7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3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控制面流/切换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E601C6-BD51-4EDA-85C1-CC45A7523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552825"/>
            <a:ext cx="4343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4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14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4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每次 handover 对应的状态流与镜像层流数量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2F3E31-B283-47F9-A43F-3B00A00CA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552825"/>
            <a:ext cx="4076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8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08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迁移作业本身有多复杂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944279-A587-4E35-87DE-E11499CD8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7E6ED1-42E7-49EF-8B2A-6AA3297E1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96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B84A2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350" b="1">
                <a:solidFill>
                  <a:srgbClr val="B84A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B84A24"/>
                </a:solidFill>
                <a:latin typeface="Microsoft YaHei"/>
                <a:ea typeface="Microsoft YaHei"/>
                <a:cs typeface="Microsoft YaHei"/>
              </a:rPr>
              <a:t>排队时间占比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712875-03CF-4A2A-8281-5CA6AAA36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429125"/>
            <a:ext cx="4343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4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14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4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迁移总时长中等待资源或调度的比例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6C47A9-B43A-4CDE-A6A6-EC9D37BDE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429125"/>
            <a:ext cx="4076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8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08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瓶颈在数据量还是调度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D7D742-8885-428C-852B-E504D4F2B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1FA298-3F81-451B-A01D-1102B8A58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1180B6-FB21-422F-AB63-91DE06821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2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只看迁移 GB，会漏掉链路占用时间和管理复杂度。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4D0F6F-B56A-4244-8410-522C6252E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3415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28000"/>
              </a:lnSpc>
              <a:buNone/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84290801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A3105F-494F-4FB0-863D-95FC36967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03  资源与开销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BBEFC4-98E0-4197-A4DE-71A9D0E37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增量在真实轨迹上大幅降低链路占用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00C0FC-10EC-48A8-BA36-5A94E596D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BC4B6B-9CCE-4446-BA5C-C32D34924469}"/>
              </a:ext>
            </a:extLst>
          </p:cNvPr>
          <p:cNvGraphicFramePr/>
          <p:nvPr/>
        </p:nvGraphicFramePr>
        <p:xfrm>
          <a:off xmlns:a="http://schemas.openxmlformats.org/drawingml/2006/main" x="685800" y="1847850"/>
          <a:ext xmlns:a="http://schemas.openxmlformats.org/drawingml/2006/main" cx="4953000" cy="2476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428750"/>
                <a:gridCol w="1762125"/>
                <a:gridCol w="1762125"/>
              </a:tblGrid>
              <a:tr h="619125">
                <a:tc>
                  <a:txBody>
                    <a:bodyPr/>
                    <a:lstStyle/>
                    <a:p>
                      <a:pPr algn="l"/>
                      <a:r>
                        <a:rPr sz="975" b="1">
                          <a:solidFill>
                            <a:srgbClr val="FFFFFF"/>
                          </a:solidFill>
                        </a:rPr>
                        <a:t>数据</a:t>
                      </a:r>
                    </a:p>
                  </a:txBody>
                  <a:tcPr marL="91440" marR="91440" marT="45720" marB="45720">
                    <a:solidFill>
                      <a:srgbClr val="0F5B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全量 MB·s/切换</a:t>
                      </a:r>
                    </a:p>
                  </a:txBody>
                  <a:tcPr marL="91440" marR="91440" marT="45720" marB="45720">
                    <a:solidFill>
                      <a:srgbClr val="0F5B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增量 MB·s/切换</a:t>
                      </a:r>
                    </a:p>
                  </a:txBody>
                  <a:tcPr marL="91440" marR="91440" marT="45720" marB="45720">
                    <a:solidFill>
                      <a:srgbClr val="0F5B5B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B1B19"/>
                          </a:solidFill>
                        </a:rPr>
                        <a:t>SF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15,052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4,392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B1B19"/>
                          </a:solidFill>
                        </a:rPr>
                        <a:t>Rome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16,227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10,736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B1B19"/>
                          </a:solidFill>
                        </a:rPr>
                        <a:t>合成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102,793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102,301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F095B073-917B-4015-B71D-9F63823EB9B6}"/>
              </a:ext>
            </a:extLst>
          </p:cNvPr>
          <p:cNvGraphicFramePr/>
          <p:nvPr/>
        </p:nvGraphicFramePr>
        <p:xfrm>
          <a:off xmlns:a="http://schemas.openxmlformats.org/drawingml/2006/main" x="6229350" y="1847850"/>
          <a:ext xmlns:a="http://schemas.openxmlformats.org/drawingml/2006/main" cx="5276850" cy="2476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b74acb9f4ed47ab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55E7EE-099A-4FDD-B841-537ADED63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400550"/>
            <a:ext cx="5276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9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单位：% ；增量后的带宽-时间积 ÷ 全量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A10F2B-D437-4AFE-ADA4-A24FC9B0C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8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18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8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SF 的增量把链路占用降到约三成。合成数据只降到 99.5%，因为 92.9% 的迁移目标没有 base，实际仍然接近全量传输。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B17837-DC3D-4943-B563-2476C0E60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743605-344F-40AA-AE7C-EB6677035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2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增量不是固定收益；base 是否命中决定它能否减少链路占用时间。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921855-0B15-4021-9BC7-71949BDD3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3415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28000"/>
              </a:lnSpc>
              <a:buNone/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93931054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7B8B58-7D41-4001-8076-70CFB9C79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04  资源与开销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7B40E6-6985-47F8-9451-6A3CD6DC4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DATA7 的迁移时间几乎都花在传状态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6A0E15-E688-43EB-A7FA-4BD96D8CC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DEFC7F44-9CB8-4AD3-96DF-51613F2204E0}"/>
              </a:ext>
            </a:extLst>
          </p:cNvPr>
          <p:cNvGraphicFramePr/>
          <p:nvPr/>
        </p:nvGraphicFramePr>
        <p:xfrm>
          <a:off xmlns:a="http://schemas.openxmlformats.org/drawingml/2006/main" x="685800" y="1809750"/>
          <a:ext xmlns:a="http://schemas.openxmlformats.org/drawingml/2006/main" cx="733425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6cede2cc92e4582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2E102E-A23F-4953-892E-C96D64F9C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733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1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91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拉镜像占比：DATA7 2.2%  |  SF 4.3%  |  Rome 16.8%  |  合成 74.9%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84C2E0-6B49-4B3E-86F3-ABF167D3F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809750"/>
            <a:ext cx="320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3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DATA7 新增结果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DF057C-7B5B-4053-8642-525D89CB7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09800"/>
            <a:ext cx="320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725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拉镜像 2.2%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725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状态传输 97.8%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5D6C58-D58B-4C97-AA64-BDE1315E7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295650"/>
            <a:ext cx="32004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88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42000"/>
              </a:lnSpc>
              <a:buNone/>
              <a:defRPr sz="1088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DATA7 中镜像层大多已有缓存，因此关键路径主要受会话状态传输影响。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42000"/>
              </a:lnSpc>
              <a:buNone/>
              <a:defRPr sz="1088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合成数据相反，约 75% 的时间在拉镜像。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747E75-80E7-4978-A93A-9FCE20250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914900"/>
            <a:ext cx="32004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6EEDC"/>
          </a:solidFill>
          <a:ln xmlns:a="http://schemas.openxmlformats.org/drawingml/2006/main" w="9525">
            <a:solidFill>
              <a:srgbClr val="D7B56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3824E4-B049-44A8-99BB-C37216C4A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0101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1">
                <a:solidFill>
                  <a:srgbClr val="A56A0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013" b="1">
                <a:solidFill>
                  <a:srgbClr val="A56A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A56A00"/>
                </a:solidFill>
                <a:latin typeface="Microsoft YaHei"/>
                <a:ea typeface="Microsoft YaHei"/>
                <a:cs typeface="Microsoft YaHei"/>
              </a:rPr>
              <a:t>排队时间占比：0%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E75528-0D0B-485F-9ACD-C43861CC8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AB2A12-6B0D-4BA3-9510-AF627BCD1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2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DATA7 的优化重点应放在状态传输，而不是继续优化镜像拉取。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6E0E40-9786-450C-8B9D-3DF131FDE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3415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28000"/>
              </a:lnSpc>
              <a:buNone/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5196495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BA9821-0E9D-47C5-86DA-811F9EF53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05  资源与开销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DDAC37-4060-49C0-A331-6F0318F65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并发与镜像层数量决定瞬时管理压力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BDF1D8-3EF3-44CD-A073-DE9040209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E1B659-D87E-4607-A540-1DE28DCC1000}"/>
              </a:ext>
            </a:extLst>
          </p:cNvPr>
          <p:cNvGraphicFramePr/>
          <p:nvPr/>
        </p:nvGraphicFramePr>
        <p:xfrm>
          <a:off xmlns:a="http://schemas.openxmlformats.org/drawingml/2006/main" x="685800" y="1790700"/>
          <a:ext xmlns:a="http://schemas.openxmlformats.org/drawingml/2006/main" cx="10820400" cy="28003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000250"/>
                <a:gridCol w="2095500"/>
                <a:gridCol w="2095500"/>
                <a:gridCol w="4629150"/>
              </a:tblGrid>
              <a:tr h="560070">
                <a:tc>
                  <a:txBody>
                    <a:bodyPr/>
                    <a:lstStyle/>
                    <a:p>
                      <a:pPr algn="l"/>
                      <a:r>
                        <a:rPr sz="975" b="1">
                          <a:solidFill>
                            <a:srgbClr val="FFFFFF"/>
                          </a:solidFill>
                        </a:rPr>
                        <a:t>数据</a:t>
                      </a:r>
                    </a:p>
                  </a:txBody>
                  <a:tcPr marL="91440" marR="91440" marT="45720" marB="45720">
                    <a:solidFill>
                      <a:srgbClr val="0F5B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平均并发迁移</a:t>
                      </a:r>
                    </a:p>
                  </a:txBody>
                  <a:tcPr marL="91440" marR="91440" marT="45720" marB="45720">
                    <a:solidFill>
                      <a:srgbClr val="0F5B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并发峰值</a:t>
                      </a:r>
                    </a:p>
                  </a:txBody>
                  <a:tcPr marL="91440" marR="91440" marT="45720" marB="45720">
                    <a:solidFill>
                      <a:srgbClr val="0F5B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控制面流/切换</a:t>
                      </a:r>
                    </a:p>
                  </a:txBody>
                  <a:tcPr marL="91440" marR="91440" marT="45720" marB="45720">
                    <a:solidFill>
                      <a:srgbClr val="0F5B5B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/>
                      <a:r>
                        <a:rPr sz="1013">
                          <a:solidFill>
                            <a:srgbClr val="1B1B19"/>
                          </a:solidFill>
                        </a:rPr>
                        <a:t>SF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3">
                          <a:solidFill>
                            <a:srgbClr val="1B1B19"/>
                          </a:solidFill>
                        </a:rPr>
                        <a:t>1.53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3">
                          <a:solidFill>
                            <a:srgbClr val="1B1B19"/>
                          </a:solidFill>
                        </a:rPr>
                        <a:t>48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3">
                          <a:solidFill>
                            <a:srgbClr val="1B1B19"/>
                          </a:solidFill>
                        </a:rPr>
                        <a:t>4.26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/>
                      <a:r>
                        <a:rPr sz="1013">
                          <a:solidFill>
                            <a:srgbClr val="1B1B19"/>
                          </a:solidFill>
                        </a:rPr>
                        <a:t>Rome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3">
                          <a:solidFill>
                            <a:srgbClr val="1B1B19"/>
                          </a:solidFill>
                        </a:rPr>
                        <a:t>2.94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3">
                          <a:solidFill>
                            <a:srgbClr val="1B1B19"/>
                          </a:solidFill>
                        </a:rPr>
                        <a:t>48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3">
                          <a:solidFill>
                            <a:srgbClr val="1B1B19"/>
                          </a:solidFill>
                        </a:rPr>
                        <a:t>5.94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/>
                      <a:r>
                        <a:rPr sz="1013">
                          <a:solidFill>
                            <a:srgbClr val="1B1B19"/>
                          </a:solidFill>
                        </a:rPr>
                        <a:t>合成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3">
                          <a:solidFill>
                            <a:srgbClr val="1B1B19"/>
                          </a:solidFill>
                        </a:rPr>
                        <a:t>17.81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3">
                          <a:solidFill>
                            <a:srgbClr val="1B1B19"/>
                          </a:solidFill>
                        </a:rPr>
                        <a:t>48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3">
                          <a:solidFill>
                            <a:srgbClr val="1B1B19"/>
                          </a:solidFill>
                        </a:rPr>
                        <a:t>12.38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33F1D8-8D4A-472F-9090-1A16D20E0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514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38000"/>
              </a:lnSpc>
              <a:buNone/>
              <a:defRPr sz="1125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并发峰值 48 = 12 辆车 × 每车 4 个服务。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125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说明切换发生时，所有服务实例可能同时进入迁移。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8D925A-267A-4185-BA47-EFC00C9B9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76800"/>
            <a:ext cx="5314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38000"/>
              </a:lnSpc>
              <a:buNone/>
              <a:defRPr sz="112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合成数据每次切换约产生 12.38 条控制面流，远高于 SF 的 4.26，主要来自需要拉取的镜像层。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68B993-5F75-404D-A2B6-4732445C6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906B77-ADAF-4B14-815E-3F30800E2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2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迁移数量相同，不代表控制面压力相同；镜像层会把一次切换放大成多条工作流。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45A68E-03B7-48AF-BDDF-B087FCF9B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3415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28000"/>
              </a:lnSpc>
              <a:buNone/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17124120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ECAC8C-C99C-4092-A19C-2D0CEBFDD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06  资源与开销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F16E50-1271-4754-B7B7-B190F9AFC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当前没有明显排队，瓶颈仍是数据量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3051FD-9734-4663-8A3F-3D1D7CD8B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F862F3-6245-4CB5-AA7A-9ABE65E87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2381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6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46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0%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1F6EDC-CD75-410E-AF2D-B59F1A10D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8859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6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排队时间占比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9619FC-185D-48FF-97BA-A1995FB21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381250"/>
            <a:ext cx="723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63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38000"/>
              </a:lnSpc>
              <a:buNone/>
              <a:defRPr sz="1163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当前 500 Mbps、12 辆车的配置下，链路利用率约 3%–11%，迁移基本一开始就能传，没有等待队列。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D0B243-E024-4CA1-95AB-30AB3C535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51435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E7F0EE"/>
          </a:solidFill>
          <a:ln xmlns:a="http://schemas.openxmlformats.org/drawingml/2006/main" w="9525">
            <a:solidFill>
              <a:srgbClr val="0F5B5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CF6B13-382A-4F91-933E-963B27C37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43300"/>
            <a:ext cx="468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2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这个结果说明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76CF60-0534-408E-9595-CD00BECC4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43350"/>
            <a:ext cx="4686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4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14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4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先优化数据量和镜像拉取，比优化调度优先级更直接。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14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4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当前结果不能证明调度算法无效。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9DAACB-C940-446A-982B-57AD03701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52800"/>
            <a:ext cx="52197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6EEDC"/>
          </a:solidFill>
          <a:ln xmlns:a="http://schemas.openxmlformats.org/drawingml/2006/main" w="9525">
            <a:solidFill>
              <a:srgbClr val="D7B56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F09BE1-3BD3-462A-A8DB-B14B6ECAE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433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A56A0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275" b="1">
                <a:solidFill>
                  <a:srgbClr val="A56A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A56A00"/>
                </a:solidFill>
                <a:latin typeface="Microsoft YaHei"/>
                <a:ea typeface="Microsoft YaHei"/>
                <a:cs typeface="Microsoft YaHei"/>
              </a:rPr>
              <a:t>要研究调度，需要制造拥塞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652B13-5287-44BE-A969-7277C0947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943350"/>
            <a:ext cx="476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4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14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4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降低带宽、增加车辆数、提高并发，或给迁移设置专用带宽后，再比较调度与排队策略。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A3FE98-B300-43AE-AD8D-832ACBDEF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19FEA0-99AB-4E5D-95AE-D66D5ECBB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2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排队时间为 0 是当前负载的诊断，不是迁移系统的普遍结论。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5E1E88-DE46-4C55-A2E6-42FC95A20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3415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28000"/>
              </a:lnSpc>
              <a:buNone/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11046018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325724-2252-465F-9269-EF12CD324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07  资源与开销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ACBF17-C4C3-4534-B3EA-1F9521797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预热 base 能降低中断，但要支付后台复制流量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B5F7A2-DB41-4F2C-AFB3-383F8069F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CE3D6A-8625-4E3E-B4D8-4E1FBAEDEB41}"/>
              </a:ext>
            </a:extLst>
          </p:cNvPr>
          <p:cNvGraphicFramePr/>
          <p:nvPr/>
        </p:nvGraphicFramePr>
        <p:xfrm>
          <a:off xmlns:a="http://schemas.openxmlformats.org/drawingml/2006/main" x="685800" y="1790700"/>
          <a:ext xmlns:a="http://schemas.openxmlformats.org/drawingml/2006/main" cx="10820400" cy="3238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238250"/>
                <a:gridCol w="1428750"/>
                <a:gridCol w="1381125"/>
                <a:gridCol w="1714500"/>
                <a:gridCol w="1666875"/>
                <a:gridCol w="1676400"/>
                <a:gridCol w="1714500"/>
              </a:tblGrid>
              <a:tr h="647700">
                <a:tc>
                  <a:txBody>
                    <a:bodyPr/>
                    <a:lstStyle/>
                    <a:p>
                      <a:pPr algn="l"/>
                      <a:r>
                        <a:rPr sz="975" b="1">
                          <a:solidFill>
                            <a:srgbClr val="FFFFFF"/>
                          </a:solidFill>
                        </a:rPr>
                        <a:t>数据</a:t>
                      </a:r>
                    </a:p>
                  </a:txBody>
                  <a:tcPr marL="91440" marR="91440" marT="45720" marB="45720">
                    <a:solidFill>
                      <a:srgbClr val="0F5B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维护</a:t>
                      </a:r>
                    </a:p>
                  </a:txBody>
                  <a:tcPr marL="91440" marR="91440" marT="45720" marB="45720">
                    <a:solidFill>
                      <a:srgbClr val="0F5B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中断</a:t>
                      </a:r>
                    </a:p>
                  </a:txBody>
                  <a:tcPr marL="91440" marR="91440" marT="45720" marB="45720">
                    <a:solidFill>
                      <a:srgbClr val="0F5B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迁移字节</a:t>
                      </a:r>
                    </a:p>
                  </a:txBody>
                  <a:tcPr marL="91440" marR="91440" marT="45720" marB="45720">
                    <a:solidFill>
                      <a:srgbClr val="0F5B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base 复制</a:t>
                      </a:r>
                    </a:p>
                  </a:txBody>
                  <a:tcPr marL="91440" marR="91440" marT="45720" marB="45720">
                    <a:solidFill>
                      <a:srgbClr val="0F5B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总流量</a:t>
                      </a:r>
                    </a:p>
                  </a:txBody>
                  <a:tcPr marL="91440" marR="91440" marT="45720" marB="45720">
                    <a:solidFill>
                      <a:srgbClr val="0F5B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开销比</a:t>
                      </a:r>
                    </a:p>
                  </a:txBody>
                  <a:tcPr marL="91440" marR="91440" marT="45720" marB="45720">
                    <a:solidFill>
                      <a:srgbClr val="0F5B5B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algn="l"/>
                      <a:r>
                        <a:rPr sz="930">
                          <a:solidFill>
                            <a:srgbClr val="1B1B19"/>
                          </a:solidFill>
                        </a:rPr>
                        <a:t>SF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>
                          <a:solidFill>
                            <a:srgbClr val="1B1B19"/>
                          </a:solidFill>
                        </a:rPr>
                        <a:t>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>
                          <a:solidFill>
                            <a:srgbClr val="1B1B19"/>
                          </a:solidFill>
                        </a:rPr>
                        <a:t>4.82%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>
                          <a:solidFill>
                            <a:srgbClr val="1B1B19"/>
                          </a:solidFill>
                        </a:rPr>
                        <a:t>26.9 GB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>
                          <a:solidFill>
                            <a:srgbClr val="1B1B19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>
                          <a:solidFill>
                            <a:srgbClr val="1B1B19"/>
                          </a:solidFill>
                        </a:rPr>
                        <a:t>26.9 GB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>
                          <a:solidFill>
                            <a:srgbClr val="1B1B19"/>
                          </a:solidFill>
                        </a:rPr>
                        <a:t>3.85×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algn="l"/>
                      <a:r>
                        <a:rPr sz="930">
                          <a:solidFill>
                            <a:srgbClr val="1B1B19"/>
                          </a:solidFill>
                        </a:rPr>
                        <a:t>SF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>
                          <a:solidFill>
                            <a:srgbClr val="1B1B19"/>
                          </a:solidFill>
                        </a:rPr>
                        <a:t>是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>
                          <a:solidFill>
                            <a:srgbClr val="1B1B19"/>
                          </a:solidFill>
                        </a:rPr>
                        <a:t>2.78%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>
                          <a:solidFill>
                            <a:srgbClr val="1B1B19"/>
                          </a:solidFill>
                        </a:rPr>
                        <a:t>18.1 GB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>
                          <a:solidFill>
                            <a:srgbClr val="1B1B19"/>
                          </a:solidFill>
                        </a:rPr>
                        <a:t>34.0 GB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>
                          <a:solidFill>
                            <a:srgbClr val="1B1B19"/>
                          </a:solidFill>
                        </a:rPr>
                        <a:t>52.1 GB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>
                          <a:solidFill>
                            <a:srgbClr val="1B1B19"/>
                          </a:solidFill>
                        </a:rPr>
                        <a:t>7.47×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algn="l"/>
                      <a:r>
                        <a:rPr sz="930">
                          <a:solidFill>
                            <a:srgbClr val="1B1B19"/>
                          </a:solidFill>
                        </a:rPr>
                        <a:t>Rome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>
                          <a:solidFill>
                            <a:srgbClr val="1B1B19"/>
                          </a:solidFill>
                        </a:rPr>
                        <a:t>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>
                          <a:solidFill>
                            <a:srgbClr val="1B1B19"/>
                          </a:solidFill>
                        </a:rPr>
                        <a:t>4.20%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>
                          <a:solidFill>
                            <a:srgbClr val="1B1B19"/>
                          </a:solidFill>
                        </a:rPr>
                        <a:t>61.1 GB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>
                          <a:solidFill>
                            <a:srgbClr val="1B1B19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>
                          <a:solidFill>
                            <a:srgbClr val="1B1B19"/>
                          </a:solidFill>
                        </a:rPr>
                        <a:t>61.1 GB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>
                          <a:solidFill>
                            <a:srgbClr val="1B1B19"/>
                          </a:solidFill>
                        </a:rPr>
                        <a:t>8.75×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algn="l"/>
                      <a:r>
                        <a:rPr sz="930">
                          <a:solidFill>
                            <a:srgbClr val="1B1B19"/>
                          </a:solidFill>
                        </a:rPr>
                        <a:t>Rome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>
                          <a:solidFill>
                            <a:srgbClr val="1B1B19"/>
                          </a:solidFill>
                        </a:rPr>
                        <a:t>是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>
                          <a:solidFill>
                            <a:srgbClr val="1B1B19"/>
                          </a:solidFill>
                        </a:rPr>
                        <a:t>2.69%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>
                          <a:solidFill>
                            <a:srgbClr val="1B1B19"/>
                          </a:solidFill>
                        </a:rPr>
                        <a:t>47.4 GB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>
                          <a:solidFill>
                            <a:srgbClr val="1B1B19"/>
                          </a:solidFill>
                        </a:rPr>
                        <a:t>42.3 GB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>
                          <a:solidFill>
                            <a:srgbClr val="1B1B19"/>
                          </a:solidFill>
                        </a:rPr>
                        <a:t>89.7 GB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>
                          <a:solidFill>
                            <a:srgbClr val="1B1B19"/>
                          </a:solidFill>
                        </a:rPr>
                        <a:t>12.85×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1DE6C7-0C3E-4B23-9631-2D6D5949A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实验：每 600 秒把 base 复制给 4 个相邻节点；比较 reactive_delta 在 40 km/h 下的结果。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1DFDA4-EFB5-40D7-A556-A3A08BEE5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23B603-CF03-4206-8006-0FFED2D3C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2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base 维护确实买到连续性，但后台复制成本可能超过省下的迁移字节。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8A0867-450D-4234-8A6D-000CCF265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3415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28000"/>
              </a:lnSpc>
              <a:buNone/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9350912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1DCB62-ECAD-4189-B531-FC0F556FD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08  资源与开销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F8AF9B-5CBD-412D-9F4C-D99835675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base 维护是一项“中断换流量”的交易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D3E2D1-A1F9-43F2-89F5-050D4CA70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3479B6-9A75-443A-BF00-FE41352FA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80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6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SF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E87CCD-9B5E-4403-BE9E-DD4CDD547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809750"/>
            <a:ext cx="45720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EBF1E7"/>
          </a:solidFill>
          <a:ln xmlns:a="http://schemas.openxmlformats.org/drawingml/2006/main" w="9525">
            <a:solidFill>
              <a:srgbClr val="BDD0B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EE6CCB-C11E-4D4C-B595-EA2A2ED17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000250"/>
            <a:ext cx="411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54724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275" b="1">
                <a:solidFill>
                  <a:srgbClr val="5472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547248"/>
                </a:solidFill>
                <a:latin typeface="Microsoft YaHei"/>
                <a:ea typeface="Microsoft YaHei"/>
                <a:cs typeface="Microsoft YaHei"/>
              </a:rPr>
              <a:t>中断下降 2.04 个百分点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C56D18-3B1D-4BF3-905E-ED4AF162A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400300"/>
            <a:ext cx="411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99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收益：服务不可用时间减少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4DE2E8-E726-4125-A7F7-36F8C367B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809750"/>
            <a:ext cx="50673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7E8E2"/>
          </a:solidFill>
          <a:ln xmlns:a="http://schemas.openxmlformats.org/drawingml/2006/main" w="9525">
            <a:solidFill>
              <a:srgbClr val="DDB1A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01A63D-EAC5-40B2-A651-28BD2972F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00250"/>
            <a:ext cx="461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B84A2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275" b="1">
                <a:solidFill>
                  <a:srgbClr val="B84A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B84A24"/>
                </a:solidFill>
                <a:latin typeface="Microsoft YaHei"/>
                <a:ea typeface="Microsoft YaHei"/>
                <a:cs typeface="Microsoft YaHei"/>
              </a:rPr>
              <a:t>总流量增加 94%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57117D-56FB-4771-A7E6-E16135015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00300"/>
            <a:ext cx="461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99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代价：额外复制 +25.2 GB，还要占用邻居存储和链路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FBCED7-995B-45DC-9160-7DD6016A8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80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B84A2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650" b="1">
                <a:solidFill>
                  <a:srgbClr val="B84A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B84A24"/>
                </a:solidFill>
                <a:latin typeface="Microsoft YaHei"/>
                <a:ea typeface="Microsoft YaHei"/>
                <a:cs typeface="Microsoft YaHei"/>
              </a:rPr>
              <a:t>Rome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1B4D11-98CF-419E-A7AE-A1949E3BF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390900"/>
            <a:ext cx="45720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EBF1E7"/>
          </a:solidFill>
          <a:ln xmlns:a="http://schemas.openxmlformats.org/drawingml/2006/main" w="9525">
            <a:solidFill>
              <a:srgbClr val="BDD0B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EFEA0F-D938-4227-B45B-473739DB7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581400"/>
            <a:ext cx="411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54724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275" b="1">
                <a:solidFill>
                  <a:srgbClr val="5472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547248"/>
                </a:solidFill>
                <a:latin typeface="Microsoft YaHei"/>
                <a:ea typeface="Microsoft YaHei"/>
                <a:cs typeface="Microsoft YaHei"/>
              </a:rPr>
              <a:t>中断下降 1.51 个百分点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D3E9F5-20ED-4474-9F88-CEC53C0C3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981450"/>
            <a:ext cx="411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99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收益：服务不可用时间减少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432D09-26B7-4FD4-8530-B0E8AA0E1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390900"/>
            <a:ext cx="50673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7E8E2"/>
          </a:solidFill>
          <a:ln xmlns:a="http://schemas.openxmlformats.org/drawingml/2006/main" w="9525">
            <a:solidFill>
              <a:srgbClr val="DDB1A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07882E-F857-4F75-A063-6289D68B1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81400"/>
            <a:ext cx="461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B84A2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275" b="1">
                <a:solidFill>
                  <a:srgbClr val="B84A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B84A24"/>
                </a:solidFill>
                <a:latin typeface="Microsoft YaHei"/>
                <a:ea typeface="Microsoft YaHei"/>
                <a:cs typeface="Microsoft YaHei"/>
              </a:rPr>
              <a:t>总流量增加 47%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CDE6A7-5D16-4966-8B65-06D5DB5B1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81450"/>
            <a:ext cx="461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99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代价：额外复制 +28.6 GB，还要占用邻居存储和链路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D989D5-A822-40F9-927E-F94679FFF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8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38000"/>
              </a:lnSpc>
              <a:buNone/>
              <a:defRPr sz="118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8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因此问题已经明确：base 需要存到哪些节点、复制给谁、多久复制一次。单纯“有 base”不足以说明方案更优。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A90430-879F-4F2C-ADD2-239313BBE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A380F1-02BA-449F-B1B5-4428C826A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2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优化目标应从“是否预热”改成“用多少存储和后台流量换取多少连续性”。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336276-BE86-4A3C-8DF8-D88FF0E0D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3415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28000"/>
              </a:lnSpc>
              <a:buNone/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57349037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B1F895-823D-4FD3-979B-3C565957C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09  资源与开销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588B90-852F-43B8-8CC3-9E05B4785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下一组实验研究 base 的放置范围与刷新间隔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797708-B448-40B8-9702-DC8EA2274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3F408A-C6A0-434E-903C-DF210054A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5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复制给谁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63A367-AF24-482B-8789-0F6487F68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63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45000"/>
              </a:lnSpc>
              <a:buNone/>
              <a:defRPr sz="1163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四邻居 / 预测下一格 / 高概率下一跳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2EB341-D58A-4FD6-9637-CA94A6A2E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6C8C8B-CB2B-4DB8-8078-33C7A69FD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314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识别哪些副本真正被用到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E010C8-CEA6-47B5-B79C-7D8E04535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8669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A56A0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500" b="1">
                <a:solidFill>
                  <a:srgbClr val="A56A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A56A00"/>
                </a:solidFill>
                <a:latin typeface="Microsoft YaHei"/>
                <a:ea typeface="Microsoft YaHei"/>
                <a:cs typeface="Microsoft YaHei"/>
              </a:rPr>
              <a:t>多久复制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2972A9-6B35-4BD1-9916-2D10B8C24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0505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63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45000"/>
              </a:lnSpc>
              <a:buNone/>
              <a:defRPr sz="1163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60 / 300 / 600 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AFDB8C-7B63-497A-A302-FA24B3EBF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4290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51F07B-E453-4F80-AB88-65F3759EC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619500"/>
            <a:ext cx="314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找连续性收益与后台流量的拐点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D588A5-B83B-4F62-9357-EC4F5C7CD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669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B84A2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500" b="1">
                <a:solidFill>
                  <a:srgbClr val="B84A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B84A24"/>
                </a:solidFill>
                <a:latin typeface="Microsoft YaHei"/>
                <a:ea typeface="Microsoft YaHei"/>
                <a:cs typeface="Microsoft YaHei"/>
              </a:rPr>
              <a:t>保留多久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932BFC-0C1B-48FB-A71E-5CCD27F05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0505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63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45000"/>
              </a:lnSpc>
              <a:buNone/>
              <a:defRPr sz="1163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固定过期 / 访问衰减 / 按存储预算淘汰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F044B2-DE9C-4B9E-BDF0-7165C1A30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290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7725DB-B750-445B-B3E0-EAC293982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619500"/>
            <a:ext cx="314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避免无限复制和长期占用存储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AF390C-8A78-4D68-B75F-BE5CBACF6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108204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6EEDC"/>
          </a:solidFill>
          <a:ln xmlns:a="http://schemas.openxmlformats.org/drawingml/2006/main" w="9525">
            <a:solidFill>
              <a:srgbClr val="D7B56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3BB40C-A33A-4BFB-958D-B563C77FE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81550"/>
            <a:ext cx="10363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125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“只复制预测下一格可降到约 1/4”目前只是流量上界假设。预测错误、命中率和刷新频率都会改变结果，必须实测。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771002-E731-4018-B20F-BF2F74016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3D7C37-48D0-4216-BF31-B79CD76C4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2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最有解释力的实验，是比较 base 命中率、额外流量和后端存储占用。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E63E46-074E-4CB7-AF76-7A9673E73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3415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28000"/>
              </a:lnSpc>
              <a:buNone/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33481364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9421D6-CB9D-4956-8553-E411C5C60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10  资源与开销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6A25C3-03DC-4928-9583-339D1810E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结论：迁移开销需要按资源而不是按字节核算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495253-DFED-4F2E-B666-2AD8D48D9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543448-DCF4-4387-8171-C9336311E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53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6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8BDE84-7AF3-4858-A67B-CA2E9BBB2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69545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88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388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带宽时间解释了链路代价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08764C-A32C-4CDA-A810-AB41D02EE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01930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6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06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真实轨迹上增量明显降低链路占用；冷目标数据上几乎无效。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F68B2F-FCF9-4D70-94E9-E033DDC82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53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6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4264FC-E914-4722-9259-35426D249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57175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88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388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时间去向决定优化重点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9E2F7D-868B-474D-BCC5-C97B89A2E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89560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6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06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SF 主要传状态，合成数据约 75% 的时间在拉取镜像。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D8B782-2319-414A-A20C-C4E8A45E7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8050"/>
            <a:ext cx="53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6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1C9347-1DC9-4F7C-BE8E-A29B12049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44805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88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388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当前没有排队压力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51EADA-AFBC-45EB-9709-6813B41B1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77190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6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06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瓶颈仍是数据量；要验证调度，必须构造更高负载。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92A2E6-3508-4739-A830-740F93C31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53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6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67DAB0-3698-4167-8B52-68E7E904B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32435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88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388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base 维护需要用流量和存储换连续性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6E9B81-2817-4647-8414-5F6DC8EDD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64820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6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06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中断下降有明确收益，但总流量和开销比显著上升。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B469DD-C902-40CF-AA65-40DE7EEBE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7F0EE"/>
          </a:solidFill>
          <a:ln xmlns:a="http://schemas.openxmlformats.org/drawingml/2006/main" w="9525">
            <a:solidFill>
              <a:srgbClr val="0F5B5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7B5956-B1E7-48F9-AD4D-98FC80F8A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86375"/>
            <a:ext cx="10439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013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下一阶段：联合优化 base 放置、复制范围、刷新间隔和迁移触发时机。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F7D357-F99F-4816-8CF9-352C93828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727906-6FC8-4DAD-A282-38A9B332C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2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后续所有策略比较，都应同时报告中断、带宽时间、总流量和存储占用。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1FC3D0-3E44-4AF4-9DB9-21DB91F02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3415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28000"/>
              </a:lnSpc>
              <a:buNone/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605437283"/>
      </p:ext>
    </p:extLst>
  </p:cSld>
</p:sld>
</file>

<file path=ppt/theme/theme1.xml><?xml version="1.0" encoding="utf-8"?>
<a:theme xmlns:a="http://schemas.openxmlformats.org/drawingml/2006/main" name="ChatGPT">
  <a:themeElements>
    <a:clrScheme name="Migration Resource Teaching">
      <a:dk1>
        <a:srgbClr val="000000"/>
      </a:dk1>
      <a:lt1>
        <a:srgbClr val="FFFFFF"/>
      </a:lt1>
      <a:dk2>
        <a:srgbClr val="123F3F"/>
      </a:dk2>
      <a:lt2>
        <a:srgbClr val="E7F0EE"/>
      </a:lt2>
      <a:accent1>
        <a:srgbClr val="0F5B5B"/>
      </a:accent1>
      <a:accent2>
        <a:srgbClr val="B84A24"/>
      </a:accent2>
      <a:accent3>
        <a:srgbClr val="A56A00"/>
      </a:accent3>
      <a:accent4>
        <a:srgbClr val="547248"/>
      </a:accent4>
      <a:accent5>
        <a:srgbClr val="4C6B78"/>
      </a:accent5>
      <a:accent6>
        <a:srgbClr val="7A8F8B"/>
      </a:accent6>
      <a:hlink>
        <a:srgbClr val="0F5B5B"/>
      </a:hlink>
      <a:folHlink>
        <a:srgbClr val="B84A24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Migration Resource Teaching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2026-10-22T09:39:42.3940000Z</dcterms:created>
  <dcterms:modified xsi:type="dcterms:W3CDTF">2026-10-22T09:39:42.3940000Z</dcterms:modified>
</coreProperties>
</file>