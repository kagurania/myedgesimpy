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1.xml" ContentType="application/vnd.openxmlformats-officedocument.drawingml.char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7ab71e3b45542c8" /><Relationship Type="http://schemas.openxmlformats.org/officeDocument/2006/relationships/extended-properties" Target="/docProps/app.xml" Id="R0c0e79e4dca64dde" /><Relationship Type="http://schemas.openxmlformats.org/officeDocument/2006/relationships/officeDocument" Target="/ppt/presentation.xml" Id="Rce9614c6a5ed440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4e94b325b844c35"/>
  </p:sldMasterIdLst>
  <p:notesMasterIdLst>
    <p:notesMasterId xmlns:r="http://schemas.openxmlformats.org/officeDocument/2006/relationships" r:id="R3a6af80a1e8648b1"/>
  </p:notesMasterIdLst>
  <p:sldIdLst>
    <p:sldId xmlns:r="http://schemas.openxmlformats.org/officeDocument/2006/relationships" id="256" r:id="R2281a7cc8fb8432f"/>
    <p:sldId xmlns:r="http://schemas.openxmlformats.org/officeDocument/2006/relationships" id="257" r:id="R8beab8cb1d5d422f"/>
    <p:sldId xmlns:r="http://schemas.openxmlformats.org/officeDocument/2006/relationships" id="258" r:id="R08480f851da94254"/>
    <p:sldId xmlns:r="http://schemas.openxmlformats.org/officeDocument/2006/relationships" id="259" r:id="R2de8f777cd1e4f3d"/>
    <p:sldId xmlns:r="http://schemas.openxmlformats.org/officeDocument/2006/relationships" id="260" r:id="R163cdea792b24491"/>
    <p:sldId xmlns:r="http://schemas.openxmlformats.org/officeDocument/2006/relationships" id="261" r:id="R7bae0dd6c90f40a6"/>
    <p:sldId xmlns:r="http://schemas.openxmlformats.org/officeDocument/2006/relationships" id="262" r:id="R7393e37d295e49bf"/>
    <p:sldId xmlns:r="http://schemas.openxmlformats.org/officeDocument/2006/relationships" id="263" r:id="R89aaba4b1b174e77"/>
    <p:sldId xmlns:r="http://schemas.openxmlformats.org/officeDocument/2006/relationships" id="264" r:id="R98a07b90d14b40d9"/>
    <p:sldId xmlns:r="http://schemas.openxmlformats.org/officeDocument/2006/relationships" id="265" r:id="R76bf9bd41fd842c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3c6432957bd43a2" /><Relationship Type="http://schemas.openxmlformats.org/officeDocument/2006/relationships/slideMaster" Target="/ppt/slideMasters/slideMaster1.xml" Id="R24e94b325b844c35" /><Relationship Type="http://schemas.openxmlformats.org/officeDocument/2006/relationships/notesMaster" Target="/ppt/notesMasters/notesMaster1.xml" Id="R3a6af80a1e8648b1" /><Relationship Type="http://schemas.openxmlformats.org/officeDocument/2006/relationships/presProps" Target="/ppt/presProps.xml" Id="R321317dd2ad049da" /><Relationship Type="http://schemas.openxmlformats.org/officeDocument/2006/relationships/tableStyles" Target="/ppt/tableStyles.xml" Id="Rd80ef24344804572" /><Relationship Type="http://schemas.openxmlformats.org/officeDocument/2006/relationships/slide" Target="/ppt/slides/slide1.xml" Id="R2281a7cc8fb8432f" /><Relationship Type="http://schemas.openxmlformats.org/officeDocument/2006/relationships/slide" Target="/ppt/slides/slide2.xml" Id="R8beab8cb1d5d422f" /><Relationship Type="http://schemas.openxmlformats.org/officeDocument/2006/relationships/slide" Target="/ppt/slides/slide3.xml" Id="R08480f851da94254" /><Relationship Type="http://schemas.openxmlformats.org/officeDocument/2006/relationships/slide" Target="/ppt/slides/slide4.xml" Id="R2de8f777cd1e4f3d" /><Relationship Type="http://schemas.openxmlformats.org/officeDocument/2006/relationships/slide" Target="/ppt/slides/slide5.xml" Id="R163cdea792b24491" /><Relationship Type="http://schemas.openxmlformats.org/officeDocument/2006/relationships/slide" Target="/ppt/slides/slide6.xml" Id="R7bae0dd6c90f40a6" /><Relationship Type="http://schemas.openxmlformats.org/officeDocument/2006/relationships/slide" Target="/ppt/slides/slide7.xml" Id="R7393e37d295e49bf" /><Relationship Type="http://schemas.openxmlformats.org/officeDocument/2006/relationships/slide" Target="/ppt/slides/slide8.xml" Id="R89aaba4b1b174e77" /><Relationship Type="http://schemas.openxmlformats.org/officeDocument/2006/relationships/slide" Target="/ppt/slides/slide9.xml" Id="R98a07b90d14b40d9" /><Relationship Type="http://schemas.openxmlformats.org/officeDocument/2006/relationships/slide" Target="/ppt/slides/slide10.xml" Id="R76bf9bd41fd842c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f7153d42f1641c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Migration Resource Teaching">
      <a:dk1>
        <a:srgbClr val="000000"/>
      </a:dk1>
      <a:lt1>
        <a:srgbClr val="FFFFFF"/>
      </a:lt1>
      <a:dk2>
        <a:srgbClr val="123F3F"/>
      </a:dk2>
      <a:lt2>
        <a:srgbClr val="E7F0EE"/>
      </a:lt2>
      <a:accent1>
        <a:srgbClr val="0F5B5B"/>
      </a:accent1>
      <a:accent2>
        <a:srgbClr val="B84A24"/>
      </a:accent2>
      <a:accent3>
        <a:srgbClr val="A56A00"/>
      </a:accent3>
      <a:accent4>
        <a:srgbClr val="547248"/>
      </a:accent4>
      <a:accent5>
        <a:srgbClr val="4C6B78"/>
      </a:accent5>
      <a:accent6>
        <a:srgbClr val="7A8F8B"/>
      </a:accent6>
      <a:hlink>
        <a:srgbClr val="0F5B5B"/>
      </a:hlink>
      <a:folHlink>
        <a:srgbClr val="B84A24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Migration Resource Teaching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db6d410b2e447c5" /><Relationship Type="http://schemas.openxmlformats.org/officeDocument/2006/relationships/notesMaster" Target="/ppt/notesMasters/notesMaster1.xml" Id="Rd169a9b255424a6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d5c773a52884f42" /><Relationship Type="http://schemas.openxmlformats.org/officeDocument/2006/relationships/notesMaster" Target="/ppt/notesMasters/notesMaster1.xml" Id="R6e5116ed67f94f3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4c8c4155b2344ee" /><Relationship Type="http://schemas.openxmlformats.org/officeDocument/2006/relationships/notesMaster" Target="/ppt/notesMasters/notesMaster1.xml" Id="Rac1bcf0efcc5463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7437348607c46d6" /><Relationship Type="http://schemas.openxmlformats.org/officeDocument/2006/relationships/notesMaster" Target="/ppt/notesMasters/notesMaster1.xml" Id="Rc5997452213d40f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3e637d242dc49ef" /><Relationship Type="http://schemas.openxmlformats.org/officeDocument/2006/relationships/notesMaster" Target="/ppt/notesMasters/notesMaster1.xml" Id="R7bcc6345737f43e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973baaba88941da" /><Relationship Type="http://schemas.openxmlformats.org/officeDocument/2006/relationships/notesMaster" Target="/ppt/notesMasters/notesMaster1.xml" Id="Rd5325c0198c4461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bd2f76996394a72" /><Relationship Type="http://schemas.openxmlformats.org/officeDocument/2006/relationships/notesMaster" Target="/ppt/notesMasters/notesMaster1.xml" Id="R1ee60ec266e64bf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7e3d204fd1148b8" /><Relationship Type="http://schemas.openxmlformats.org/officeDocument/2006/relationships/notesMaster" Target="/ppt/notesMasters/notesMaster1.xml" Id="R16422e7a397a4a3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220d8764da3477d" /><Relationship Type="http://schemas.openxmlformats.org/officeDocument/2006/relationships/notesMaster" Target="/ppt/notesMasters/notesMaster1.xml" Id="R1649319c3446402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a6cc91d96fc4724" /><Relationship Type="http://schemas.openxmlformats.org/officeDocument/2006/relationships/notesMaster" Target="/ppt/notesMasters/notesMaster1.xml" Id="Rebb0de9923fe48a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这份汇报只讨论新补的一组系统开销指标：带宽时间、并发、控制面流、排队和 base 维护。目的不是重新介绍 MEC，而是解释迁移到底占用了哪些资源，以及预热 base 是否值得。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四个指标分别回答不同问题。带宽时间衡量链路占用，迁移字节只回答搬了多少。并发数回答同一时刻有多少迁移一起跑。控制面流数量回答一次切换产生多少作业和镜像层下载。排队比例回答时间到底花在等待还是实际传输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带宽时间不是只看搬了多少 MB，而是数据量乘以它占用链路的时间。SF 从 15052 降到 4392，Rome 从 16227 降到 10736。合成数据几乎没变，因为绝大多数目标是冷目标，增量仍然要传全量。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这张图把迁移时间拆成等待、拉镜像和状态传输。合成数据里 75% 的时间在拉镜像，因为它经常遇到没有镜像的新节点。SF 只有 4% 在拉镜像，主要时间用于业务状态传输。Rome 居中。因此优化拉镜像还是优化状态传输，要看真实数据来源。图片来源为仓库中的 time_breakdown.png。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SF 和 Rome 平均只同时运行 1.5 到 3 个迁移，合成数据平均约 18 个。三者的峰值都到 48，因为 12 辆车的四类服务可能同时触发。控制面流每切换分别约 4.26、5.94 和 12.38，合成数据明显更高，因为它经常需要拉取很多镜像层。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当前排队时间占比是 0，因为链路还没有被打满。这个结果的价值是告诉我们：当前主要瓶颈是数据量，不是调度等待。如果下一步要研究调度，就必须增加压力，例如降低带宽、增加车辆数或增加并发，否则不同调度器不会产生差异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这是 base 维护实验。策略是 reactive_delta，40 公里每小时，每 600 秒把 base 复制给四个邻居。SF 的中断从 4.82% 降到 2.78%，Rome 从 4.20% 降到 2.69%。但是总流量分别从 26.9 GB 增到 52.1 GB，以及从 61.1 GB 增到 89.7 GB，开销比明显上升。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这页把 base 维护解释成交易。SF 用总流量增加 94% 换来中断下降约 2 个百分点，Rome 用总流量增加 47% 换来中断下降约 1.5 个百分点。老师关心的存储问题正好在这里：base 副本占用邻居存储，后台复制占用链路，还需要失效和更新机制。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下一步不应只说复制给一个邻居。要把复制范围、刷新间隔和保存期限一起作为设计变量。只复制预测下一格看似把复制量降到四分之一，但这是一个上界假设，预测错时可能没有命中，仍要回退全量。实验应报告 base 命中率、额外后台流量、邻居存储占用和中断变化。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总结四点。第一，带宽时间比字节数更接近链路成本。第二，时间去向说明不同数据的优化重点不同。第三，当前没有排队，所以调度不是第一瓶颈。第四，base 维护确实降低中断，但会显著增加总流量和存储占用。下一阶段应联合研究 base 放置、复制范围和刷新间隔。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372e1bac6ae4f9d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cd6e6c5743c4b31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18fec3d9fc64c7d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0b0c8807e0f454f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731125876ba4819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eba15d3558f41b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E1D44EE-2A7E-4E57-9F57-7794A50AB18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A8CCACA0-8D21-4A45-A18B-D69993CC4842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AE1BD582-A3A6-4721-A64F-205335BFFF5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E282EE9-4AEE-4E81-A71D-C0911487FC6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2C657F43-0495-408F-ACC6-9073E9448CD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A93B06AD-67FD-4719-88A5-3192125C7B4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AF6E972-EA39-48D0-BEE6-8962AAFEA21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6C5ECA94-C89A-46F9-888D-BA0CF84A2710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B8E2E63-CE80-4D9C-ADF2-81FDE326338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75A908B-DD81-4743-8D38-AA668F84363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f1463cbb1c14f43" /><Relationship Type="http://schemas.openxmlformats.org/officeDocument/2006/relationships/slideLayout" Target="/ppt/slideLayouts/slideLayout1.xml" Id="Ra21047d6c4284d28" /><Relationship Type="http://schemas.openxmlformats.org/officeDocument/2006/relationships/slideLayout" Target="/ppt/slideLayouts/slideLayout2.xml" Id="R9f2fd466e7054fb5" /><Relationship Type="http://schemas.openxmlformats.org/officeDocument/2006/relationships/slideLayout" Target="/ppt/slideLayouts/slideLayout3.xml" Id="Rd4e1c5c3ee1544a0" /><Relationship Type="http://schemas.openxmlformats.org/officeDocument/2006/relationships/slideLayout" Target="/ppt/slideLayouts/slideLayout4.xml" Id="Rd8b43249ff98408a" /><Relationship Type="http://schemas.openxmlformats.org/officeDocument/2006/relationships/slideLayout" Target="/ppt/slideLayouts/slideLayout5.xml" Id="Raaec8dcf4d844f73" /><Relationship Type="http://schemas.openxmlformats.org/officeDocument/2006/relationships/slideLayout" Target="/ppt/slideLayouts/slideLayout6.xml" Id="R475615a8a04142e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21047d6c4284d28"/>
    <p:sldLayoutId xmlns:r="http://schemas.openxmlformats.org/officeDocument/2006/relationships" id="2147483650" r:id="R9f2fd466e7054fb5"/>
    <p:sldLayoutId xmlns:r="http://schemas.openxmlformats.org/officeDocument/2006/relationships" id="2147483651" r:id="Rd4e1c5c3ee1544a0"/>
    <p:sldLayoutId xmlns:r="http://schemas.openxmlformats.org/officeDocument/2006/relationships" id="2147483652" r:id="Rd8b43249ff98408a"/>
    <p:sldLayoutId xmlns:r="http://schemas.openxmlformats.org/officeDocument/2006/relationships" id="2147483653" r:id="Raaec8dcf4d844f73"/>
    <p:sldLayoutId xmlns:r="http://schemas.openxmlformats.org/officeDocument/2006/relationships" id="2147483654" r:id="R475615a8a04142e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Migration Resource Teaching">
      <a:dk1>
        <a:srgbClr val="000000"/>
      </a:dk1>
      <a:lt1>
        <a:srgbClr val="FFFFFF"/>
      </a:lt1>
      <a:dk2>
        <a:srgbClr val="123F3F"/>
      </a:dk2>
      <a:lt2>
        <a:srgbClr val="E7F0EE"/>
      </a:lt2>
      <a:accent1>
        <a:srgbClr val="0F5B5B"/>
      </a:accent1>
      <a:accent2>
        <a:srgbClr val="B84A24"/>
      </a:accent2>
      <a:accent3>
        <a:srgbClr val="A56A00"/>
      </a:accent3>
      <a:accent4>
        <a:srgbClr val="547248"/>
      </a:accent4>
      <a:accent5>
        <a:srgbClr val="4C6B78"/>
      </a:accent5>
      <a:accent6>
        <a:srgbClr val="7A8F8B"/>
      </a:accent6>
      <a:hlink>
        <a:srgbClr val="0F5B5B"/>
      </a:hlink>
      <a:folHlink>
        <a:srgbClr val="B84A24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Migration Resource Teaching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b2a4f2e3b0f4a96" /><Relationship Type="http://schemas.openxmlformats.org/officeDocument/2006/relationships/notesSlide" Target="/ppt/notesSlides/notesSlide1.xml" Id="R98c070f4c5f44c2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0f3f8cd25ae44bf" /><Relationship Type="http://schemas.openxmlformats.org/officeDocument/2006/relationships/notesSlide" Target="/ppt/notesSlides/notesSlide2.xml" Id="R236ae0961a0648d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e08cf131c86459a" /><Relationship Type="http://schemas.openxmlformats.org/officeDocument/2006/relationships/chart" Target="/ppt/slides/charts/chart1.xml" Id="R138c46f1d0c6433f" /><Relationship Type="http://schemas.openxmlformats.org/officeDocument/2006/relationships/notesSlide" Target="/ppt/notesSlides/notesSlide3.xml" Id="Raad52f468fdb421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98df4e9422843b8" /><Relationship Type="http://schemas.openxmlformats.org/officeDocument/2006/relationships/image" Target="/ppt/media/image.png" Id="R169794b8fcc74f8f" /><Relationship Type="http://schemas.openxmlformats.org/officeDocument/2006/relationships/notesSlide" Target="/ppt/notesSlides/notesSlide4.xml" Id="Ra5ad084e04d44cc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811a3fbee1b4ad0" /><Relationship Type="http://schemas.openxmlformats.org/officeDocument/2006/relationships/notesSlide" Target="/ppt/notesSlides/notesSlide5.xml" Id="Rf3ee29984286400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9b6bd5f9341470b" /><Relationship Type="http://schemas.openxmlformats.org/officeDocument/2006/relationships/notesSlide" Target="/ppt/notesSlides/notesSlide6.xml" Id="Ra6fd61b53c6547b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bfd36ab1ac447ed" /><Relationship Type="http://schemas.openxmlformats.org/officeDocument/2006/relationships/notesSlide" Target="/ppt/notesSlides/notesSlide7.xml" Id="Rfd90fbdd5727454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f5a98602a064017" /><Relationship Type="http://schemas.openxmlformats.org/officeDocument/2006/relationships/notesSlide" Target="/ppt/notesSlides/notesSlide8.xml" Id="R78d83ae778cc458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6e1677b9db64ba2" /><Relationship Type="http://schemas.openxmlformats.org/officeDocument/2006/relationships/notesSlide" Target="/ppt/notesSlides/notesSlide9.xml" Id="R53ec0477aa0c411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83cafa28ff04d26" /><Relationship Type="http://schemas.openxmlformats.org/officeDocument/2006/relationships/notesSlide" Target="/ppt/notesSlides/notesSlide10.xml" Id="Raf338885aa584057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varyColors val="0"/>
        <c:ser>
          <c:idx val="0"/>
          <c:order val="0"/>
          <c:tx>
            <c:v>增量后占全量比例</c:v>
          </c:tx>
          <c:spPr>
            <a:solidFill xmlns:a="http://schemas.openxmlformats.org/drawingml/2006/main">
              <a:schemeClr val="accent1"/>
            </a:solidFill>
          </c:spPr>
          <c:cat>
            <c:strRef>
              <c:f>'Chart Data'!$A$2:$A$4</c:f>
              <c:strCache>
                <c:ptCount val="3"/>
                <c:pt idx="0">
                  <c:v>SF</c:v>
                </c:pt>
                <c:pt idx="1">
                  <c:v>Rome</c:v>
                </c:pt>
                <c:pt idx="2">
                  <c:v>合成</c:v>
                </c:pt>
              </c:strCache>
            </c:strRef>
          </c:cat>
          <c:val>
            <c:numRef>
              <c:f>'Chart Data'!$B$2:$B$4</c:f>
              <c:numCache>
                <c:formatCode>General</c:formatCode>
                <c:ptCount val="3"/>
                <c:pt idx="0">
                  <c:v>29.2</c:v>
                </c:pt>
                <c:pt idx="1">
                  <c:v>66.2</c:v>
                </c:pt>
                <c:pt idx="2">
                  <c:v>99.5</c:v>
                </c:pt>
              </c:numCache>
            </c:numRef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D9D1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</c:plotArea>
    <c:plotVisOnly val="1"/>
  </c:chart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E3A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B48D71-1A8D-4F4A-A955-B57F9721A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75" b="1">
                <a:solidFill>
                  <a:srgbClr val="BFD6D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28000"/>
              </a:lnSpc>
              <a:buNone/>
              <a:defRPr sz="975" b="1">
                <a:solidFill>
                  <a:srgbClr val="BFD6D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BFD6D2"/>
                </a:solidFill>
                <a:latin typeface="Microsoft YaHei"/>
                <a:ea typeface="Microsoft YaHei"/>
                <a:cs typeface="Microsoft YaHei"/>
              </a:rPr>
              <a:t>迁移开销专题  /  2026年10月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5F88EC-E03B-4C15-B4B7-3EE970659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100012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4000"/>
              </a:lnSpc>
              <a:buNone/>
              <a:defRPr sz="3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迁移不只搬字节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3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还要占多久、并发多少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115631-07F3-4E9F-8093-37888830B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05200"/>
            <a:ext cx="914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B8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9357E5-2426-49FB-907B-EAE2210D5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90950"/>
            <a:ext cx="981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D6E5E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28000"/>
              </a:lnSpc>
              <a:buNone/>
              <a:defRPr sz="1650" b="0">
                <a:solidFill>
                  <a:srgbClr val="D6E5E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D6E5E2"/>
                </a:solidFill>
                <a:latin typeface="Microsoft YaHei"/>
                <a:ea typeface="Microsoft YaHei"/>
                <a:cs typeface="Microsoft YaHei"/>
              </a:rPr>
              <a:t>资源时间、并发、排队与 base 维护评估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BEDF8B-5F2C-4ACD-AB7F-FBE810340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05300"/>
            <a:ext cx="9810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BFD6D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28000"/>
              </a:lnSpc>
              <a:buNone/>
              <a:defRPr sz="1275" b="0">
                <a:solidFill>
                  <a:srgbClr val="BFD6D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BFD6D2"/>
                </a:solidFill>
                <a:latin typeface="Microsoft YaHei"/>
                <a:ea typeface="Microsoft YaHei"/>
                <a:cs typeface="Microsoft YaHei"/>
              </a:rPr>
              <a:t>核心问题：一次迁移给链路、控制面和用户连续性带来了多少真实代价。</a:t>
            </a:r>
          </a:p>
        </p:txBody>
      </p:sp>
    </p:spTree>
    <p:extLst>
      <p:ext uri="{BB962C8B-B14F-4D97-AF65-F5344CB8AC3E}">
        <p14:creationId xmlns:p14="http://schemas.microsoft.com/office/powerpoint/2010/main" val="113813093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AB9BB06-70F8-4233-A2EC-DB5892CCA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00" b="1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28000"/>
              </a:lnSpc>
              <a:buNone/>
              <a:defRPr sz="900" b="1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rPr>
              <a:t>02  资源与开销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0ED932-04C1-4A36-9F8A-136780AA8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rPr>
              <a:t>四个新增指标补齐了字节之外的资源成本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F8CABC-DAAC-42A0-B823-481C34E47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62075"/>
            <a:ext cx="609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5B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DDCF59-595B-4D8D-8C81-A1206F274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28000"/>
              </a:lnSpc>
              <a:buNone/>
              <a:defRPr sz="1350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rPr>
              <a:t>带宽-时间积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891879-04CC-419E-B572-E3CF93A56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1800225"/>
            <a:ext cx="4343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40" b="0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28000"/>
              </a:lnSpc>
              <a:buNone/>
              <a:defRPr sz="1140" b="0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40" b="0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rPr>
              <a:t>迁移数据量 × 占用链路的时间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6F8F72-11E0-4D48-9E74-ABD847582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800225"/>
            <a:ext cx="4076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8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28000"/>
              </a:lnSpc>
              <a:buNone/>
              <a:defRPr sz="108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rPr>
              <a:t>链路在多久内被占用了多少容量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177F63-B9DD-4F6D-8A6F-8C43E166F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193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3AB8AA-050D-4B4C-8B3E-B4E26AE2B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28000"/>
              </a:lnSpc>
              <a:buNone/>
              <a:defRPr sz="1350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rPr>
              <a:t>并发迁移数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704AF6-DBDF-479B-9F00-4B1921A8C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676525"/>
            <a:ext cx="4343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40" b="0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28000"/>
              </a:lnSpc>
              <a:buNone/>
              <a:defRPr sz="1140" b="0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40" b="0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rPr>
              <a:t>同一时刻正在运行的迁移数量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F006114-191D-4D0D-BF3F-856787CB1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676525"/>
            <a:ext cx="4076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8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28000"/>
              </a:lnSpc>
              <a:buNone/>
              <a:defRPr sz="108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rPr>
              <a:t>是否形成瞬时洪峰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73FDD50-60E6-4F9A-A6EC-847B96C61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956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42EEF27-FEE5-4AA8-9DB1-E17AEFF87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433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28000"/>
              </a:lnSpc>
              <a:buNone/>
              <a:defRPr sz="1350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rPr>
              <a:t>控制面流/切换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6F917FA-B46C-47E0-A54A-89C8B699D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552825"/>
            <a:ext cx="4343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40" b="0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28000"/>
              </a:lnSpc>
              <a:buNone/>
              <a:defRPr sz="1140" b="0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40" b="0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rPr>
              <a:t>每次 handover 对应的状态流与镜像层流数量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EFBA0A3-3F0F-4E3B-A6F2-2C7600567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552825"/>
            <a:ext cx="4076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8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28000"/>
              </a:lnSpc>
              <a:buNone/>
              <a:defRPr sz="108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rPr>
              <a:t>迁移作业本身有多复杂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E867081-8A0C-42E2-943C-C026313DA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719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B20CD76-5A81-4982-B32B-A2E0990B7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196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B84A2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28000"/>
              </a:lnSpc>
              <a:buNone/>
              <a:defRPr sz="1350" b="1">
                <a:solidFill>
                  <a:srgbClr val="B84A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B84A24"/>
                </a:solidFill>
                <a:latin typeface="Microsoft YaHei"/>
                <a:ea typeface="Microsoft YaHei"/>
                <a:cs typeface="Microsoft YaHei"/>
              </a:rPr>
              <a:t>排队时间占比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C6B34A7-A67A-47EA-BDAD-F7662F81F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429125"/>
            <a:ext cx="4343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40" b="0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28000"/>
              </a:lnSpc>
              <a:buNone/>
              <a:defRPr sz="1140" b="0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40" b="0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rPr>
              <a:t>迁移总时长中等待资源或调度的比例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E739CFE-13AD-49F6-9AA2-EF316A3F1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429125"/>
            <a:ext cx="4076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8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28000"/>
              </a:lnSpc>
              <a:buNone/>
              <a:defRPr sz="108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rPr>
              <a:t>瓶颈在数据量还是调度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0FF1C11-E827-4C06-9FBA-E1323361C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073C9DB-DBC8-4877-950D-15A114C6C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721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088EA53-E57D-4042-89AC-15B45C475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990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28000"/>
              </a:lnSpc>
              <a:buNone/>
              <a:defRPr sz="1275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rPr>
              <a:t>只看迁移 GB，会漏掉链路占用时间和管理复杂度。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E8B4091-C120-442A-8D38-AE89FF930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534150"/>
            <a:ext cx="381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75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lnSpc>
                <a:spcPct val="128000"/>
              </a:lnSpc>
              <a:buNone/>
              <a:defRPr sz="75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91804541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2F52D65-D72D-4968-8A08-011A27FB0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00" b="1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28000"/>
              </a:lnSpc>
              <a:buNone/>
              <a:defRPr sz="900" b="1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rPr>
              <a:t>03  资源与开销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CB3E37-2245-440B-943C-CEDBDE22D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rPr>
              <a:t>增量在真实轨迹上大幅降低链路占用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C763D0-20C3-482F-8EFD-F59DEA1D0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62075"/>
            <a:ext cx="609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5B5B"/>
          </a:solidFill>
          <a:ln xmlns:a="http://schemas.openxmlformats.org/drawingml/2006/main" w="0">
            <a:noFill/>
            <a:prstDash val="solid"/>
          </a:ln>
        </p:spPr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F1213A-DAC2-43FF-AFEA-7F8C3E8EDD8D}"/>
              </a:ext>
            </a:extLst>
          </p:cNvPr>
          <p:cNvGraphicFramePr/>
          <p:nvPr/>
        </p:nvGraphicFramePr>
        <p:xfrm>
          <a:off xmlns:a="http://schemas.openxmlformats.org/drawingml/2006/main" x="685800" y="1847850"/>
          <a:ext xmlns:a="http://schemas.openxmlformats.org/drawingml/2006/main" cx="4953000" cy="24765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1428750"/>
                <a:gridCol w="1762125"/>
                <a:gridCol w="1762125"/>
              </a:tblGrid>
              <a:tr h="619125">
                <a:tc>
                  <a:txBody>
                    <a:bodyPr/>
                    <a:lstStyle/>
                    <a:p>
                      <a:pPr algn="l"/>
                      <a:r>
                        <a:rPr sz="975" b="1">
                          <a:solidFill>
                            <a:srgbClr val="FFFFFF"/>
                          </a:solidFill>
                        </a:rPr>
                        <a:t>数据</a:t>
                      </a:r>
                    </a:p>
                  </a:txBody>
                  <a:tcPr marL="91440" marR="91440" marT="45720" marB="45720">
                    <a:solidFill>
                      <a:srgbClr val="0F5B5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75" b="1">
                          <a:solidFill>
                            <a:srgbClr val="FFFFFF"/>
                          </a:solidFill>
                        </a:rPr>
                        <a:t>全量 MB·s/切换</a:t>
                      </a:r>
                    </a:p>
                  </a:txBody>
                  <a:tcPr marL="91440" marR="91440" marT="45720" marB="45720">
                    <a:solidFill>
                      <a:srgbClr val="0F5B5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75" b="1">
                          <a:solidFill>
                            <a:srgbClr val="FFFFFF"/>
                          </a:solidFill>
                        </a:rPr>
                        <a:t>增量 MB·s/切换</a:t>
                      </a:r>
                    </a:p>
                  </a:txBody>
                  <a:tcPr marL="91440" marR="91440" marT="45720" marB="45720">
                    <a:solidFill>
                      <a:srgbClr val="0F5B5B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1B1B19"/>
                          </a:solidFill>
                        </a:rPr>
                        <a:t>SF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1B19"/>
                          </a:solidFill>
                        </a:rPr>
                        <a:t>15,052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1B19"/>
                          </a:solidFill>
                        </a:rPr>
                        <a:t>4,392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1B1B19"/>
                          </a:solidFill>
                        </a:rPr>
                        <a:t>Rome</a:t>
                      </a:r>
                    </a:p>
                  </a:txBody>
                  <a:tcPr marL="91440" marR="91440" marT="45720" marB="45720">
                    <a:solidFill>
                      <a:srgbClr val="FBFB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1B19"/>
                          </a:solidFill>
                        </a:rPr>
                        <a:t>16,227</a:t>
                      </a:r>
                    </a:p>
                  </a:txBody>
                  <a:tcPr marL="91440" marR="91440" marT="45720" marB="45720">
                    <a:solidFill>
                      <a:srgbClr val="FBFB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1B19"/>
                          </a:solidFill>
                        </a:rPr>
                        <a:t>10,736</a:t>
                      </a:r>
                    </a:p>
                  </a:txBody>
                  <a:tcPr marL="91440" marR="91440" marT="45720" marB="45720">
                    <a:solidFill>
                      <a:srgbClr val="FBFBF8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1B1B19"/>
                          </a:solidFill>
                        </a:rPr>
                        <a:t>合成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1B19"/>
                          </a:solidFill>
                        </a:rPr>
                        <a:t>102,793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1B19"/>
                          </a:solidFill>
                        </a:rPr>
                        <a:t>102,301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59F07ED1-0A63-4520-A9D7-B3C196B6A849}"/>
              </a:ext>
            </a:extLst>
          </p:cNvPr>
          <p:cNvGraphicFramePr/>
          <p:nvPr/>
        </p:nvGraphicFramePr>
        <p:xfrm>
          <a:off xmlns:a="http://schemas.openxmlformats.org/drawingml/2006/main" x="6229350" y="1847850"/>
          <a:ext xmlns:a="http://schemas.openxmlformats.org/drawingml/2006/main" cx="5276850" cy="2476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38c46f1d0c6433f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EE5E9F-EB7D-4A29-AFEB-6CFECEA24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400550"/>
            <a:ext cx="5276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28000"/>
              </a:lnSpc>
              <a:buNone/>
              <a:defRPr sz="90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rPr>
              <a:t>单位：% ；增量后的带宽-时间积 ÷ 全量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DA7454-0A0A-472B-B096-6D85181C8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29150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85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40000"/>
              </a:lnSpc>
              <a:buNone/>
              <a:defRPr sz="1185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85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rPr>
              <a:t>SF 的增量把链路占用降到约三成。合成数据只降到 99.5%，因为 92.9% 的迁移目标没有 base，实际仍然接近全量传输。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64712A-1C35-486F-971F-57116A9E8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721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79EFD3-A93B-4FD8-8C2B-9F5F3F33C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990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28000"/>
              </a:lnSpc>
              <a:buNone/>
              <a:defRPr sz="1275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rPr>
              <a:t>增量不是固定收益；base 是否命中决定它能否减少链路占用时间。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79CF8C0-B97F-4A22-81E4-B83231E2F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534150"/>
            <a:ext cx="381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75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lnSpc>
                <a:spcPct val="128000"/>
              </a:lnSpc>
              <a:buNone/>
              <a:defRPr sz="75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77934303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C5FA086-1D67-4B48-B0FE-109C6C47C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00" b="1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28000"/>
              </a:lnSpc>
              <a:buNone/>
              <a:defRPr sz="900" b="1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rPr>
              <a:t>04  资源与开销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815258-A4EA-4826-800D-E861D505E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rPr>
              <a:t>迁移时间的瓶颈在不同数据上不一样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41D85C-BC19-436E-A652-6200CF34E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62075"/>
            <a:ext cx="609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5B5B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034BD3-6BF8-459D-99F3-C7C89498C52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69794b8fcc74f8f"/>
          <a:stretch xmlns:a="http://schemas.openxmlformats.org/drawingml/2006/main"/>
        </p:blipFill>
        <p:spPr>
          <a:xfrm xmlns:a="http://schemas.openxmlformats.org/drawingml/2006/main">
            <a:off x="978477" y="1752600"/>
            <a:ext cx="6844145" cy="39624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5C36A1-E109-43B1-8604-466499DE0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84785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28000"/>
              </a:lnSpc>
              <a:buNone/>
              <a:defRPr sz="1425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rPr>
              <a:t>怎么读这张图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F96519-EEB7-4094-98BA-6A3FA5D21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266950"/>
            <a:ext cx="3048000" cy="2343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48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45000"/>
              </a:lnSpc>
              <a:buNone/>
              <a:defRPr sz="1148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48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rPr>
              <a:t>合成数据：镜像是绝对瓶颈，占 75%。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45000"/>
              </a:lnSpc>
              <a:buNone/>
              <a:defRPr sz="1148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48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rPr>
              <a:t>SF：主要时间花在业务状态传输，镜像只占 4%。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45000"/>
              </a:lnSpc>
              <a:buNone/>
              <a:defRPr sz="1148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48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rPr>
              <a:t>Rome：状态传输仍占主导，镜像占 17%。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45000"/>
              </a:lnSpc>
              <a:buNone/>
              <a:defRPr sz="1148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48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rPr>
              <a:t>优化对象必须随数据来源变化。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8DA4F2-463E-4310-BE99-C58EBED00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762500"/>
            <a:ext cx="3048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6EEDC"/>
          </a:solidFill>
          <a:ln xmlns:a="http://schemas.openxmlformats.org/drawingml/2006/main" w="9525">
            <a:solidFill>
              <a:srgbClr val="D7B56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42F70BA-7614-4138-B8E1-62D85DC5D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4895850"/>
            <a:ext cx="2705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1">
                <a:solidFill>
                  <a:srgbClr val="A56A0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28000"/>
              </a:lnSpc>
              <a:buNone/>
              <a:defRPr sz="1050" b="1">
                <a:solidFill>
                  <a:srgbClr val="A56A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A56A00"/>
                </a:solidFill>
                <a:latin typeface="Microsoft YaHei"/>
                <a:ea typeface="Microsoft YaHei"/>
                <a:cs typeface="Microsoft YaHei"/>
              </a:rPr>
              <a:t>当前等待时间接近 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9CAF85-8426-4648-AC5F-D7B796F95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721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EA03B62-0BA9-4AA3-86AD-271D2F6AF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990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28000"/>
              </a:lnSpc>
              <a:buNone/>
              <a:defRPr sz="1275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rPr>
              <a:t>真实轨迹的主要成本是传状态，合成网格的主要成本是拉镜像。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57ED7DF-CC96-480A-8B54-B75CFAAA1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534150"/>
            <a:ext cx="381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75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lnSpc>
                <a:spcPct val="128000"/>
              </a:lnSpc>
              <a:buNone/>
              <a:defRPr sz="75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97969327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B52F30B-DFA5-440C-AF77-65479A4FA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00" b="1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28000"/>
              </a:lnSpc>
              <a:buNone/>
              <a:defRPr sz="900" b="1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rPr>
              <a:t>05  资源与开销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46EAE6-B535-4313-945B-C55E36489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rPr>
              <a:t>并发与镜像层数量决定瞬时管理压力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F9B552-E453-404A-8EAA-626994E9E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62075"/>
            <a:ext cx="609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5B5B"/>
          </a:solidFill>
          <a:ln xmlns:a="http://schemas.openxmlformats.org/drawingml/2006/main" w="0">
            <a:noFill/>
            <a:prstDash val="solid"/>
          </a:ln>
        </p:spPr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3E47AC-14C3-4F7B-A174-92A096FA450A}"/>
              </a:ext>
            </a:extLst>
          </p:cNvPr>
          <p:cNvGraphicFramePr/>
          <p:nvPr/>
        </p:nvGraphicFramePr>
        <p:xfrm>
          <a:off xmlns:a="http://schemas.openxmlformats.org/drawingml/2006/main" x="685800" y="1790700"/>
          <a:ext xmlns:a="http://schemas.openxmlformats.org/drawingml/2006/main" cx="10820400" cy="28003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000250"/>
                <a:gridCol w="2095500"/>
                <a:gridCol w="2095500"/>
                <a:gridCol w="4629150"/>
              </a:tblGrid>
              <a:tr h="560070">
                <a:tc>
                  <a:txBody>
                    <a:bodyPr/>
                    <a:lstStyle/>
                    <a:p>
                      <a:pPr algn="l"/>
                      <a:r>
                        <a:rPr sz="975" b="1">
                          <a:solidFill>
                            <a:srgbClr val="FFFFFF"/>
                          </a:solidFill>
                        </a:rPr>
                        <a:t>数据</a:t>
                      </a:r>
                    </a:p>
                  </a:txBody>
                  <a:tcPr marL="91440" marR="91440" marT="45720" marB="45720">
                    <a:solidFill>
                      <a:srgbClr val="0F5B5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75" b="1">
                          <a:solidFill>
                            <a:srgbClr val="FFFFFF"/>
                          </a:solidFill>
                        </a:rPr>
                        <a:t>平均并发迁移</a:t>
                      </a:r>
                    </a:p>
                  </a:txBody>
                  <a:tcPr marL="91440" marR="91440" marT="45720" marB="45720">
                    <a:solidFill>
                      <a:srgbClr val="0F5B5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75" b="1">
                          <a:solidFill>
                            <a:srgbClr val="FFFFFF"/>
                          </a:solidFill>
                        </a:rPr>
                        <a:t>并发峰值</a:t>
                      </a:r>
                    </a:p>
                  </a:txBody>
                  <a:tcPr marL="91440" marR="91440" marT="45720" marB="45720">
                    <a:solidFill>
                      <a:srgbClr val="0F5B5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75" b="1">
                          <a:solidFill>
                            <a:srgbClr val="FFFFFF"/>
                          </a:solidFill>
                        </a:rPr>
                        <a:t>控制面流/切换</a:t>
                      </a:r>
                    </a:p>
                  </a:txBody>
                  <a:tcPr marL="91440" marR="91440" marT="45720" marB="45720">
                    <a:solidFill>
                      <a:srgbClr val="0F5B5B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pPr algn="l"/>
                      <a:r>
                        <a:rPr sz="1013">
                          <a:solidFill>
                            <a:srgbClr val="1B1B19"/>
                          </a:solidFill>
                        </a:rPr>
                        <a:t>SF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13">
                          <a:solidFill>
                            <a:srgbClr val="1B1B19"/>
                          </a:solidFill>
                        </a:rPr>
                        <a:t>1.53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13">
                          <a:solidFill>
                            <a:srgbClr val="1B1B19"/>
                          </a:solidFill>
                        </a:rPr>
                        <a:t>48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13">
                          <a:solidFill>
                            <a:srgbClr val="1B1B19"/>
                          </a:solidFill>
                        </a:rPr>
                        <a:t>4.26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pPr algn="l"/>
                      <a:r>
                        <a:rPr sz="1013">
                          <a:solidFill>
                            <a:srgbClr val="1B1B19"/>
                          </a:solidFill>
                        </a:rPr>
                        <a:t>Rome</a:t>
                      </a:r>
                    </a:p>
                  </a:txBody>
                  <a:tcPr marL="91440" marR="91440" marT="45720" marB="45720">
                    <a:solidFill>
                      <a:srgbClr val="FBFB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13">
                          <a:solidFill>
                            <a:srgbClr val="1B1B19"/>
                          </a:solidFill>
                        </a:rPr>
                        <a:t>2.94</a:t>
                      </a:r>
                    </a:p>
                  </a:txBody>
                  <a:tcPr marL="91440" marR="91440" marT="45720" marB="45720">
                    <a:solidFill>
                      <a:srgbClr val="FBFB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13">
                          <a:solidFill>
                            <a:srgbClr val="1B1B19"/>
                          </a:solidFill>
                        </a:rPr>
                        <a:t>48</a:t>
                      </a:r>
                    </a:p>
                  </a:txBody>
                  <a:tcPr marL="91440" marR="91440" marT="45720" marB="45720">
                    <a:solidFill>
                      <a:srgbClr val="FBFB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13">
                          <a:solidFill>
                            <a:srgbClr val="1B1B19"/>
                          </a:solidFill>
                        </a:rPr>
                        <a:t>5.94</a:t>
                      </a:r>
                    </a:p>
                  </a:txBody>
                  <a:tcPr marL="91440" marR="91440" marT="45720" marB="45720">
                    <a:solidFill>
                      <a:srgbClr val="FBFBF8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pPr algn="l"/>
                      <a:r>
                        <a:rPr sz="1013">
                          <a:solidFill>
                            <a:srgbClr val="1B1B19"/>
                          </a:solidFill>
                        </a:rPr>
                        <a:t>合成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13">
                          <a:solidFill>
                            <a:srgbClr val="1B1B19"/>
                          </a:solidFill>
                        </a:rPr>
                        <a:t>17.81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13">
                          <a:solidFill>
                            <a:srgbClr val="1B1B19"/>
                          </a:solidFill>
                        </a:rPr>
                        <a:t>48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13">
                          <a:solidFill>
                            <a:srgbClr val="1B1B19"/>
                          </a:solidFill>
                        </a:rPr>
                        <a:t>12.38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2D5E40-4403-4AC7-9E77-3E1CEBF01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76800"/>
            <a:ext cx="5143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38000"/>
              </a:lnSpc>
              <a:buNone/>
              <a:defRPr sz="1125" b="0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rPr>
              <a:t>并发峰值 48 = 12 辆车 × 每车 4 个服务。</a:t>
            </a:r>
          </a:p>
          <a:p xmlns:a="http://schemas.openxmlformats.org/drawingml/2006/main">
            <a:pPr algn="l">
              <a:lnSpc>
                <a:spcPct val="138000"/>
              </a:lnSpc>
              <a:buNone/>
              <a:defRPr sz="1125" b="0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rPr>
              <a:t>说明切换发生时，所有服务实例可能同时进入迁移。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E430A9-2F46-4D70-ABDF-E381876B6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876800"/>
            <a:ext cx="53149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38000"/>
              </a:lnSpc>
              <a:buNone/>
              <a:defRPr sz="1125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rPr>
              <a:t>合成数据每次切换约产生 12.38 条控制面流，远高于 SF 的 4.26，主要来自需要拉取的镜像层。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E37C48-A0F8-4FF9-A842-86437A674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721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38091EE-727F-495B-9CAB-166F83C99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990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28000"/>
              </a:lnSpc>
              <a:buNone/>
              <a:defRPr sz="1275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rPr>
              <a:t>迁移数量相同，不代表控制面压力相同；镜像层会把一次切换放大成多条工作流。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36722B4-E153-48C8-A223-B63A8E0E8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534150"/>
            <a:ext cx="381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75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lnSpc>
                <a:spcPct val="128000"/>
              </a:lnSpc>
              <a:buNone/>
              <a:defRPr sz="75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6979154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EB02CD0-B99F-4FB4-A557-93EDAACC9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00" b="1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28000"/>
              </a:lnSpc>
              <a:buNone/>
              <a:defRPr sz="900" b="1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rPr>
              <a:t>06  资源与开销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6E385A-C36B-47A4-AF6E-93B883B01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rPr>
              <a:t>当前没有明显排队，瓶颈仍是数据量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0C9863-415A-452E-B352-4A9EDB28B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62075"/>
            <a:ext cx="609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5B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D17A38-C9AC-4F99-9E83-293B700AA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71650"/>
            <a:ext cx="2381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650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28000"/>
              </a:lnSpc>
              <a:buNone/>
              <a:defRPr sz="4650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650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rPr>
              <a:t>0%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A23432-F922-4045-AF9F-325ECC26A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885950"/>
            <a:ext cx="4095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28000"/>
              </a:lnSpc>
              <a:buNone/>
              <a:defRPr sz="1650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rPr>
              <a:t>排队时间占比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2F8DF3-C47F-4FEE-9AB4-356B98F59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381250"/>
            <a:ext cx="723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63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38000"/>
              </a:lnSpc>
              <a:buNone/>
              <a:defRPr sz="1163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rPr>
              <a:t>当前 500 Mbps、12 辆车的配置下，链路利用率约 3%–11%，迁移基本一开始就能传，没有等待队列。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A1258E-6FEE-4051-8502-98BFF5351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52800"/>
            <a:ext cx="5143500" cy="1562100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E7F0EE"/>
          </a:solidFill>
          <a:ln xmlns:a="http://schemas.openxmlformats.org/drawingml/2006/main" w="9525">
            <a:solidFill>
              <a:srgbClr val="0F5B5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5FA5E9-42D5-462E-90C0-E5E2ACA10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43300"/>
            <a:ext cx="4686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28000"/>
              </a:lnSpc>
              <a:buNone/>
              <a:defRPr sz="1275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rPr>
              <a:t>这个结果说明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97E8717-BE1E-4345-8395-17FAFFE11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943350"/>
            <a:ext cx="46863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40" b="0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40000"/>
              </a:lnSpc>
              <a:buNone/>
              <a:defRPr sz="1140" b="0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40" b="0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rPr>
              <a:t>先优化数据量和镜像拉取，比优化调度优先级更直接。</a:t>
            </a:r>
          </a:p>
          <a:p xmlns:a="http://schemas.openxmlformats.org/drawingml/2006/main">
            <a:pPr algn="l">
              <a:lnSpc>
                <a:spcPct val="140000"/>
              </a:lnSpc>
              <a:buNone/>
              <a:defRPr sz="1140" b="0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40" b="0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rPr>
              <a:t>当前结果不能证明调度算法无效。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9B454E1-32CB-435B-A57F-322B7A52F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352800"/>
            <a:ext cx="5219700" cy="1562100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F6EEDC"/>
          </a:solidFill>
          <a:ln xmlns:a="http://schemas.openxmlformats.org/drawingml/2006/main" w="9525">
            <a:solidFill>
              <a:srgbClr val="D7B56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CE2E73B-83CA-4735-B19F-4AD563F4C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54330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A56A0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28000"/>
              </a:lnSpc>
              <a:buNone/>
              <a:defRPr sz="1275" b="1">
                <a:solidFill>
                  <a:srgbClr val="A56A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A56A00"/>
                </a:solidFill>
                <a:latin typeface="Microsoft YaHei"/>
                <a:ea typeface="Microsoft YaHei"/>
                <a:cs typeface="Microsoft YaHei"/>
              </a:rPr>
              <a:t>要研究调度，需要制造拥塞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C4AC52D-4691-4330-AB0E-13BA62091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943350"/>
            <a:ext cx="4762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40" b="0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40000"/>
              </a:lnSpc>
              <a:buNone/>
              <a:defRPr sz="1140" b="0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40" b="0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rPr>
              <a:t>降低带宽、增加车辆数、提高并发，或给迁移设置专用带宽后，再比较调度与排队策略。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77E2B7B-8CBA-4566-A708-947836C50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721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F750D8E-A646-463F-9201-8CB7AA9B4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990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28000"/>
              </a:lnSpc>
              <a:buNone/>
              <a:defRPr sz="1275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rPr>
              <a:t>排队时间为 0 是当前负载的诊断，不是迁移系统的普遍结论。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6417740-E15F-418F-9943-E18D8BFDE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534150"/>
            <a:ext cx="381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75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lnSpc>
                <a:spcPct val="128000"/>
              </a:lnSpc>
              <a:buNone/>
              <a:defRPr sz="75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21054501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3EBB7CE-C1AA-4EF6-85EC-45CAE1FCC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00" b="1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28000"/>
              </a:lnSpc>
              <a:buNone/>
              <a:defRPr sz="900" b="1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rPr>
              <a:t>07  资源与开销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A91FC9-3C7F-493A-A687-9EC41D7CF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rPr>
              <a:t>预热 base 能降低中断，但要支付后台复制流量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E9DAF8-04E0-430F-8187-704569EB6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62075"/>
            <a:ext cx="609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5B5B"/>
          </a:solidFill>
          <a:ln xmlns:a="http://schemas.openxmlformats.org/drawingml/2006/main" w="0">
            <a:noFill/>
            <a:prstDash val="solid"/>
          </a:ln>
        </p:spPr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84411E-FB7F-4508-89FD-490C6DC25072}"/>
              </a:ext>
            </a:extLst>
          </p:cNvPr>
          <p:cNvGraphicFramePr/>
          <p:nvPr/>
        </p:nvGraphicFramePr>
        <p:xfrm>
          <a:off xmlns:a="http://schemas.openxmlformats.org/drawingml/2006/main" x="685800" y="1790700"/>
          <a:ext xmlns:a="http://schemas.openxmlformats.org/drawingml/2006/main" cx="10820400" cy="32385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1238250"/>
                <a:gridCol w="1428750"/>
                <a:gridCol w="1381125"/>
                <a:gridCol w="1714500"/>
                <a:gridCol w="1666875"/>
                <a:gridCol w="1676400"/>
                <a:gridCol w="1714500"/>
              </a:tblGrid>
              <a:tr h="647700">
                <a:tc>
                  <a:txBody>
                    <a:bodyPr/>
                    <a:lstStyle/>
                    <a:p>
                      <a:pPr algn="l"/>
                      <a:r>
                        <a:rPr sz="975" b="1">
                          <a:solidFill>
                            <a:srgbClr val="FFFFFF"/>
                          </a:solidFill>
                        </a:rPr>
                        <a:t>数据</a:t>
                      </a:r>
                    </a:p>
                  </a:txBody>
                  <a:tcPr marL="91440" marR="91440" marT="45720" marB="45720">
                    <a:solidFill>
                      <a:srgbClr val="0F5B5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75" b="1">
                          <a:solidFill>
                            <a:srgbClr val="FFFFFF"/>
                          </a:solidFill>
                        </a:rPr>
                        <a:t>维护</a:t>
                      </a:r>
                    </a:p>
                  </a:txBody>
                  <a:tcPr marL="91440" marR="91440" marT="45720" marB="45720">
                    <a:solidFill>
                      <a:srgbClr val="0F5B5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75" b="1">
                          <a:solidFill>
                            <a:srgbClr val="FFFFFF"/>
                          </a:solidFill>
                        </a:rPr>
                        <a:t>中断</a:t>
                      </a:r>
                    </a:p>
                  </a:txBody>
                  <a:tcPr marL="91440" marR="91440" marT="45720" marB="45720">
                    <a:solidFill>
                      <a:srgbClr val="0F5B5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75" b="1">
                          <a:solidFill>
                            <a:srgbClr val="FFFFFF"/>
                          </a:solidFill>
                        </a:rPr>
                        <a:t>迁移字节</a:t>
                      </a:r>
                    </a:p>
                  </a:txBody>
                  <a:tcPr marL="91440" marR="91440" marT="45720" marB="45720">
                    <a:solidFill>
                      <a:srgbClr val="0F5B5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75" b="1">
                          <a:solidFill>
                            <a:srgbClr val="FFFFFF"/>
                          </a:solidFill>
                        </a:rPr>
                        <a:t>base 复制</a:t>
                      </a:r>
                    </a:p>
                  </a:txBody>
                  <a:tcPr marL="91440" marR="91440" marT="45720" marB="45720">
                    <a:solidFill>
                      <a:srgbClr val="0F5B5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75" b="1">
                          <a:solidFill>
                            <a:srgbClr val="FFFFFF"/>
                          </a:solidFill>
                        </a:rPr>
                        <a:t>总流量</a:t>
                      </a:r>
                    </a:p>
                  </a:txBody>
                  <a:tcPr marL="91440" marR="91440" marT="45720" marB="45720">
                    <a:solidFill>
                      <a:srgbClr val="0F5B5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75" b="1">
                          <a:solidFill>
                            <a:srgbClr val="FFFFFF"/>
                          </a:solidFill>
                        </a:rPr>
                        <a:t>开销比</a:t>
                      </a:r>
                    </a:p>
                  </a:txBody>
                  <a:tcPr marL="91440" marR="91440" marT="45720" marB="45720">
                    <a:solidFill>
                      <a:srgbClr val="0F5B5B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pPr algn="l"/>
                      <a:r>
                        <a:rPr sz="930">
                          <a:solidFill>
                            <a:srgbClr val="1B1B19"/>
                          </a:solidFill>
                        </a:rPr>
                        <a:t>SF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30">
                          <a:solidFill>
                            <a:srgbClr val="1B1B19"/>
                          </a:solidFill>
                        </a:rPr>
                        <a:t>否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30">
                          <a:solidFill>
                            <a:srgbClr val="1B1B19"/>
                          </a:solidFill>
                        </a:rPr>
                        <a:t>4.82%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30">
                          <a:solidFill>
                            <a:srgbClr val="1B1B19"/>
                          </a:solidFill>
                        </a:rPr>
                        <a:t>26.9 GB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30">
                          <a:solidFill>
                            <a:srgbClr val="1B1B19"/>
                          </a:solidFill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30">
                          <a:solidFill>
                            <a:srgbClr val="1B1B19"/>
                          </a:solidFill>
                        </a:rPr>
                        <a:t>26.9 GB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30">
                          <a:solidFill>
                            <a:srgbClr val="1B1B19"/>
                          </a:solidFill>
                        </a:rPr>
                        <a:t>3.85×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pPr algn="l"/>
                      <a:r>
                        <a:rPr sz="930">
                          <a:solidFill>
                            <a:srgbClr val="1B1B19"/>
                          </a:solidFill>
                        </a:rPr>
                        <a:t>SF</a:t>
                      </a:r>
                    </a:p>
                  </a:txBody>
                  <a:tcPr marL="91440" marR="91440" marT="45720" marB="45720">
                    <a:solidFill>
                      <a:srgbClr val="FBFB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30">
                          <a:solidFill>
                            <a:srgbClr val="1B1B19"/>
                          </a:solidFill>
                        </a:rPr>
                        <a:t>是</a:t>
                      </a:r>
                    </a:p>
                  </a:txBody>
                  <a:tcPr marL="91440" marR="91440" marT="45720" marB="45720">
                    <a:solidFill>
                      <a:srgbClr val="FBFB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30">
                          <a:solidFill>
                            <a:srgbClr val="1B1B19"/>
                          </a:solidFill>
                        </a:rPr>
                        <a:t>2.78%</a:t>
                      </a:r>
                    </a:p>
                  </a:txBody>
                  <a:tcPr marL="91440" marR="91440" marT="45720" marB="45720">
                    <a:solidFill>
                      <a:srgbClr val="FBFB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30">
                          <a:solidFill>
                            <a:srgbClr val="1B1B19"/>
                          </a:solidFill>
                        </a:rPr>
                        <a:t>18.1 GB</a:t>
                      </a:r>
                    </a:p>
                  </a:txBody>
                  <a:tcPr marL="91440" marR="91440" marT="45720" marB="45720">
                    <a:solidFill>
                      <a:srgbClr val="FBFB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30">
                          <a:solidFill>
                            <a:srgbClr val="1B1B19"/>
                          </a:solidFill>
                        </a:rPr>
                        <a:t>34.0 GB</a:t>
                      </a:r>
                    </a:p>
                  </a:txBody>
                  <a:tcPr marL="91440" marR="91440" marT="45720" marB="45720">
                    <a:solidFill>
                      <a:srgbClr val="FBFB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30">
                          <a:solidFill>
                            <a:srgbClr val="1B1B19"/>
                          </a:solidFill>
                        </a:rPr>
                        <a:t>52.1 GB</a:t>
                      </a:r>
                    </a:p>
                  </a:txBody>
                  <a:tcPr marL="91440" marR="91440" marT="45720" marB="45720">
                    <a:solidFill>
                      <a:srgbClr val="FBFB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30">
                          <a:solidFill>
                            <a:srgbClr val="1B1B19"/>
                          </a:solidFill>
                        </a:rPr>
                        <a:t>7.47×</a:t>
                      </a:r>
                    </a:p>
                  </a:txBody>
                  <a:tcPr marL="91440" marR="91440" marT="45720" marB="45720">
                    <a:solidFill>
                      <a:srgbClr val="FBFBF8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pPr algn="l"/>
                      <a:r>
                        <a:rPr sz="930">
                          <a:solidFill>
                            <a:srgbClr val="1B1B19"/>
                          </a:solidFill>
                        </a:rPr>
                        <a:t>Rome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30">
                          <a:solidFill>
                            <a:srgbClr val="1B1B19"/>
                          </a:solidFill>
                        </a:rPr>
                        <a:t>否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30">
                          <a:solidFill>
                            <a:srgbClr val="1B1B19"/>
                          </a:solidFill>
                        </a:rPr>
                        <a:t>4.20%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30">
                          <a:solidFill>
                            <a:srgbClr val="1B1B19"/>
                          </a:solidFill>
                        </a:rPr>
                        <a:t>61.1 GB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30">
                          <a:solidFill>
                            <a:srgbClr val="1B1B19"/>
                          </a:solidFill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30">
                          <a:solidFill>
                            <a:srgbClr val="1B1B19"/>
                          </a:solidFill>
                        </a:rPr>
                        <a:t>61.1 GB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30">
                          <a:solidFill>
                            <a:srgbClr val="1B1B19"/>
                          </a:solidFill>
                        </a:rPr>
                        <a:t>8.75×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pPr algn="l"/>
                      <a:r>
                        <a:rPr sz="930">
                          <a:solidFill>
                            <a:srgbClr val="1B1B19"/>
                          </a:solidFill>
                        </a:rPr>
                        <a:t>Rome</a:t>
                      </a:r>
                    </a:p>
                  </a:txBody>
                  <a:tcPr marL="91440" marR="91440" marT="45720" marB="45720">
                    <a:solidFill>
                      <a:srgbClr val="FBFB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30">
                          <a:solidFill>
                            <a:srgbClr val="1B1B19"/>
                          </a:solidFill>
                        </a:rPr>
                        <a:t>是</a:t>
                      </a:r>
                    </a:p>
                  </a:txBody>
                  <a:tcPr marL="91440" marR="91440" marT="45720" marB="45720">
                    <a:solidFill>
                      <a:srgbClr val="FBFB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30">
                          <a:solidFill>
                            <a:srgbClr val="1B1B19"/>
                          </a:solidFill>
                        </a:rPr>
                        <a:t>2.69%</a:t>
                      </a:r>
                    </a:p>
                  </a:txBody>
                  <a:tcPr marL="91440" marR="91440" marT="45720" marB="45720">
                    <a:solidFill>
                      <a:srgbClr val="FBFB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30">
                          <a:solidFill>
                            <a:srgbClr val="1B1B19"/>
                          </a:solidFill>
                        </a:rPr>
                        <a:t>47.4 GB</a:t>
                      </a:r>
                    </a:p>
                  </a:txBody>
                  <a:tcPr marL="91440" marR="91440" marT="45720" marB="45720">
                    <a:solidFill>
                      <a:srgbClr val="FBFB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30">
                          <a:solidFill>
                            <a:srgbClr val="1B1B19"/>
                          </a:solidFill>
                        </a:rPr>
                        <a:t>42.3 GB</a:t>
                      </a:r>
                    </a:p>
                  </a:txBody>
                  <a:tcPr marL="91440" marR="91440" marT="45720" marB="45720">
                    <a:solidFill>
                      <a:srgbClr val="FBFB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30">
                          <a:solidFill>
                            <a:srgbClr val="1B1B19"/>
                          </a:solidFill>
                        </a:rPr>
                        <a:t>89.7 GB</a:t>
                      </a:r>
                    </a:p>
                  </a:txBody>
                  <a:tcPr marL="91440" marR="91440" marT="45720" marB="45720">
                    <a:solidFill>
                      <a:srgbClr val="FBFB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30">
                          <a:solidFill>
                            <a:srgbClr val="1B1B19"/>
                          </a:solidFill>
                        </a:rPr>
                        <a:t>12.85×</a:t>
                      </a:r>
                    </a:p>
                  </a:txBody>
                  <a:tcPr marL="91440" marR="91440" marT="45720" marB="45720">
                    <a:solidFill>
                      <a:srgbClr val="FBFBF8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B84ED9-A6C4-4EFB-9CD9-9973F430F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10820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28000"/>
              </a:lnSpc>
              <a:buNone/>
              <a:defRPr sz="105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rPr>
              <a:t>实验：每 600 秒把 base 复制给 4 个相邻节点；比较 reactive_delta 在 40 km/h 下的结果。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B78111-02F9-43C1-B9AF-414CD897F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721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36A2906-3AC1-4C80-AB68-A47F9BC50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990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28000"/>
              </a:lnSpc>
              <a:buNone/>
              <a:defRPr sz="1275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rPr>
              <a:t>base 维护确实买到连续性，但后台复制成本可能超过省下的迁移字节。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1F60668-140C-4EA8-8EC2-0EF69ED11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534150"/>
            <a:ext cx="381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75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lnSpc>
                <a:spcPct val="128000"/>
              </a:lnSpc>
              <a:buNone/>
              <a:defRPr sz="75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11394114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D739459-9EF7-4251-B682-9AC06A57F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00" b="1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28000"/>
              </a:lnSpc>
              <a:buNone/>
              <a:defRPr sz="900" b="1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rPr>
              <a:t>08  资源与开销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B147D4-2DA8-47F2-A4E5-D52858882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rPr>
              <a:t>base 维护是一项“中断换流量”的交易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5AE770-772B-4F5E-945A-605B8BF31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62075"/>
            <a:ext cx="609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5B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FCB303-34E3-4E80-A32A-C3F63EA3C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47850"/>
            <a:ext cx="800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28000"/>
              </a:lnSpc>
              <a:buNone/>
              <a:defRPr sz="1650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rPr>
              <a:t>SF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D09313-B492-416B-8CC5-4A1EC6FEC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809750"/>
            <a:ext cx="4572000" cy="118110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EBF1E7"/>
          </a:solidFill>
          <a:ln xmlns:a="http://schemas.openxmlformats.org/drawingml/2006/main" w="9525">
            <a:solidFill>
              <a:srgbClr val="BDD0B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6451C0-2DC1-4FF2-B344-C885FB20E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2000250"/>
            <a:ext cx="4114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54724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28000"/>
              </a:lnSpc>
              <a:buNone/>
              <a:defRPr sz="1275" b="1">
                <a:solidFill>
                  <a:srgbClr val="5472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547248"/>
                </a:solidFill>
                <a:latin typeface="Microsoft YaHei"/>
                <a:ea typeface="Microsoft YaHei"/>
                <a:cs typeface="Microsoft YaHei"/>
              </a:rPr>
              <a:t>中断下降 2.04 个百分点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9980EB-8977-45B0-9DB1-E91A07EFA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2400300"/>
            <a:ext cx="4114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28000"/>
              </a:lnSpc>
              <a:buNone/>
              <a:defRPr sz="99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9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rPr>
              <a:t>收益：服务不可用时间减少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16A514-B097-4A6F-8057-3CFEAE1A2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809750"/>
            <a:ext cx="5067300" cy="118110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F7E8E2"/>
          </a:solidFill>
          <a:ln xmlns:a="http://schemas.openxmlformats.org/drawingml/2006/main" w="9525">
            <a:solidFill>
              <a:srgbClr val="DDB1A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968CB4-1051-4CC5-94C0-515209280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000250"/>
            <a:ext cx="4610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B84A2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28000"/>
              </a:lnSpc>
              <a:buNone/>
              <a:defRPr sz="1275" b="1">
                <a:solidFill>
                  <a:srgbClr val="B84A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B84A24"/>
                </a:solidFill>
                <a:latin typeface="Microsoft YaHei"/>
                <a:ea typeface="Microsoft YaHei"/>
                <a:cs typeface="Microsoft YaHei"/>
              </a:rPr>
              <a:t>总流量增加 94%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AA15893-1F7C-4804-847F-AB5F88E53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400300"/>
            <a:ext cx="4610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28000"/>
              </a:lnSpc>
              <a:buNone/>
              <a:defRPr sz="99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9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rPr>
              <a:t>代价：额外复制 +25.2 GB，还要占用邻居存储和链路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878D5E0-5F37-4A72-9410-5EBDDBDCE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0"/>
            <a:ext cx="800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B84A2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28000"/>
              </a:lnSpc>
              <a:buNone/>
              <a:defRPr sz="1650" b="1">
                <a:solidFill>
                  <a:srgbClr val="B84A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B84A24"/>
                </a:solidFill>
                <a:latin typeface="Microsoft YaHei"/>
                <a:ea typeface="Microsoft YaHei"/>
                <a:cs typeface="Microsoft YaHei"/>
              </a:rPr>
              <a:t>Rome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ECB0F1D-71AD-45CE-83F1-64914A808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390900"/>
            <a:ext cx="4572000" cy="118110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EBF1E7"/>
          </a:solidFill>
          <a:ln xmlns:a="http://schemas.openxmlformats.org/drawingml/2006/main" w="9525">
            <a:solidFill>
              <a:srgbClr val="BDD0B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89D1303-52D5-4C0F-8123-E81435BA6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3581400"/>
            <a:ext cx="4114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54724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28000"/>
              </a:lnSpc>
              <a:buNone/>
              <a:defRPr sz="1275" b="1">
                <a:solidFill>
                  <a:srgbClr val="5472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547248"/>
                </a:solidFill>
                <a:latin typeface="Microsoft YaHei"/>
                <a:ea typeface="Microsoft YaHei"/>
                <a:cs typeface="Microsoft YaHei"/>
              </a:rPr>
              <a:t>中断下降 1.51 个百分点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DFB2CAC-7D70-43A6-8E25-D624D033D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3981450"/>
            <a:ext cx="4114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28000"/>
              </a:lnSpc>
              <a:buNone/>
              <a:defRPr sz="99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9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rPr>
              <a:t>收益：服务不可用时间减少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597184A-B771-4449-98A0-CD180CED3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390900"/>
            <a:ext cx="5067300" cy="118110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F7E8E2"/>
          </a:solidFill>
          <a:ln xmlns:a="http://schemas.openxmlformats.org/drawingml/2006/main" w="9525">
            <a:solidFill>
              <a:srgbClr val="DDB1A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1DB7A58-6A47-47BE-859A-73B8EB8BA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581400"/>
            <a:ext cx="4610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B84A2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28000"/>
              </a:lnSpc>
              <a:buNone/>
              <a:defRPr sz="1275" b="1">
                <a:solidFill>
                  <a:srgbClr val="B84A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B84A24"/>
                </a:solidFill>
                <a:latin typeface="Microsoft YaHei"/>
                <a:ea typeface="Microsoft YaHei"/>
                <a:cs typeface="Microsoft YaHei"/>
              </a:rPr>
              <a:t>总流量增加 47%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B582485-00B9-4DEA-971C-AE9A35D92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981450"/>
            <a:ext cx="4610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28000"/>
              </a:lnSpc>
              <a:buNone/>
              <a:defRPr sz="99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9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rPr>
              <a:t>代价：额外复制 +28.6 GB，还要占用邻居存储和链路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AF2A702-789D-49AB-A73B-805AA73C9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0"/>
            <a:ext cx="1082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85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38000"/>
              </a:lnSpc>
              <a:buNone/>
              <a:defRPr sz="1185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85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rPr>
              <a:t>因此问题已经明确：base 需要存到哪些节点、复制给谁、多久复制一次。单纯“有 base”不足以说明方案更优。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B3FD49F-907B-401B-88C2-31C4D829D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721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CA398B6-12FB-44F7-9C7A-2EA8A937A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990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28000"/>
              </a:lnSpc>
              <a:buNone/>
              <a:defRPr sz="1275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rPr>
              <a:t>优化目标应从“是否预热”改成“用多少存储和后台流量换取多少连续性”。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3866D69-2750-424E-B90A-C9C008AD9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534150"/>
            <a:ext cx="381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75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lnSpc>
                <a:spcPct val="128000"/>
              </a:lnSpc>
              <a:buNone/>
              <a:defRPr sz="75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134295686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ED1527B-4326-4736-9E0F-4F0394B87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00" b="1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28000"/>
              </a:lnSpc>
              <a:buNone/>
              <a:defRPr sz="900" b="1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rPr>
              <a:t>09  资源与开销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20BDB0-F891-4507-8109-F3831E664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rPr>
              <a:t>下一组实验研究 base 的放置范围与刷新间隔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5B4117-2617-4064-80F7-208E83827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62075"/>
            <a:ext cx="609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5B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8019FB-B6C1-4A49-9FF3-7D1C6CCA8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6690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28000"/>
              </a:lnSpc>
              <a:buNone/>
              <a:defRPr sz="1500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rPr>
              <a:t>复制给谁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6A51EA-9F2B-4498-B70F-EAB14EAC7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05050"/>
            <a:ext cx="314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63" b="0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45000"/>
              </a:lnSpc>
              <a:buNone/>
              <a:defRPr sz="1163" b="0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0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rPr>
              <a:t>四邻居 / 预测下一格 / 高概率下一跳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4F313C-8F4C-4AFA-A34E-188B8A236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0"/>
            <a:ext cx="314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9122C7-A9A5-4D93-8CBF-322DBFA44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0"/>
            <a:ext cx="3143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28000"/>
              </a:lnSpc>
              <a:buNone/>
              <a:defRPr sz="105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rPr>
              <a:t>识别哪些副本真正被用到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2DE277-2402-4F42-8862-B7A0EC503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86690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A56A0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28000"/>
              </a:lnSpc>
              <a:buNone/>
              <a:defRPr sz="1500" b="1">
                <a:solidFill>
                  <a:srgbClr val="A56A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A56A00"/>
                </a:solidFill>
                <a:latin typeface="Microsoft YaHei"/>
                <a:ea typeface="Microsoft YaHei"/>
                <a:cs typeface="Microsoft YaHei"/>
              </a:rPr>
              <a:t>多久复制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3146ED1-C86A-4E6F-9748-EC35595B4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305050"/>
            <a:ext cx="314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63" b="0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45000"/>
              </a:lnSpc>
              <a:buNone/>
              <a:defRPr sz="1163" b="0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0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rPr>
              <a:t>60 / 300 / 600 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917FBEF-9039-434E-9E51-814FE48D1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429000"/>
            <a:ext cx="314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46BF743-B004-4DB8-AE04-96D97CA5A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619500"/>
            <a:ext cx="3143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28000"/>
              </a:lnSpc>
              <a:buNone/>
              <a:defRPr sz="105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rPr>
              <a:t>找连续性收益与后台流量的拐点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7FFCAF6-07F7-4152-84DD-2FE6A4AB0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86690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B84A2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28000"/>
              </a:lnSpc>
              <a:buNone/>
              <a:defRPr sz="1500" b="1">
                <a:solidFill>
                  <a:srgbClr val="B84A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B84A24"/>
                </a:solidFill>
                <a:latin typeface="Microsoft YaHei"/>
                <a:ea typeface="Microsoft YaHei"/>
                <a:cs typeface="Microsoft YaHei"/>
              </a:rPr>
              <a:t>保留多久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124167E-A6E4-4119-BECB-0CC0197B7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305050"/>
            <a:ext cx="314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63" b="0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45000"/>
              </a:lnSpc>
              <a:buNone/>
              <a:defRPr sz="1163" b="0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0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rPr>
              <a:t>固定过期 / 访问衰减 / 按存储预算淘汰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CF9CC5E-7DDB-409D-A92B-E0E48CDBD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429000"/>
            <a:ext cx="314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DAB426F-C963-4A76-820E-D45536CEA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619500"/>
            <a:ext cx="3143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28000"/>
              </a:lnSpc>
              <a:buNone/>
              <a:defRPr sz="105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rPr>
              <a:t>避免无限复制和长期占用存储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323A083-3794-4AA1-80C5-E74DEDE09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29150"/>
            <a:ext cx="108204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6EEDC"/>
          </a:solidFill>
          <a:ln xmlns:a="http://schemas.openxmlformats.org/drawingml/2006/main" w="9525">
            <a:solidFill>
              <a:srgbClr val="D7B56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B2A4872-B809-435D-BDE7-9D36F62FB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781550"/>
            <a:ext cx="10363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36000"/>
              </a:lnSpc>
              <a:buNone/>
              <a:defRPr sz="1125" b="0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rPr>
              <a:t>“只复制预测下一格可降到约 1/4”目前只是流量上界假设。预测错误、命中率和刷新频率都会改变结果，必须实测。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E5D2C02-E9B9-4AB3-9EA2-0D0F26E00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721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B27E54E-2821-4B23-872E-F318ABE36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990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28000"/>
              </a:lnSpc>
              <a:buNone/>
              <a:defRPr sz="1275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rPr>
              <a:t>最有解释力的实验，是比较 base 命中率、额外流量和后端存储占用。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91D5486-8669-43D3-A918-FDA5FF6F9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534150"/>
            <a:ext cx="381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75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lnSpc>
                <a:spcPct val="128000"/>
              </a:lnSpc>
              <a:buNone/>
              <a:defRPr sz="75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112024477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947FC7A-2F20-472F-AD09-491D499F0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00" b="1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28000"/>
              </a:lnSpc>
              <a:buNone/>
              <a:defRPr sz="900" b="1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rPr>
              <a:t>10  资源与开销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054D6B-0E03-4D5D-98C5-49CFC0C5F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rPr>
              <a:t>结论：迁移开销需要按资源而不是按字节核算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31B7AC-070A-4F12-B4BA-1B731213B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62075"/>
            <a:ext cx="609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5B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75B48E-F458-4398-9513-D288883D8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533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28000"/>
              </a:lnSpc>
              <a:buNone/>
              <a:defRPr sz="1650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4C15F4-458C-4A10-A4D7-9EFBC61D4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1695450"/>
            <a:ext cx="990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88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28000"/>
              </a:lnSpc>
              <a:buNone/>
              <a:defRPr sz="1388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88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rPr>
              <a:t>带宽时间解释了链路代价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3D95E4-9E92-4F98-9E79-E211F393B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019300"/>
            <a:ext cx="9906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65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065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65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rPr>
              <a:t>真实轨迹上增量明显降低链路占用；冷目标数据上几乎无效。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25F025-FF58-4FB1-B9AF-A93079113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533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28000"/>
              </a:lnSpc>
              <a:buNone/>
              <a:defRPr sz="1650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83AFFE-E3F6-4888-81C1-3C22D75E9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571750"/>
            <a:ext cx="990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88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28000"/>
              </a:lnSpc>
              <a:buNone/>
              <a:defRPr sz="1388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88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rPr>
              <a:t>时间去向决定优化重点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9684915-3991-4294-8010-0A79A813F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895600"/>
            <a:ext cx="9906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65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065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65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rPr>
              <a:t>SF 主要传状态，合成数据约 75% 的时间在拉取镜像。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6C99E8F-4831-415D-9568-279884366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48050"/>
            <a:ext cx="533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28000"/>
              </a:lnSpc>
              <a:buNone/>
              <a:defRPr sz="1650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2C1E4C5-5984-4919-9CA2-EBCCF900E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448050"/>
            <a:ext cx="990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88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28000"/>
              </a:lnSpc>
              <a:buNone/>
              <a:defRPr sz="1388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88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rPr>
              <a:t>当前没有排队压力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B3FCB82-66D9-4238-8FD1-91AF48E3E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771900"/>
            <a:ext cx="9906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65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065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65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rPr>
              <a:t>瓶颈仍是数据量；要验证调度，必须构造更高负载。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26922F8-97B3-434E-AC0F-7FE0F36C8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24350"/>
            <a:ext cx="533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28000"/>
              </a:lnSpc>
              <a:buNone/>
              <a:defRPr sz="1650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FA83844-7E7E-477E-8FD0-04E9EA90D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324350"/>
            <a:ext cx="990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88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28000"/>
              </a:lnSpc>
              <a:buNone/>
              <a:defRPr sz="1388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88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rPr>
              <a:t>base 维护需要用流量和存储换连续性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7E102AF-A2C8-4EFD-B277-4EEE487E5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648200"/>
            <a:ext cx="9906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65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065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65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rPr>
              <a:t>中断下降有明确收益，但总流量和开销比显著上升。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C5B99E4-841E-4C83-83FC-1CC52DBA5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108204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7F0EE"/>
          </a:solidFill>
          <a:ln xmlns:a="http://schemas.openxmlformats.org/drawingml/2006/main" w="9525">
            <a:solidFill>
              <a:srgbClr val="0F5B5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017E87E-4A27-4704-966E-E777943FC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286375"/>
            <a:ext cx="10439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13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28000"/>
              </a:lnSpc>
              <a:buNone/>
              <a:defRPr sz="1013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rPr>
              <a:t>下一阶段：联合优化 base 放置、复制范围、刷新间隔和迁移触发时机。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B540077-5C74-4ADC-A2A0-01A79D72A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721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9D33E2F-9FD0-43C0-8C72-1C32A608F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990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28000"/>
              </a:lnSpc>
              <a:buNone/>
              <a:defRPr sz="1275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rPr>
              <a:t>后续所有策略比较，都应同时报告中断、带宽时间、总流量和存储占用。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62FDEB4-51D7-455B-840A-42B18F284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534150"/>
            <a:ext cx="381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75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lnSpc>
                <a:spcPct val="128000"/>
              </a:lnSpc>
              <a:buNone/>
              <a:defRPr sz="75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74488109"/>
      </p:ext>
    </p:extLst>
  </p:cSld>
</p:sld>
</file>

<file path=ppt/theme/theme1.xml><?xml version="1.0" encoding="utf-8"?>
<a:theme xmlns:a="http://schemas.openxmlformats.org/drawingml/2006/main" name="ChatGPT">
  <a:themeElements>
    <a:clrScheme name="Migration Resource Teaching">
      <a:dk1>
        <a:srgbClr val="000000"/>
      </a:dk1>
      <a:lt1>
        <a:srgbClr val="FFFFFF"/>
      </a:lt1>
      <a:dk2>
        <a:srgbClr val="123F3F"/>
      </a:dk2>
      <a:lt2>
        <a:srgbClr val="E7F0EE"/>
      </a:lt2>
      <a:accent1>
        <a:srgbClr val="0F5B5B"/>
      </a:accent1>
      <a:accent2>
        <a:srgbClr val="B84A24"/>
      </a:accent2>
      <a:accent3>
        <a:srgbClr val="A56A00"/>
      </a:accent3>
      <a:accent4>
        <a:srgbClr val="547248"/>
      </a:accent4>
      <a:accent5>
        <a:srgbClr val="4C6B78"/>
      </a:accent5>
      <a:accent6>
        <a:srgbClr val="7A8F8B"/>
      </a:accent6>
      <a:hlink>
        <a:srgbClr val="0F5B5B"/>
      </a:hlink>
      <a:folHlink>
        <a:srgbClr val="B84A24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Migration Resource Teaching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2026-10-22T04:53:24.8370000Z</dcterms:created>
  <dcterms:modified xsi:type="dcterms:W3CDTF">2026-10-22T04:53:24.8370000Z</dcterms:modified>
</coreProperties>
</file>