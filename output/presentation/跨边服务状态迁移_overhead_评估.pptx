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0017dc2230490c" /><Relationship Type="http://schemas.openxmlformats.org/officeDocument/2006/relationships/extended-properties" Target="/docProps/app.xml" Id="R96ac3ec40c954061" /><Relationship Type="http://schemas.openxmlformats.org/officeDocument/2006/relationships/officeDocument" Target="/ppt/presentation.xml" Id="R24a7bdca57174c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cae01ae1514733"/>
  </p:sldMasterIdLst>
  <p:notesMasterIdLst>
    <p:notesMasterId xmlns:r="http://schemas.openxmlformats.org/officeDocument/2006/relationships" r:id="R735db3283116484c"/>
  </p:notesMasterIdLst>
  <p:sldIdLst>
    <p:sldId xmlns:r="http://schemas.openxmlformats.org/officeDocument/2006/relationships" id="256" r:id="R8b05525fd2504c21"/>
    <p:sldId xmlns:r="http://schemas.openxmlformats.org/officeDocument/2006/relationships" id="257" r:id="R011c4a3386e84222"/>
    <p:sldId xmlns:r="http://schemas.openxmlformats.org/officeDocument/2006/relationships" id="258" r:id="Re8de518c3197476e"/>
    <p:sldId xmlns:r="http://schemas.openxmlformats.org/officeDocument/2006/relationships" id="259" r:id="R27618af96e4d4067"/>
    <p:sldId xmlns:r="http://schemas.openxmlformats.org/officeDocument/2006/relationships" id="260" r:id="Rdabf2f960159435e"/>
    <p:sldId xmlns:r="http://schemas.openxmlformats.org/officeDocument/2006/relationships" id="261" r:id="Rb86945c82d364bad"/>
    <p:sldId xmlns:r="http://schemas.openxmlformats.org/officeDocument/2006/relationships" id="262" r:id="R9fc8183ad7674b2e"/>
    <p:sldId xmlns:r="http://schemas.openxmlformats.org/officeDocument/2006/relationships" id="263" r:id="Rf209fd42ed314215"/>
    <p:sldId xmlns:r="http://schemas.openxmlformats.org/officeDocument/2006/relationships" id="264" r:id="R3f3cef9222bc4340"/>
    <p:sldId xmlns:r="http://schemas.openxmlformats.org/officeDocument/2006/relationships" id="265" r:id="R3817d7242b9a430f"/>
    <p:sldId xmlns:r="http://schemas.openxmlformats.org/officeDocument/2006/relationships" id="266" r:id="R55298685ebaf49e2"/>
    <p:sldId xmlns:r="http://schemas.openxmlformats.org/officeDocument/2006/relationships" id="267" r:id="R53aab9afe3d044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b77ddcd80146dd" /><Relationship Type="http://schemas.openxmlformats.org/officeDocument/2006/relationships/slideMaster" Target="/ppt/slideMasters/slideMaster1.xml" Id="R19cae01ae1514733" /><Relationship Type="http://schemas.openxmlformats.org/officeDocument/2006/relationships/notesMaster" Target="/ppt/notesMasters/notesMaster1.xml" Id="R735db3283116484c" /><Relationship Type="http://schemas.openxmlformats.org/officeDocument/2006/relationships/presProps" Target="/ppt/presProps.xml" Id="Re1aa6fd200e6490d" /><Relationship Type="http://schemas.openxmlformats.org/officeDocument/2006/relationships/tableStyles" Target="/ppt/tableStyles.xml" Id="R419e4e4f80f54ec1" /><Relationship Type="http://schemas.openxmlformats.org/officeDocument/2006/relationships/slide" Target="/ppt/slides/slide1.xml" Id="R8b05525fd2504c21" /><Relationship Type="http://schemas.openxmlformats.org/officeDocument/2006/relationships/slide" Target="/ppt/slides/slide2.xml" Id="R011c4a3386e84222" /><Relationship Type="http://schemas.openxmlformats.org/officeDocument/2006/relationships/slide" Target="/ppt/slides/slide3.xml" Id="Re8de518c3197476e" /><Relationship Type="http://schemas.openxmlformats.org/officeDocument/2006/relationships/slide" Target="/ppt/slides/slide4.xml" Id="R27618af96e4d4067" /><Relationship Type="http://schemas.openxmlformats.org/officeDocument/2006/relationships/slide" Target="/ppt/slides/slide5.xml" Id="Rdabf2f960159435e" /><Relationship Type="http://schemas.openxmlformats.org/officeDocument/2006/relationships/slide" Target="/ppt/slides/slide6.xml" Id="Rb86945c82d364bad" /><Relationship Type="http://schemas.openxmlformats.org/officeDocument/2006/relationships/slide" Target="/ppt/slides/slide7.xml" Id="R9fc8183ad7674b2e" /><Relationship Type="http://schemas.openxmlformats.org/officeDocument/2006/relationships/slide" Target="/ppt/slides/slide8.xml" Id="Rf209fd42ed314215" /><Relationship Type="http://schemas.openxmlformats.org/officeDocument/2006/relationships/slide" Target="/ppt/slides/slide9.xml" Id="R3f3cef9222bc4340" /><Relationship Type="http://schemas.openxmlformats.org/officeDocument/2006/relationships/slide" Target="/ppt/slides/slide10.xml" Id="R3817d7242b9a430f" /><Relationship Type="http://schemas.openxmlformats.org/officeDocument/2006/relationships/slide" Target="/ppt/slides/slide11.xml" Id="R55298685ebaf49e2" /><Relationship Type="http://schemas.openxmlformats.org/officeDocument/2006/relationships/slide" Target="/ppt/slides/slide12.xml" Id="R53aab9afe3d044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5c721c230546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Storage Systems Editorial">
      <a:dk1>
        <a:srgbClr val="000000"/>
      </a:dk1>
      <a:lt1>
        <a:srgbClr val="FFFFFF"/>
      </a:lt1>
      <a:dk2>
        <a:srgbClr val="123F3F"/>
      </a:dk2>
      <a:lt2>
        <a:srgbClr val="E7F0EE"/>
      </a:lt2>
      <a:accent1>
        <a:srgbClr val="0F5B5B"/>
      </a:accent1>
      <a:accent2>
        <a:srgbClr val="B84A24"/>
      </a:accent2>
      <a:accent3>
        <a:srgbClr val="7A8F8B"/>
      </a:accent3>
      <a:accent4>
        <a:srgbClr val="9C6B4E"/>
      </a:accent4>
      <a:accent5>
        <a:srgbClr val="4C6B78"/>
      </a:accent5>
      <a:accent6>
        <a:srgbClr val="6E7F5C"/>
      </a:accent6>
      <a:hlink>
        <a:srgbClr val="0F5B5B"/>
      </a:hlink>
      <a:folHlink>
        <a:srgbClr val="B84A24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Storage Systems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109bd9865f4171" /><Relationship Type="http://schemas.openxmlformats.org/officeDocument/2006/relationships/notesMaster" Target="/ppt/notesMasters/notesMaster1.xml" Id="R0b45b6dc580343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346bf697734a98" /><Relationship Type="http://schemas.openxmlformats.org/officeDocument/2006/relationships/notesMaster" Target="/ppt/notesMasters/notesMaster1.xml" Id="Rf788718dba8245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d8d8630b274078" /><Relationship Type="http://schemas.openxmlformats.org/officeDocument/2006/relationships/notesMaster" Target="/ppt/notesMasters/notesMaster1.xml" Id="R7904168c58374e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c7c34ff3554127" /><Relationship Type="http://schemas.openxmlformats.org/officeDocument/2006/relationships/notesMaster" Target="/ppt/notesMasters/notesMaster1.xml" Id="R4ce02dc0ba9a42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3af6ce61da549f4" /><Relationship Type="http://schemas.openxmlformats.org/officeDocument/2006/relationships/notesMaster" Target="/ppt/notesMasters/notesMaster1.xml" Id="Raf82f17aae32474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8b0fc1bc5946e5" /><Relationship Type="http://schemas.openxmlformats.org/officeDocument/2006/relationships/notesMaster" Target="/ppt/notesMasters/notesMaster1.xml" Id="R180ab8816f16461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20817acf0c406a" /><Relationship Type="http://schemas.openxmlformats.org/officeDocument/2006/relationships/notesMaster" Target="/ppt/notesMasters/notesMaster1.xml" Id="Rca1bc7e518c14e5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691e83f4bd84920" /><Relationship Type="http://schemas.openxmlformats.org/officeDocument/2006/relationships/notesMaster" Target="/ppt/notesMasters/notesMaster1.xml" Id="Rcdc6ef1c554f4ec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1bd6c31d36d4aeb" /><Relationship Type="http://schemas.openxmlformats.org/officeDocument/2006/relationships/notesMaster" Target="/ppt/notesMasters/notesMaster1.xml" Id="Re3d7efdd96f647e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9e3957363b64e7f" /><Relationship Type="http://schemas.openxmlformats.org/officeDocument/2006/relationships/notesMaster" Target="/ppt/notesMasters/notesMaster1.xml" Id="R6a0a98fd65c2407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ffff134ee86469f" /><Relationship Type="http://schemas.openxmlformats.org/officeDocument/2006/relationships/notesMaster" Target="/ppt/notesMasters/notesMaster1.xml" Id="R72e9cc8a0fa7498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389134d594a45a5" /><Relationship Type="http://schemas.openxmlformats.org/officeDocument/2006/relationships/notesMaster" Target="/ppt/notesMasters/notesMaster1.xml" Id="R05d05d56434840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各位老师好。我汇报的是项目里跨边状态迁移的子课题。今天先讲系统怎么实现，再讲做了哪些实验，结论会贯穿每一页。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老师项目里有三条挑战。我对应的是第二条和第三条：加密后的增量识别，以及跨边同步的隐私。当前阶段先不做加密，先把系统开销算清楚，否则后面安全机制的代价没有对照。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车辆跨 cell 触发切换，服务状态从旧边缘节点迁到新节点。四类服务状态从 3 MB 到 200 MB。每辆车独立持有四个 Service 实例，所以迁移的是一个会话的 checkpoint。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每个节点可以保存一份 base snapshot。目标有 base 就传 delta，没有就回退全量。传完还要 apply 和 restart。所以增量不是免费的，收益取决于 base 在不在。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拓扑和移动来自真实数据。DATA7 是真实 gNB 加 SUMO 轨迹，SF 和 Rome 是真实出租车。带宽、状态大小、恢复速率是可控假设。这样既能贴近现实，又能做参数扫描。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开销我分四层看：数据量、带宽-时间、恢复、用户侧中断。只看 GB 会漏掉传输占用了多久、恢复要多久、用户等了多久。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DATA7 上 follow-me 全量迁移，40 km/h 就有 48.8% 中断，345 GB，开销比 48 倍。信息娱乐一个服务占 215 GB。这解释了为什么不能把所有服务一视同仁。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换增量以后，DATA7 冷目标只有 17%，省 74% 字节。但合成数据 93% 是冷目标，只省 2.4%。所以 delta 的收益不是一个固定倍数，取决于 base 命中。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压力矩阵跑了五个场景、四种策略、四个速度。100 Mbps 12 车 20 km/h 就崩，500 Mbps 30 车 40 km/h 崩，1 Gbps 12 车到 90 还没崩。速度是放大器，带宽和负载是底数。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预测器对比很关键。oracle 100%，一阶马尔可夫 49%，last-direction 21%。差预测会让迁移数据从 140 GB 涨到 214 GB，比不预测更贵。pre-copy 能掩盖中断，但掩盖不了状态落后。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三条结论。第一，overhead 要按 bytes 加 time 加 restore 算。第二，delta 是 base locality 问题。第三，proactive 是预测质量问题。没有单一最优策略。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下一步做 base placement 和隐私侧信道。先系统后安全，两者共用同一套开销账。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93642ce1de46c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d16af50cd541c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b1659d26044ee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645c9251bd4c6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20915ef257427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9b4a307db840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201D69E-63C9-41F9-A5BE-299EC6B128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524BFE5-A68B-4FC2-9A8D-B0C90107810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B21E572-10E0-435D-B691-E350F183EF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D8B356F-93B1-4D17-AA2A-AC4ABB4C3F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B058284-D653-4740-BDD6-59ECFFBD2F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68830DD-F28D-42A2-A842-CD18DCFDF4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68CFACC-D524-462F-879E-F17D4331A1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D72859F-6314-4D5D-8C92-B7AEC28BBDB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62EAD6-B715-4663-BF58-4E4DB8AD00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8BA14BF-408D-47CE-B506-9C44F3EE2A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f33da9a7074e8a" /><Relationship Type="http://schemas.openxmlformats.org/officeDocument/2006/relationships/slideLayout" Target="/ppt/slideLayouts/slideLayout1.xml" Id="R244124ca468f493e" /><Relationship Type="http://schemas.openxmlformats.org/officeDocument/2006/relationships/slideLayout" Target="/ppt/slideLayouts/slideLayout2.xml" Id="R65df41b35aab4cf6" /><Relationship Type="http://schemas.openxmlformats.org/officeDocument/2006/relationships/slideLayout" Target="/ppt/slideLayouts/slideLayout3.xml" Id="Ra6b8045d2cdf4d24" /><Relationship Type="http://schemas.openxmlformats.org/officeDocument/2006/relationships/slideLayout" Target="/ppt/slideLayouts/slideLayout4.xml" Id="R4ab2276f26da4035" /><Relationship Type="http://schemas.openxmlformats.org/officeDocument/2006/relationships/slideLayout" Target="/ppt/slideLayouts/slideLayout5.xml" Id="R742e7b9f902e4fde" /><Relationship Type="http://schemas.openxmlformats.org/officeDocument/2006/relationships/slideLayout" Target="/ppt/slideLayouts/slideLayout6.xml" Id="Ra261423e7f3242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4124ca468f493e"/>
    <p:sldLayoutId xmlns:r="http://schemas.openxmlformats.org/officeDocument/2006/relationships" id="2147483650" r:id="R65df41b35aab4cf6"/>
    <p:sldLayoutId xmlns:r="http://schemas.openxmlformats.org/officeDocument/2006/relationships" id="2147483651" r:id="Ra6b8045d2cdf4d24"/>
    <p:sldLayoutId xmlns:r="http://schemas.openxmlformats.org/officeDocument/2006/relationships" id="2147483652" r:id="R4ab2276f26da4035"/>
    <p:sldLayoutId xmlns:r="http://schemas.openxmlformats.org/officeDocument/2006/relationships" id="2147483653" r:id="R742e7b9f902e4fde"/>
    <p:sldLayoutId xmlns:r="http://schemas.openxmlformats.org/officeDocument/2006/relationships" id="2147483654" r:id="Ra261423e7f3242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Storage Systems Editorial">
      <a:dk1>
        <a:srgbClr val="000000"/>
      </a:dk1>
      <a:lt1>
        <a:srgbClr val="FFFFFF"/>
      </a:lt1>
      <a:dk2>
        <a:srgbClr val="123F3F"/>
      </a:dk2>
      <a:lt2>
        <a:srgbClr val="E7F0EE"/>
      </a:lt2>
      <a:accent1>
        <a:srgbClr val="0F5B5B"/>
      </a:accent1>
      <a:accent2>
        <a:srgbClr val="B84A24"/>
      </a:accent2>
      <a:accent3>
        <a:srgbClr val="7A8F8B"/>
      </a:accent3>
      <a:accent4>
        <a:srgbClr val="9C6B4E"/>
      </a:accent4>
      <a:accent5>
        <a:srgbClr val="4C6B78"/>
      </a:accent5>
      <a:accent6>
        <a:srgbClr val="6E7F5C"/>
      </a:accent6>
      <a:hlink>
        <a:srgbClr val="0F5B5B"/>
      </a:hlink>
      <a:folHlink>
        <a:srgbClr val="B84A24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Storage Systems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9e9e5d37b04be2" /><Relationship Type="http://schemas.openxmlformats.org/officeDocument/2006/relationships/notesSlide" Target="/ppt/notesSlides/notesSlide1.xml" Id="Ra0f6f2a53b5d4f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9379ea0c014956" /><Relationship Type="http://schemas.openxmlformats.org/officeDocument/2006/relationships/notesSlide" Target="/ppt/notesSlides/notesSlide2.xml" Id="Rb427c01ab6954f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3f5273acb147ef" /><Relationship Type="http://schemas.openxmlformats.org/officeDocument/2006/relationships/notesSlide" Target="/ppt/notesSlides/notesSlide3.xml" Id="Rad0a58845bf646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ac2103fe124993" /><Relationship Type="http://schemas.openxmlformats.org/officeDocument/2006/relationships/notesSlide" Target="/ppt/notesSlides/notesSlide4.xml" Id="R58ad7e8d3c3141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b8e744a7bc43bc" /><Relationship Type="http://schemas.openxmlformats.org/officeDocument/2006/relationships/notesSlide" Target="/ppt/notesSlides/notesSlide5.xml" Id="R8f3012abd0d242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6d9971c0ba4dba" /><Relationship Type="http://schemas.openxmlformats.org/officeDocument/2006/relationships/notesSlide" Target="/ppt/notesSlides/notesSlide6.xml" Id="Reb357b711ccd4e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477f409306443c" /><Relationship Type="http://schemas.openxmlformats.org/officeDocument/2006/relationships/notesSlide" Target="/ppt/notesSlides/notesSlide7.xml" Id="R0e8437735821411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b7bba5f8f6499b" /><Relationship Type="http://schemas.openxmlformats.org/officeDocument/2006/relationships/notesSlide" Target="/ppt/notesSlides/notesSlide8.xml" Id="R4d78a54d986b4fb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dc83ab8e8644f6" /><Relationship Type="http://schemas.openxmlformats.org/officeDocument/2006/relationships/notesSlide" Target="/ppt/notesSlides/notesSlide9.xml" Id="R9cf3116c1d89441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c5b33cc2164317" /><Relationship Type="http://schemas.openxmlformats.org/officeDocument/2006/relationships/notesSlide" Target="/ppt/notesSlides/notesSlide10.xml" Id="Re6cceb7e038449f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85386853854bea" /><Relationship Type="http://schemas.openxmlformats.org/officeDocument/2006/relationships/notesSlide" Target="/ppt/notesSlides/notesSlide11.xml" Id="Rba09b63dc76a4d7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466349a6e7445d" /><Relationship Type="http://schemas.openxmlformats.org/officeDocument/2006/relationships/notesSlide" Target="/ppt/notesSlides/notesSlide12.xml" Id="R996ac41f1742432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3A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94F603-CF47-4E8D-BE5D-D3362B62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BFD6D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BFD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FD6D2"/>
                </a:solidFill>
                <a:latin typeface="Microsoft YaHei"/>
                <a:ea typeface="Microsoft YaHei"/>
                <a:cs typeface="Microsoft YaHei"/>
              </a:rPr>
              <a:t>子课题汇报  /  2026年10月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B53550-6F76-4FD8-8A21-3D4E06F6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9906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跨边服务状态迁移的 overhead 评估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2168ED-1835-43EC-B96E-5B99C238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3D38B6-C091-4B38-BDAB-274CC377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D6E5E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D6E5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6E5E2"/>
                </a:solidFill>
                <a:latin typeface="Microsoft YaHei"/>
                <a:ea typeface="Microsoft YaHei"/>
                <a:cs typeface="Microsoft YaHei"/>
              </a:rPr>
              <a:t>面向云边存储的数据安全缩减技术研究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A5068A-E5FA-4982-B864-A3CAB303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BFD6D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BFD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FD6D2"/>
                </a:solidFill>
                <a:latin typeface="Microsoft YaHei"/>
                <a:ea typeface="Microsoft YaHei"/>
                <a:cs typeface="Microsoft YaHei"/>
              </a:rPr>
              <a:t>先把 base、delta、restore 和预测的系统账算清，再谈安全机制。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B60AD7-2FEE-4F88-8F2A-3A2A27F0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A9C6C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A9C6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9C6C1"/>
                </a:solidFill>
                <a:latin typeface="Microsoft YaHei"/>
                <a:ea typeface="Microsoft YaHei"/>
                <a:cs typeface="Microsoft YaHei"/>
              </a:rPr>
              <a:t>汇报人：________</a:t>
            </a:r>
          </a:p>
        </p:txBody>
      </p:sp>
    </p:spTree>
    <p:extLst>
      <p:ext uri="{BB962C8B-B14F-4D97-AF65-F5344CB8AC3E}">
        <p14:creationId xmlns:p14="http://schemas.microsoft.com/office/powerpoint/2010/main" val="689054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D2891D-F795-40FD-8FFE-5C208C08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02  项目位置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6B1A77-CAE3-4CF2-9C92-F2B0A4FF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本子课题对应项目里的第二条和第三条挑战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964DCD-DADE-4596-929A-072B2F7A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B6C033-8ED0-4CC0-9D41-709D8501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88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9DB82F-C95A-495B-BBEB-C6298A20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847850"/>
            <a:ext cx="441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缓存优化与访问隐私难兼顾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6C526D-A48A-4A22-950D-F9D9B923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669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缓存调度依赖访问规律，调度请求可能暴露访问模式。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18C7B6-4F15-4170-BAAE-324F0D5D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09728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E7F0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B22F43-41CC-47E8-832D-94D7561A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38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3AEFE2-99B3-4468-8F3F-98B8CDF8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B7932F-D731-4E14-AD85-2ECF802E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71800"/>
            <a:ext cx="441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常规加密妨碍增量识别与传输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A2DA4A-18ED-4105-A07D-6A5D2532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9085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加密隐藏相似性，节点难以识别重复内容与差异。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243428-5D96-49A8-A760-38838AF7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0099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本子课题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DCD6FA-3342-49FE-9FA1-A41CD893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9728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E7F0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E84E7C-9B00-484D-9960-FC9F1CB6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38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1608F9-7687-4F3C-AA6A-D57B5958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767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035A67-6549-429B-84D6-7F283315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95750"/>
            <a:ext cx="441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跨边状态同步可能泄露移动轨迹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DE07CC-E0CB-4DF2-94FD-769CB573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148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同步时刻与通信端点可能暴露终端移动规律。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368025-420D-4900-AB5F-96D8241C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41338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本子课题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186235-9569-43C5-A67E-9346A303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931883-53FB-44BE-9526-1321A661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当前阶段不做加密，先把跨边迁移的系统开销算清楚，给后续安全机制提供对照。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C05A83-C5B1-496F-B77F-C095E0B2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77047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42C71F-931C-4DF7-87ED-101EA8AC17AC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439150" y="29241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5B5B"/>
            </a:solidFill>
            <a:prstDash val="solid"/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79A404-7DF1-4F91-84F4-746B5EE9E17D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695950" y="29241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5B5B"/>
            </a:solidFill>
            <a:prstDash val="solid"/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AEACF4-0878-4878-A3BD-8DFE55C4943C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952750" y="29241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5B5B"/>
            </a:solidFill>
            <a:prstDash val="solid"/>
            <a:tail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CF7A36-2387-4965-B791-8BDF001D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03  系统实现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F69953-64C3-45FE-8135-F75FFEFD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一次跨边迁移的完整路径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C4AC3C-C576-48C6-A06B-5BF8C617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3085F2-2D1C-47D6-9643-6CE6E383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2669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1C833C-AF52-4C32-9E06-1B20C162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384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车辆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D54076-54C6-4649-A2A3-07B9F599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19400"/>
            <a:ext cx="1847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位置变化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触发切换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506A5D-0A55-4F90-807E-8E4761B7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66950"/>
            <a:ext cx="22669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D1FF3A-6321-4BD2-A803-A1B3EA70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384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当前边缘节点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79B2C3-B735-43D2-9BB1-518DF0BE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19400"/>
            <a:ext cx="1847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持有服务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base snapshot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E0581B-22F2-4B78-BEFF-274E47EC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66950"/>
            <a:ext cx="22669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D26A64-ABF6-4D53-AAA0-621DFD78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384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迁移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B5B55-B008-49B9-BBE8-E76122EF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19400"/>
            <a:ext cx="1847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delta 或全量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网络传输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933CCF-CE9B-4F8F-A135-8BFBF3F5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66950"/>
            <a:ext cx="22669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D87569-22C2-491F-8AD0-F2064A55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384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目标边缘节点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CC36CD-95A1-4454-92BA-1742B4EB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19400"/>
            <a:ext cx="1847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apply state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restart service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CFB44D-5456-494E-B2B4-392197A2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四类服务初始状态：导航 5 MB，信息娱乐 200 MB，告警 3 MB，交通分析 80 MB。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D9616C-85C5-42D1-8019-A4718600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每辆车独立持有 4 个 Service 实例。迁移的不是“一个应用”，而是这辆车的会话状态。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6E871E-BCA6-4B86-865C-1265918B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4392AB-C317-4C08-B183-E22FA2FD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本质上，这是一个分布式的 checkpoint 迁移系统。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580A27-CA45-4C3B-946C-2386C947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650069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1A68A9-EF9E-4450-A716-5E48E3242530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162800" y="272415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5B5B"/>
            </a:solidFill>
            <a:prstDash val="solid"/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5D2EBB-151B-4E8D-9102-3B2B26AF5F9F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62300" y="272415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5B5B"/>
            </a:solidFill>
            <a:prstDash val="solid"/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A49E94-D571-4768-B58A-1622E0832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04  状态模型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E8E437-0BAB-48BD-85C8-B78ACC5C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base、delta 与 restore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6C3DF1-1198-41CF-B833-B3AC967E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4592DA-69FC-4C88-8DC3-11C3AA27B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476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BE008E-7344-498F-9448-E0045FE4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节点 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46F5A4-8C84-467D-9232-1A71982C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670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base snapshot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上次同步的完整状态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724D36-733C-47C7-A82E-4862C48E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095500"/>
            <a:ext cx="3048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A7DA95-E8F2-48F3-9DA6-AF1681F4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86000"/>
            <a:ext cx="2628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传输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FF7965-EB5D-4328-8569-A5BBE499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67000"/>
            <a:ext cx="2628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delta = 当前状态 − base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0BA960-E4EE-4BA7-BD0C-0004F2E7B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95500"/>
            <a:ext cx="2476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7DE70E-5256-4E3D-9419-E31E35E3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86000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节点 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480D91-ACB4-4216-8668-6804E21F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670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apply + restart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恢复时间也计入开销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E1C960-697B-4009-87DB-7EEF4A4B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000500"/>
            <a:ext cx="6477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7E8E2"/>
          </a:solidFill>
          <a:ln xmlns:a="http://schemas.openxmlformats.org/drawingml/2006/main" w="9525">
            <a:solidFill>
              <a:srgbClr val="B84A2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658A83-4164-4CB5-BECF-D29898C3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171950"/>
            <a:ext cx="601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rPr>
              <a:t>冷目标：目标节点没有 base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8E7F30-DB47-4C63-BABD-BFBC6BE9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495800"/>
            <a:ext cx="601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不能只发 delta，必须回退全量状态。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336081-53F1-46F6-9322-682B6ECB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恢复开销 = 应用状态 + 重启服务，按 5 ms/MB 计入迁移时长。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E2C0AF-E38B-4CC4-8CBE-34BE456E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8D50AB-7617-42AC-A492-D0A4B3DB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增量不是免费的。delta 能不能用，取决于目标节点有没有 base。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DCEFB6-0CD7-42D3-ADA9-6951D4F3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611132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10A6D8-A2FF-4A07-98C9-2B1C92DC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05  仿真实现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1EC269-BD84-480C-8832-F0FB0827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真实数据与可控假设分开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D4E251-193E-4181-B605-708D8CE6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28397C-2FB6-459E-8579-4E3CAD37BFB0}"/>
              </a:ext>
            </a:extLst>
          </p:cNvPr>
          <p:cNvGraphicFramePr/>
          <p:nvPr/>
        </p:nvGraphicFramePr>
        <p:xfrm>
          <a:off xmlns:a="http://schemas.openxmlformats.org/drawingml/2006/main" x="685800" y="1866900"/>
          <a:ext xmlns:a="http://schemas.openxmlformats.org/drawingml/2006/main" cx="10820400" cy="30670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5410200"/>
                <a:gridCol w="5410200"/>
              </a:tblGrid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</a:rPr>
                        <a:t>真实数据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可控假设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1B19"/>
                          </a:solidFill>
                        </a:rPr>
                        <a:t>DATA7：30 个真实 gNB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B19"/>
                          </a:solidFill>
                        </a:rPr>
                        <a:t>链路带宽 100 Mbps 至 1 Gbps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1B19"/>
                          </a:solidFill>
                        </a:rPr>
                        <a:t>SF / Rome：真实出租车轨迹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B19"/>
                          </a:solidFill>
                        </a:rPr>
                        <a:t>状态增长率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1B19"/>
                          </a:solidFill>
                        </a:rPr>
                        <a:t>4 类 MEC 服务的数据流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B19"/>
                          </a:solidFill>
                        </a:rPr>
                        <a:t>恢复速率 5 ms/MB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1B19"/>
                          </a:solidFill>
                        </a:rPr>
                        <a:t>网络时延 5 ms/跳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B19"/>
                          </a:solidFill>
                        </a:rPr>
                        <a:t>镜像层大小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1B19"/>
                          </a:solidFill>
                        </a:rPr>
                        <a:t>DATA7 车辆：SUMO 轨迹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B19"/>
                          </a:solidFill>
                        </a:rPr>
                        <a:t>服务算力与内存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2258D4-FE27-4238-9983-965BDEC4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DATA7 的基站位置来自 OpenCellID，车辆轨迹由 SUMO 生成。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EB2A98-1137-4DB5-A0DC-8C0CFAE5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62258C-9310-4C3D-B98B-FFFA6A69A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拓扑和移动来自真实数据，网络与服务参数是可控假设。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21F7A6-D703-431C-B888-AAF6BE752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31943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CB405D-68F5-44FA-BCCB-7B1F88C1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06  指标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79D22D-72A8-4326-9457-0B1DBAB2D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开销不能只看一个字节数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056890-8E90-4750-A7E2-B6E74B9F1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954168-6E22-4D2C-B292-9D67C1E6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数据量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9B7E0C-4446-46F3-819A-68CAA5E2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859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state + image + base sync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F2058B-2584-4538-A924-D404A3E4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895475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5C55EF-578F-4EAB-9A97-B00D0EFE8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F0E278-B7B5-4A91-A59C-C114FE80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带宽-时间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E2AC1C-6B06-4FA2-BCF9-8D8C4EA3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622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传输字节 × 占用步数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A8015A-3F36-47FD-97BB-787151C1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71775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MB·s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449441-7525-4B1F-B2AA-29C619C4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D25C9F-A804-4A5E-9307-6EC20D1B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恢复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76C3E8-123E-4868-810D-7F372A37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385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apply state + restart service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A1CB7D-C740-42BD-92A9-51D9D8E4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48075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A085C2-45A4-443E-B8CF-BF9903EE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C8F4EE-89F5-4E19-890E-C6AA4E2B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用户侧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765625-525F-4951-B3DA-14A08CEE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148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interruption + post-arrival lag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CC46FB-C6B5-4A61-96C4-5F3C80D5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24375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% / steps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727B78-8E42-44D0-95A8-A2BED119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E2C721-673C-421E-9B42-95AC558C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同一个 100 GB，占用 10 秒和占用 100 秒，代价不同。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268802-2079-407D-8394-43A498A7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0B994D-726F-4A9D-9E42-486CF5F4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只看 GB，会低估迁移对链路和用户的实际占用。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5EF19D-D624-4F2C-9286-7122788B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23840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0A1017-2B9D-4C77-8EEB-4950B488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07  基线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4A4890-B61F-41FE-8990-DC41F57F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follow-me 在 DATA7 上有多贵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5654DF-B06D-437A-8BF1-213CD8F2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66DBED-BA2B-43DA-93F2-747D50AF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rPr>
              <a:t>48.8%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6E5A0C-4AD5-453E-ACA2-826F5EDA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服务中断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1766C5-8014-41DF-BC36-6A7428C7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3355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rPr>
              <a:t>345 GB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4032F5-45BA-4832-9030-F6EEEB51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050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迁移数据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F5CEFC-3DF7-4E9E-9A66-2B4A815A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3355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rPr>
              <a:t>48.2×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B35134-F6F2-426F-8A99-2E328657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050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开销比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6381EB-6140-4440-9B97-1CC7183ACB8D}"/>
              </a:ext>
            </a:extLst>
          </p:cNvPr>
          <p:cNvGraphicFramePr/>
          <p:nvPr/>
        </p:nvGraphicFramePr>
        <p:xfrm>
          <a:off xmlns:a="http://schemas.openxmlformats.org/drawingml/2006/main" x="685800" y="2857500"/>
          <a:ext xmlns:a="http://schemas.openxmlformats.org/drawingml/2006/main" cx="10820400" cy="2381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5105400"/>
                <a:gridCol w="2667000"/>
                <a:gridCol w="3048000"/>
              </a:tblGrid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</a:rPr>
                        <a:t>服务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中断率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迁移数据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信息娱乐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47.9%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215 GB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交通分析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33.2%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108 GB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导航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5.5%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15.6 GB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上下文告警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4.0%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5.7 GB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84D531-2B9E-4176-8C8B-48CDEC164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C2DD27-7CDB-431A-BFF2-FDFE1CD9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大状态服务主导开销，信息娱乐一个服务就占 215 GB。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997D83-108D-4199-8BFF-3C27C3BA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5794455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B94529-9F0B-45C7-BCDF-579BD75B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08  增量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33647E-C1A1-45D4-8F0F-D82370CF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增量收益取决于 base 命中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B67946-AE08-4604-807C-692CD109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9858BE-ED73-40F5-A083-9D6EFE4CF4F8}"/>
              </a:ext>
            </a:extLst>
          </p:cNvPr>
          <p:cNvGraphicFramePr/>
          <p:nvPr/>
        </p:nvGraphicFramePr>
        <p:xfrm>
          <a:off xmlns:a="http://schemas.openxmlformats.org/drawingml/2006/main" x="685800" y="1866900"/>
          <a:ext xmlns:a="http://schemas.openxmlformats.org/drawingml/2006/main" cx="10820400" cy="3048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247900"/>
                <a:gridCol w="2000250"/>
                <a:gridCol w="2190750"/>
                <a:gridCol w="2190750"/>
                <a:gridCol w="2190750"/>
              </a:tblGrid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</a:rPr>
                        <a:t>数据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冷目标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字节节省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中断（全量）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中断（增量）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DATA7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74%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48.8%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11.5%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SF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42%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47%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13.2%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4.8%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Rome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55%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28%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9.0%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4.2%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合成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93%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2.4%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5.9%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5.7%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875797-2FCC-417C-A6E6-D75D2063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冷目标越多，delta 越接近全量。合成数据 93% 是冷目标，增量几乎没有收益。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0F960B-BF27-464D-90C8-55A051E02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4C0DBC-EA48-43B4-9693-F66E08057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delta 的核心不是“增量”两个字，而是 base locality。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F19E8F-213B-4E2D-9B43-ADDA954E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0357379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A7D06F-4253-4663-BA3A-27C0585CD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09  压力矩阵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4452A0-6621-46C7-857E-AF437763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需求除以容量决定临界速度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6ACAF9-E628-415B-8494-B4BDA846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5E7604-A0B0-4AA2-BC3C-A6701EA559B9}"/>
              </a:ext>
            </a:extLst>
          </p:cNvPr>
          <p:cNvGraphicFramePr/>
          <p:nvPr/>
        </p:nvGraphicFramePr>
        <p:xfrm>
          <a:off xmlns:a="http://schemas.openxmlformats.org/drawingml/2006/main" x="685800" y="1866900"/>
          <a:ext xmlns:a="http://schemas.openxmlformats.org/drawingml/2006/main" cx="10820400" cy="3238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724150"/>
                <a:gridCol w="2095500"/>
                <a:gridCol w="2095500"/>
                <a:gridCol w="3905250"/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</a:rPr>
                        <a:t>场景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20 km/h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90 km/h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中断 ≥ 50% 起点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100 Mbps / 12 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65.7%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92.3%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20 km/h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500 Mbps / 12 车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17.0%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72.3%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90 km/h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1 Gbps / 12 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8.7%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39.2%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90 km/h 以上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500 Mbps / 30 车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36.8%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89.0%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40 km/h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100 Mbps / 30 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71.9%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93.1%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20 km/h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BA1D60-D3D1-4641-9D05-CE0C5FFA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同一策略在不同带宽和负载下，可能从“可接受”直接变成“不可用”。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B697D5-C602-4F3B-8EDC-2B1D4160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58794C-775D-4AF8-B26B-32FB3554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速度是放大器。带宽和负载才是决定系统能不能撑住的底数。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2567D2-CA61-43C8-9F4C-EAB30B17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375700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03EEA8-218E-4F87-BDCE-6740A6B4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10  预测器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91ECD2-C402-4191-964A-9ADBF7C8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proactive 只有在预测准时才划算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5B716C-409F-455D-93CD-35245F37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181086-E3F3-49DB-B6EF-4F85E30DAE70}"/>
              </a:ext>
            </a:extLst>
          </p:cNvPr>
          <p:cNvGraphicFramePr/>
          <p:nvPr/>
        </p:nvGraphicFramePr>
        <p:xfrm>
          <a:off xmlns:a="http://schemas.openxmlformats.org/drawingml/2006/main" x="685800" y="1866900"/>
          <a:ext xmlns:a="http://schemas.openxmlformats.org/drawingml/2006/main" cx="10820400" cy="3048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762250"/>
                <a:gridCol w="1809750"/>
                <a:gridCol w="1809750"/>
                <a:gridCol w="2219325"/>
                <a:gridCol w="2219325"/>
              </a:tblGrid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</a:rPr>
                        <a:t>预测器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准确率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中断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迁移数据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到达后滞后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oracle（上限）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7.4%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139 GB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1.7 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一阶马尔可夫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49%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8.2%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192 GB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5.9 步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last-direction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21%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9.8%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214 GB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10.9 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reactive 全量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39.0%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140 GB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7.8 步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BED576-3A40-4136-AFB9-FD31CCF0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预测差会让迁移数据从 140 GB 涨到 214 GB，比不预测更贵。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129B0F-A82A-4BBB-9008-DB1C2F68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0AC28D-9BEE-4EDB-B976-4B4532D5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预测质量决定 proactive 是省钱还是烧钱。oracle 只能当上限。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EC773E-4816-4413-911E-758747BA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422667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D49072-F202-40E2-90F1-B6818E981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11  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596A90-48C4-4E80-A3E4-CA225FD2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三条系统结论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4319C0-DAD8-4128-852C-4E49D2DB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20D875-4563-44A4-8C68-3D7DDA03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51FEBE-9926-41C6-BD09-56577518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800225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overhead 不是单一字节数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73D33D-C6A2-4A00-8076-7A225584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1526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要把传输量、占用时间和恢复成本一起算。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FBB17B-2263-4594-BB06-CE99F5B3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A72732-070F-41F7-ACFD-2FE5C0E2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81325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delta 是 base locality 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12B390-C044-48F4-AEEB-A4D9A424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333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目标有没有 base，决定了增量能省多少。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0E96B8-6332-4194-93AF-BA60FC7D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B4E9F1-1999-4C5F-B5F2-9E51F903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162425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proactive 是预测质量问题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42A108-9E68-4E13-A175-F1245B3C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514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预测不准时，提前迁移会比不迁移更贵。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9139B1-1328-431F-AA55-55B407BD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没有单一最优策略。按带宽、负载、速度的组合选择。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1832F8-E93F-42D1-8517-DDCBA398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9A784C-8D89-4D7B-AF21-71380550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这些正是项目里密文增量与同步机制要付的系统成本。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D28CD3-0219-4AEA-9DC4-394AC6C5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714740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CEA724-122D-4948-BD77-027B30FC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12  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BFF3E7-D21E-4125-A2C2-0D7EA717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base placement 与隐私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A26D41-4FC5-4F93-A855-FAE0F762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26828C-FF28-4AD6-BC89-CB99A5B6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E7BA36-FE1B-4E86-9118-FF28E7CD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base placement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FD48BB-C2C6-425A-991B-244BE640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哪些节点值得预热，复制间隔多长。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868B2F-6198-4583-B4EA-01E7D83C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6690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FF8DC8-9058-44DA-964F-0153D304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574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隐私侧信道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E29AE0-F61F-426E-A9D8-8C55C2CF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9555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迁移时刻与通信端点会泄露移动轨迹。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A7A810-04EC-4136-96BD-0648B387C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6690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4CC7C9-DFC8-41F6-A7BE-4570BBB6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574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小规模 testbed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EFE091-6813-47FB-972A-F9405B9C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9555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用真实节点验证仿真结论。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F219FA-013B-4885-BAB8-56CD5098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先系统，后安全。两者共用同一套开销账。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088FD6-5BA6-4335-AA07-FF2850AD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A125A8-A6B4-447D-B702-13AE2F0A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下一步把 base 放置与隐私保护放进同一个评估框架。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A179A7-06D7-4522-8257-8CE86136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87065881"/>
      </p:ext>
    </p:extLst>
  </p:cSld>
</p:sld>
</file>

<file path=ppt/theme/theme1.xml><?xml version="1.0" encoding="utf-8"?>
<a:theme xmlns:a="http://schemas.openxmlformats.org/drawingml/2006/main" name="ChatGPT">
  <a:themeElements>
    <a:clrScheme name="Storage Systems Editorial">
      <a:dk1>
        <a:srgbClr val="000000"/>
      </a:dk1>
      <a:lt1>
        <a:srgbClr val="FFFFFF"/>
      </a:lt1>
      <a:dk2>
        <a:srgbClr val="123F3F"/>
      </a:dk2>
      <a:lt2>
        <a:srgbClr val="E7F0EE"/>
      </a:lt2>
      <a:accent1>
        <a:srgbClr val="0F5B5B"/>
      </a:accent1>
      <a:accent2>
        <a:srgbClr val="B84A24"/>
      </a:accent2>
      <a:accent3>
        <a:srgbClr val="7A8F8B"/>
      </a:accent3>
      <a:accent4>
        <a:srgbClr val="9C6B4E"/>
      </a:accent4>
      <a:accent5>
        <a:srgbClr val="4C6B78"/>
      </a:accent5>
      <a:accent6>
        <a:srgbClr val="6E7F5C"/>
      </a:accent6>
      <a:hlink>
        <a:srgbClr val="0F5B5B"/>
      </a:hlink>
      <a:folHlink>
        <a:srgbClr val="B84A24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Storage Systems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2026-10-21T07:57:14.3840000Z</dcterms:created>
  <dcterms:modified xsi:type="dcterms:W3CDTF">2026-10-21T07:57:14.3840000Z</dcterms:modified>
</coreProperties>
</file>