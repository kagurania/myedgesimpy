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165bcea1844a7c" /><Relationship Type="http://schemas.openxmlformats.org/officeDocument/2006/relationships/extended-properties" Target="/docProps/app.xml" Id="R78510a676271433f" /><Relationship Type="http://schemas.openxmlformats.org/officeDocument/2006/relationships/officeDocument" Target="/ppt/presentation.xml" Id="R92e33aabfc8c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54d11ca90345b5"/>
  </p:sldMasterIdLst>
  <p:notesMasterIdLst>
    <p:notesMasterId xmlns:r="http://schemas.openxmlformats.org/officeDocument/2006/relationships" r:id="R361214017bf54875"/>
  </p:notesMasterIdLst>
  <p:sldIdLst>
    <p:sldId xmlns:r="http://schemas.openxmlformats.org/officeDocument/2006/relationships" id="256" r:id="R70600aafedda447c"/>
    <p:sldId xmlns:r="http://schemas.openxmlformats.org/officeDocument/2006/relationships" id="257" r:id="Rd6b84bd70fdc46e9"/>
    <p:sldId xmlns:r="http://schemas.openxmlformats.org/officeDocument/2006/relationships" id="258" r:id="Rf8aa57448a6c42ec"/>
    <p:sldId xmlns:r="http://schemas.openxmlformats.org/officeDocument/2006/relationships" id="259" r:id="Rf44a81d9d1ed4d3c"/>
    <p:sldId xmlns:r="http://schemas.openxmlformats.org/officeDocument/2006/relationships" id="260" r:id="R2d4666528a1a466b"/>
    <p:sldId xmlns:r="http://schemas.openxmlformats.org/officeDocument/2006/relationships" id="261" r:id="R9c833aa99fd348e8"/>
    <p:sldId xmlns:r="http://schemas.openxmlformats.org/officeDocument/2006/relationships" id="262" r:id="R054c0c293d704074"/>
    <p:sldId xmlns:r="http://schemas.openxmlformats.org/officeDocument/2006/relationships" id="263" r:id="R6f8e76203ffb42a6"/>
    <p:sldId xmlns:r="http://schemas.openxmlformats.org/officeDocument/2006/relationships" id="264" r:id="R3f3aad4094d343d3"/>
    <p:sldId xmlns:r="http://schemas.openxmlformats.org/officeDocument/2006/relationships" id="265" r:id="R55ef54c354674f1e"/>
    <p:sldId xmlns:r="http://schemas.openxmlformats.org/officeDocument/2006/relationships" id="266" r:id="R465bcf1dc3744f76"/>
    <p:sldId xmlns:r="http://schemas.openxmlformats.org/officeDocument/2006/relationships" id="267" r:id="R2d4d2b8bba874d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f35d344ef4d4b" /><Relationship Type="http://schemas.openxmlformats.org/officeDocument/2006/relationships/slideMaster" Target="/ppt/slideMasters/slideMaster1.xml" Id="Rc654d11ca90345b5" /><Relationship Type="http://schemas.openxmlformats.org/officeDocument/2006/relationships/notesMaster" Target="/ppt/notesMasters/notesMaster1.xml" Id="R361214017bf54875" /><Relationship Type="http://schemas.openxmlformats.org/officeDocument/2006/relationships/presProps" Target="/ppt/presProps.xml" Id="R6dedb478c7db4941" /><Relationship Type="http://schemas.openxmlformats.org/officeDocument/2006/relationships/tableStyles" Target="/ppt/tableStyles.xml" Id="R999099f0fba04c5c" /><Relationship Type="http://schemas.openxmlformats.org/officeDocument/2006/relationships/slide" Target="/ppt/slides/slide1.xml" Id="R70600aafedda447c" /><Relationship Type="http://schemas.openxmlformats.org/officeDocument/2006/relationships/slide" Target="/ppt/slides/slide2.xml" Id="Rd6b84bd70fdc46e9" /><Relationship Type="http://schemas.openxmlformats.org/officeDocument/2006/relationships/slide" Target="/ppt/slides/slide3.xml" Id="Rf8aa57448a6c42ec" /><Relationship Type="http://schemas.openxmlformats.org/officeDocument/2006/relationships/slide" Target="/ppt/slides/slide4.xml" Id="Rf44a81d9d1ed4d3c" /><Relationship Type="http://schemas.openxmlformats.org/officeDocument/2006/relationships/slide" Target="/ppt/slides/slide5.xml" Id="R2d4666528a1a466b" /><Relationship Type="http://schemas.openxmlformats.org/officeDocument/2006/relationships/slide" Target="/ppt/slides/slide6.xml" Id="R9c833aa99fd348e8" /><Relationship Type="http://schemas.openxmlformats.org/officeDocument/2006/relationships/slide" Target="/ppt/slides/slide7.xml" Id="R054c0c293d704074" /><Relationship Type="http://schemas.openxmlformats.org/officeDocument/2006/relationships/slide" Target="/ppt/slides/slide8.xml" Id="R6f8e76203ffb42a6" /><Relationship Type="http://schemas.openxmlformats.org/officeDocument/2006/relationships/slide" Target="/ppt/slides/slide9.xml" Id="R3f3aad4094d343d3" /><Relationship Type="http://schemas.openxmlformats.org/officeDocument/2006/relationships/slide" Target="/ppt/slides/slide10.xml" Id="R55ef54c354674f1e" /><Relationship Type="http://schemas.openxmlformats.org/officeDocument/2006/relationships/slide" Target="/ppt/slides/slide11.xml" Id="R465bcf1dc3744f76" /><Relationship Type="http://schemas.openxmlformats.org/officeDocument/2006/relationships/slide" Target="/ppt/slides/slide12.xml" Id="R2d4d2b8bba87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a4fa3088844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a26431a37b4719" /><Relationship Type="http://schemas.openxmlformats.org/officeDocument/2006/relationships/notesMaster" Target="/ppt/notesMasters/notesMaster1.xml" Id="Rdc1d1c7b06d5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2c65fdf1284083" /><Relationship Type="http://schemas.openxmlformats.org/officeDocument/2006/relationships/notesMaster" Target="/ppt/notesMasters/notesMaster1.xml" Id="Reb7ad91749034f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156b3cb678463c" /><Relationship Type="http://schemas.openxmlformats.org/officeDocument/2006/relationships/notesMaster" Target="/ppt/notesMasters/notesMaster1.xml" Id="R644329bfcec549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c80d60b6274634" /><Relationship Type="http://schemas.openxmlformats.org/officeDocument/2006/relationships/notesMaster" Target="/ppt/notesMasters/notesMaster1.xml" Id="R28d925621a4a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d0881a02a044f6" /><Relationship Type="http://schemas.openxmlformats.org/officeDocument/2006/relationships/notesMaster" Target="/ppt/notesMasters/notesMaster1.xml" Id="R1d90fd7c69ae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2926b437ee4523" /><Relationship Type="http://schemas.openxmlformats.org/officeDocument/2006/relationships/notesMaster" Target="/ppt/notesMasters/notesMaster1.xml" Id="R49c0d19b841d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62240f58604ed3" /><Relationship Type="http://schemas.openxmlformats.org/officeDocument/2006/relationships/notesMaster" Target="/ppt/notesMasters/notesMaster1.xml" Id="Rec10d6e7f04641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733bd94794bdb" /><Relationship Type="http://schemas.openxmlformats.org/officeDocument/2006/relationships/notesMaster" Target="/ppt/notesMasters/notesMaster1.xml" Id="R0f3ea883b031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c80b7b9fe64900" /><Relationship Type="http://schemas.openxmlformats.org/officeDocument/2006/relationships/notesMaster" Target="/ppt/notesMasters/notesMaster1.xml" Id="R9d373a1402ca45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ecb50b658e4e45" /><Relationship Type="http://schemas.openxmlformats.org/officeDocument/2006/relationships/notesMaster" Target="/ppt/notesMasters/notesMaster1.xml" Id="R7eaa0145b8a043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d4fad25d2e4247" /><Relationship Type="http://schemas.openxmlformats.org/officeDocument/2006/relationships/notesMaster" Target="/ppt/notesMasters/notesMaster1.xml" Id="R43d65e830a3a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fd4439d4554574" /><Relationship Type="http://schemas.openxmlformats.org/officeDocument/2006/relationships/notesMaster" Target="/ppt/notesMasters/notesMaster1.xml" Id="R857c9c46794745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各位老师好。我汇报的是项目里跨边状态迁移的子课题。今天先讲系统怎么实现，再讲做了哪些实验，结论会贯穿每一页。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老师项目里有三条挑战。我对应的是第二条和第三条：加密后的增量识别，以及跨边同步的隐私。当前阶段先不做加密，先把系统开销算清楚，否则后面安全机制的代价没有对照。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这是系统拓扑。每个格子是一个 cell，里面一个 gNB 和一个 edge server。车跨 cell 触发 handover，状态从当前 edge server 迁到目标 edge server。虚线是车辆路径，橙箭头是这次状态迁移。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每个节点可以保存一份 base snapshot。目标有 base 就传 delta，没有就回退全量。传完还要 apply 和 restart。所以增量不是免费的，收益取决于 base 在不在。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拓扑和移动来自真实数据。DATA7 是真实 gNB 加 SUMO 轨迹，SF 和 Rome 是真实出租车。带宽、状态大小、恢复速率是可控假设。这样既能贴近现实，又能做参数扫描。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开销我分四层看：数据量、带宽-时间、恢复、用户侧中断。只看 GB 会漏掉传输占用了多久、恢复要多久、用户等了多久。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DATA7 上 follow-me 全量迁移，40 km/h 就有 48.8% 中断，345 GB，开销比 48 倍。信息娱乐一个服务占 215 GB。这解释了为什么不能把所有服务一视同仁。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换增量以后，DATA7 冷目标只有 17%，省 74% 字节。但合成数据 93% 是冷目标，只省 2.4%。所以 delta 的收益不是一个固定倍数，取决于 base 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压力矩阵跑了五个场景、四种策略、四个速度。100 Mbps 12 车 20 km/h 就崩，500 Mbps 30 车 40 km/h 崩，1 Gbps 12 车到 90 还没崩。速度是放大器，带宽和负载是底数。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预测器对比很关键。oracle 100%，一阶马尔可夫 49%，last-direction 21%。差预测会让迁移数据从 140 GB 涨到 214 GB，比不预测更贵。pre-copy 能掩盖中断，但掩盖不了状态落后。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三条结论。第一，overhead 要按 bytes 加 time 加 restore 算。第二，delta 是 base locality 问题。第三，proactive 是预测质量问题。没有单一最优策略。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下一步做 base placement 和隐私侧信道。先系统后安全，两者共用同一套开销账。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46043c1b24f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51bc8767f4c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120976e44f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785930aa744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e44688ebb4b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2d9c7d09d46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A9E27-2F07-4D4A-85A1-8B31E7339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5C62C6-8039-4D47-B8AC-E9D650EC6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479EE39-2EEB-4389-A453-3310D11F0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F29AA5-682C-4147-A500-A96119ECA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68B628-2010-4F5A-8D9F-429A7B826B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29B782-C1C7-4A30-BE16-ED5542A1A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763F06-8578-458C-A796-73F3CACB8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88CBE2-974B-4A4E-B8AD-2237EC80FE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099993-C5E9-44E9-91E7-127847800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20830-C78F-4C3E-AE95-567AE9388E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d40d62e4d419e" /><Relationship Type="http://schemas.openxmlformats.org/officeDocument/2006/relationships/slideLayout" Target="/ppt/slideLayouts/slideLayout1.xml" Id="R3680612c0be44e2e" /><Relationship Type="http://schemas.openxmlformats.org/officeDocument/2006/relationships/slideLayout" Target="/ppt/slideLayouts/slideLayout2.xml" Id="R2637bee4479044a2" /><Relationship Type="http://schemas.openxmlformats.org/officeDocument/2006/relationships/slideLayout" Target="/ppt/slideLayouts/slideLayout3.xml" Id="R51d96765e8244caf" /><Relationship Type="http://schemas.openxmlformats.org/officeDocument/2006/relationships/slideLayout" Target="/ppt/slideLayouts/slideLayout4.xml" Id="R29c6ba05bc584ab6" /><Relationship Type="http://schemas.openxmlformats.org/officeDocument/2006/relationships/slideLayout" Target="/ppt/slideLayouts/slideLayout5.xml" Id="R0b71d7d789fc4795" /><Relationship Type="http://schemas.openxmlformats.org/officeDocument/2006/relationships/slideLayout" Target="/ppt/slideLayouts/slideLayout6.xml" Id="Rf4a5da098167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80612c0be44e2e"/>
    <p:sldLayoutId xmlns:r="http://schemas.openxmlformats.org/officeDocument/2006/relationships" id="2147483650" r:id="R2637bee4479044a2"/>
    <p:sldLayoutId xmlns:r="http://schemas.openxmlformats.org/officeDocument/2006/relationships" id="2147483651" r:id="R51d96765e8244caf"/>
    <p:sldLayoutId xmlns:r="http://schemas.openxmlformats.org/officeDocument/2006/relationships" id="2147483652" r:id="R29c6ba05bc584ab6"/>
    <p:sldLayoutId xmlns:r="http://schemas.openxmlformats.org/officeDocument/2006/relationships" id="2147483653" r:id="R0b71d7d789fc4795"/>
    <p:sldLayoutId xmlns:r="http://schemas.openxmlformats.org/officeDocument/2006/relationships" id="2147483654" r:id="Rf4a5da098167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fc6a225f742da" /><Relationship Type="http://schemas.openxmlformats.org/officeDocument/2006/relationships/notesSlide" Target="/ppt/notesSlides/notesSlide1.xml" Id="Re72e05ef356f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47c0e54784fd9" /><Relationship Type="http://schemas.openxmlformats.org/officeDocument/2006/relationships/notesSlide" Target="/ppt/notesSlides/notesSlide2.xml" Id="Raff35fc0d7fc43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1389f45494cca" /><Relationship Type="http://schemas.openxmlformats.org/officeDocument/2006/relationships/notesSlide" Target="/ppt/notesSlides/notesSlide3.xml" Id="R864b40676f964d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2c815f9324296" /><Relationship Type="http://schemas.openxmlformats.org/officeDocument/2006/relationships/notesSlide" Target="/ppt/notesSlides/notesSlide4.xml" Id="R96e7bb16b40f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9ac7d4eee4931" /><Relationship Type="http://schemas.openxmlformats.org/officeDocument/2006/relationships/notesSlide" Target="/ppt/notesSlides/notesSlide5.xml" Id="R00879ddf20b842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ad762bae442d9" /><Relationship Type="http://schemas.openxmlformats.org/officeDocument/2006/relationships/notesSlide" Target="/ppt/notesSlides/notesSlide6.xml" Id="R6619c061cd8b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fd717f99647b7" /><Relationship Type="http://schemas.openxmlformats.org/officeDocument/2006/relationships/notesSlide" Target="/ppt/notesSlides/notesSlide7.xml" Id="Rf4295a46898c48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20249d60b488f" /><Relationship Type="http://schemas.openxmlformats.org/officeDocument/2006/relationships/notesSlide" Target="/ppt/notesSlides/notesSlide8.xml" Id="R51afe7597c5f4d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886f99ac24e0a" /><Relationship Type="http://schemas.openxmlformats.org/officeDocument/2006/relationships/notesSlide" Target="/ppt/notesSlides/notesSlide9.xml" Id="R96a06469367b46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5bb8841024aa3" /><Relationship Type="http://schemas.openxmlformats.org/officeDocument/2006/relationships/notesSlide" Target="/ppt/notesSlides/notesSlide10.xml" Id="Rb80364e80ab14f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84c89faa7422b" /><Relationship Type="http://schemas.openxmlformats.org/officeDocument/2006/relationships/notesSlide" Target="/ppt/notesSlides/notesSlide11.xml" Id="Rf8962651f0ec40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7b09ecac749b5" /><Relationship Type="http://schemas.openxmlformats.org/officeDocument/2006/relationships/notesSlide" Target="/ppt/notesSlides/notesSlide12.xml" Id="Rbfc85ae8528a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F8CD1-9E52-41E4-B44E-3ED4AC91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子课题汇报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B29A6-741D-41C4-BFD8-FE35E929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跨边服务状态迁移的 overhead 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F8F1-E785-4AD0-9845-BC5A9CF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6138-EC91-44F4-AA79-077E2B7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面向云边存储的数据安全缩减技术研究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EA635-9F49-4CC4-8464-343E660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先把 base、delta、restore 和预测的系统账算清，再谈安全机制。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B346-6409-481E-B69F-B92C4104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2027299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82988-C0AA-447B-A5B9-8704577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项目位置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DB5C8-688C-4704-89CF-E14FC580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本子课题对应项目里的第二条和第三条挑战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27B52-3FF3-4438-BB71-10D8B1CC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77D48-3784-4DDD-848B-6E19122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CF8CE-3870-4B43-83A6-8B2FE027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缓存优化与访问隐私难兼顾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9B5E1-6B9C-4D35-A996-178A7478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缓存调度依赖访问规律，调度请求可能暴露访问模式。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28587-92BE-4F36-B623-6B98B98B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700CE-65EA-4DDE-BEC6-E6E0CBE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2A502-E7AA-4850-962F-96ACE419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D88C7-8895-43A7-8DEB-2319DE61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常规加密妨碍增量识别与传输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F619F-99DB-4000-BDB2-FDC4488E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加密隐藏相似性，节点难以识别重复内容与差异。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FC7B9-1AED-474C-971C-F23F9B6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E6240-04E9-486B-B763-591CD02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BA15C-C215-47F5-976A-09151EF8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386EC-E4E3-4C0B-8FD7-4A0AEB4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FC860-5418-4AE5-B99B-7D750F8B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跨边状态同步可能泄露移动轨迹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B724A-F0AC-4284-94E6-1854A42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同步时刻与通信端点可能暴露终端移动规律。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3E87D-CD82-4AD0-A77E-CBB3EFE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3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929D3-A32F-4107-8913-ADB38F6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01BEF-1362-4CD6-8D06-41BBE471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当前阶段不做加密，先把跨边迁移的系统开销算清楚，给后续安全机制提供对照。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4DABF-FE85-45B9-AE7B-E1CB1F19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8749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2EF1DA-9B48-4906-8AAA-2A9A28C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系统实现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A35EA-AFF5-4F67-AD11-BDAD0D0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系统拓扑与迁移路径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1A279-AB66-4C56-B9B2-36C041C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7D2CB-EA0C-44A8-A997-DD5581C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7C974-BD90-4C99-9110-F9AA5D35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0E515-6B2F-470F-864F-9E212F1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95B65-544D-4DAA-95D8-C5539469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3C3C8-9D26-4C09-9A18-0E1EF4BB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FD4F5-C6A2-48E7-9E67-C0C40553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7066E-C4D5-459F-907C-BE55463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6FA5B-9709-4287-9D35-72462EA8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30E3F-5A47-42D1-A7C7-C1682707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BFA9-2503-4900-BE45-06B3ED06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B5BFB-3166-406D-8DD8-0BE07EED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D886F-73EF-4DBA-8A1B-E6DEB89E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ED37B-B2DC-4DC5-8AF3-047ABD25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43DB7-B592-4E0B-9D7B-FC652FB2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E4342-84C0-4053-892F-EAA4130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43939-984C-435F-A2EB-501CD4C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5AE63-13CD-4701-8C43-1EBF10A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99750-BA75-4735-9BEA-8CEADC02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2B4FD-05E2-456F-88A1-898A1C6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A561B-2F43-41B8-B064-0298FCB2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25580-2D30-4D31-9F32-C4098C6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03E42-11B3-4E71-B414-6D52BBB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FEB6D-FAC0-44CE-B488-91075D2C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F9C7B-FA14-4C52-979D-F27CCF58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39479-B7D1-4EFB-8F84-4FA47FED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F2279-17A5-4B95-BA4F-4C5C17E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D7C17-71DE-45B6-B81B-B847CA2C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01881-760F-4BF3-8D2C-C35C584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A49EC0-2C6E-465E-8ABE-555DF03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5793F1-4F89-403D-8421-775E77D3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2AC64-804D-4651-AC7C-E7EADA0D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45530D-77CE-40F6-B6B7-E784220D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5AF82-577F-41AA-9F91-37D12FB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D52DEA-8B81-4D7A-A51D-862D756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DD5D85-C2E1-46A2-9712-6FBAB1BF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CBB97F-B8C1-4880-A0B3-6BA231F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83F26C-4B3A-480F-887E-22D51F08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07E66-12BF-44CE-85F7-E49423DC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B84A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F6369-CB51-43C7-8418-06D4601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019ACC-A54B-4999-9EEA-0DF0BA2A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33793D-005E-49E4-AE42-A8AB1693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87839E-ACC7-453B-9AD4-5C02460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5E923C-6C88-4D02-BEA8-5650FC6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9EE06E-75E7-41BF-A748-6EE90476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52C342-7FAC-4892-8AA2-6000D7D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E393EA-5CDC-4415-A228-198CB641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9BCA73-5976-414E-9223-C0B5C91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0983EA-AAC2-4EDD-A894-929A9F4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9C5D8B-5076-44AF-9FD6-009E191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EEBC38-8F04-4934-95B3-5208A1A6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0F09EE-E15F-4378-B06A-A390409D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709A9A-F53B-4BA7-92B9-004F125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020F5A-0134-45F0-9FFE-991C8B1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CA3741-2A2A-4E8A-B72E-E4F6089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F5B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F21F91-B6CA-490B-9D4D-DA015670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E056D7-C753-4220-BAB6-985295FE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57DA4A-C0F3-4B37-8C21-7B0B4DC6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D6BB48-BB76-49F6-A747-745C6B8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543137-35CA-4C9F-A43A-F2EA87D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D46DFE-6E47-4C9F-A83E-1CD103C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5DC242-D786-4C40-9B80-7D8D75A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BB9A69-774E-4315-B510-DC379F47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80304D-7E05-4511-B3F3-7D4D4F1F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086990-645D-4FED-8F64-93994515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82B941-3AD6-4768-B73C-7DB2DC60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2511D1-63F5-48BA-B5C4-5CEBBD98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89F956-9FC3-4ACD-942B-86EDF2F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D7AFF4-2D32-438D-BA3C-CC8790E4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3D3F5B-90AF-407D-8E15-9FC1F5DD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A14985-4CE4-4C91-9190-2563E078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4978D9-691F-438F-8BF1-39B9900B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0A95B8-82CA-4632-8AB5-D5A6A4FA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DD4644-81EB-486E-8F56-B43C211E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F60FA0-5513-4403-833F-9128496E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B6C53A-D554-4351-90DA-EA61164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162F0B-9C77-4726-A5B8-1712B0B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7498AA-A51E-4A2C-ABDB-B8AC26C2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B75308-D0C9-4B59-BEF1-3A3CCD28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964DFE-5B04-449C-B5B2-EA13E99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8B266F-CFD8-4D85-9E29-DD08C4B89DAA}"/>
              </a:ext>
            </a:extLst>
          </p:cNvPr>
          <p:cNvCxnSpPr/>
          <p:nvPr/>
        </p:nvCxnSpPr>
        <p:spPr>
          <a:xfrm xmlns:a="http://schemas.openxmlformats.org/drawingml/2006/main">
            <a:off x="1066800" y="4010025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A96E8F-9B1F-42AB-9D94-8A4822D629C4}"/>
              </a:ext>
            </a:extLst>
          </p:cNvPr>
          <p:cNvCxnSpPr/>
          <p:nvPr/>
        </p:nvCxnSpPr>
        <p:spPr>
          <a:xfrm xmlns:a="http://schemas.openxmlformats.org/drawingml/2006/main">
            <a:off x="2114550" y="3133725"/>
            <a:ext cx="95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E8B452-EB30-433C-BE07-9BBE05F266C1}"/>
              </a:ext>
            </a:extLst>
          </p:cNvPr>
          <p:cNvCxnSpPr/>
          <p:nvPr/>
        </p:nvCxnSpPr>
        <p:spPr>
          <a:xfrm xmlns:a="http://schemas.openxmlformats.org/drawingml/2006/main">
            <a:off x="2114550" y="3133725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02166C-82DE-48BC-9CCD-11914D7F6D54}"/>
              </a:ext>
            </a:extLst>
          </p:cNvPr>
          <p:cNvCxnSpPr/>
          <p:nvPr/>
        </p:nvCxnSpPr>
        <p:spPr>
          <a:xfrm xmlns:a="http://schemas.openxmlformats.org/drawingml/2006/main">
            <a:off x="3162300" y="3133725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cxnSp>
        <p:nvCxn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B3FB5E-26C4-462C-9D3A-EB6D62583A8A}"/>
              </a:ext>
            </a:extLst>
          </p:cNvPr>
          <p:cNvCxnSpPr/>
          <p:nvPr/>
        </p:nvCxnSpPr>
        <p:spPr>
          <a:xfrm xmlns:a="http://schemas.openxmlformats.org/drawingml/2006/main">
            <a:off x="4210050" y="2257425"/>
            <a:ext cx="95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F5B5B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ECA224-3381-4B25-B7A7-FC549BB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81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E51C4A-3143-4B67-98DC-E7126F5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81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7AD770-284A-4E3D-9120-BDCE978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76E5D1D-C5A5-4058-BDAD-F723999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05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B4528E5-747C-44AC-8B88-B032C9D5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05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E0638D-A5CA-4CCB-91E4-145A2D7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228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36AB24-1653-463D-BC9F-1368AC71881C}"/>
              </a:ext>
            </a:extLst>
          </p:cNvPr>
          <p:cNvCxnSpPr/>
          <p:nvPr/>
        </p:nvCxnSpPr>
        <p:spPr>
          <a:xfrm xmlns:a="http://schemas.openxmlformats.org/drawingml/2006/main">
            <a:off x="3619500" y="3133725"/>
            <a:ext cx="123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D85B6A6-4905-44D6-84DB-756E7E4EEC2A}"/>
              </a:ext>
            </a:extLst>
          </p:cNvPr>
          <p:cNvCxnSpPr/>
          <p:nvPr/>
        </p:nvCxnSpPr>
        <p:spPr>
          <a:xfrm xmlns:a="http://schemas.openxmlformats.org/drawingml/2006/main">
            <a:off x="4857750" y="1695450"/>
            <a:ext cx="95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461999E-BBE1-4AB7-A968-AAAC079B5F75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647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BC77AC-7989-4438-B10A-2ED844B1B2BF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95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  <a:tailEnd type="arrow" w="lg" len="lg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CB882E3-1492-4989-A5A5-B06AE2A2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state migration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B98532-A1EB-45F9-A245-F5220FA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DD83FD4-32AA-4325-8238-F9FA0A24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62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1  车跨 cell，触发 handover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0B9CFF2-D203-4E03-A5FF-31D57ECC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2  当前 edge server 持有 base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A54536-16AB-4A42-BBA4-7C6F478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3  迁移 delta 或全量状态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154063-0C47-4A6F-B9B1-BB57DAF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4  目标 edge server apply + restore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379912-7236-4F3F-A512-F8334EB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状态 3–200 MB，镜像 205–540 MB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7D9430-F85A-4C25-A915-A6C5D450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青框：当前 cell    橙框：目标 cell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虚线：车辆路径    橙箭头：状态迁移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A201A4-4042-459B-AD08-3272CFA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DATA7：30 个 gNB，62 条链路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28211FE-0944-44FA-9424-EC728D78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544B41-C4D5-4FF1-959D-553CB7F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切换是“车换 cell”，迁移是“状态换 edge server”。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CA558A-66FB-4BD1-A8B0-BCBB591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26345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C74AD-3473-4F2E-B2D3-8428256688D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598EE-F775-4B8B-BA56-7D65DD578CE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EA382-C527-46B9-8023-87BBA9A0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状态模型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6762C-41A2-4934-8168-EF92BE6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base、delta 与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2CDFA-5B89-44B2-ACC7-5416E7B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5F175-17B5-47AB-B8B6-37AF616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C1F53-57A2-400D-AA81-E47AAD6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6F454-30E8-4D52-9DBC-1B8CC86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上次同步的完整状态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86193-F751-4773-B3BC-23BB5E82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1D0F7-A926-45DB-BAFD-223C105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13D61-2515-4FA4-A491-A4BC2C3B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= 当前状态 −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83BBF-6565-4F9C-8852-692A9D1F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F300E-961A-459B-9701-5C8A3D6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C79F-39A0-483E-A7FA-123D389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+ restart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恢复时间也计入开销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73802-CC74-4D47-896C-24E032C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4BF75-1596-4E13-8259-6F1EED64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冷目标：目标节点没有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7C064-31A5-4EE0-BAE8-DDEABFB1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不能只发 delta，必须回退全量状态。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40885-70C9-4033-A791-A3603B8F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恢复开销 = 应用状态 + 重启服务，按 5 ms/MB 计入迁移时长。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F06C9-301A-451B-98CF-9598F43A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F8D2F-B8B1-40B5-920D-1CAA041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增量不是免费的。delta 能不能用，取决于目标节点有没有 base。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4ECCE-A47B-46E1-A923-71C72509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4373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EB8DD-B7BB-4B63-AAD8-5756B94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2011B-F75B-47EB-BB28-D97B4FA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真实数据与可控假设分开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48A7D-6556-4FCC-9659-05C7540D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4AAEE-4C72-4E07-9C44-76AA7CFBA3E2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可控假设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DATA7：30 个真实 gNB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链路带宽 100 Mbps 至 1 Gbps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SF / Rome：真实出租车轨迹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状态增长率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4 类 MEC 服务的数据流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恢复速率 5 ms/MB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网络时延 5 ms/跳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镜像层大小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 车辆：SUMO 轨迹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服务算力与内存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75280-B368-44F0-9FE1-4A6F81DE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的基站位置来自 OpenCellID，车辆轨迹由 SUMO 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86B68-077D-46BB-93FA-BE1AF8C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9DE4D-6098-4E02-9FEA-34655B57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拓扑和移动来自真实数据，网络与服务参数是可控假设。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4F540-BE97-4B11-B979-5F29356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0657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B3D59-EE6A-4AAE-8822-EB8DDDC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8EAF0-7F47-406C-A3F5-ED09194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开销不能只看一个字节数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DBD5F-9A29-413C-96A9-11A967E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D9691-56D2-4FEE-AFD3-412280BD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7220F-C5AA-4556-A9A9-78339DA3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state + image + base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7082D-65B7-47DC-91DE-3897BB52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954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A890-7EB0-47BD-B8A4-A5A1A4DC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F45F9-ED23-4AEA-9516-7C8927E4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DEF5D-8C63-4359-8FE5-7CA5DD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传输字节 × 占用步数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F19C2-FC14-4625-87F8-5CFDA1D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MB·s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40D15-A7C2-4685-A13E-CAF21F41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3838A-99E0-4679-8A6C-6265208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36537-E42F-471A-ADDA-027895AE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apply state + restart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D8548-D7C1-4635-85D5-6E902B89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3A416-231E-4AD3-9BEA-AB071B4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B4D5F-8896-48CD-916B-F507B77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CD736-DB00-438A-8EA8-B3B3F266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interruption + post-arrival 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62F3B-ED5C-4CC1-AB60-5524CDE4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% /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45147-5790-4D05-A88A-ECE92587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2666E-B176-44C2-ABFB-47D7BFED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同一个 100 GB，占用 10 秒和占用 100 秒，代价不同。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169B8-1EBD-47B5-B821-221A0124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A04E8-B102-4136-B8D5-F2DC8672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 GB，会低估迁移对链路和用户的实际占用。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75E93-AD51-4BBB-942F-EDAA6887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0810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909C5-34AC-45B2-A3AA-FED7EED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731A-E92A-43C0-AD7D-19309141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follow-me 在 DATA7 上有多贵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922C6-B82C-43D7-BFB4-5D13FD7A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3FFC4-EB99-48B6-91CD-ED022D2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EE159-08B0-44D3-B19B-87BEA93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服务中断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E7E7-BD5F-4AC7-9906-11B3511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345 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C3862-D0A0-4990-98E5-9F5FB76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EB57B-4548-488E-A0C3-BFFC32D7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06ADE-D22F-4EF3-87F4-EC605B89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开销比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170E2-27FA-45B9-8554-3396F2701E2A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2667000"/>
                <a:gridCol w="30480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108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5F621-4BF8-4316-B87C-E426E0D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BED50-CAA1-446C-B596-365BF5AF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大状态服务主导开销，信息娱乐一个服务就占 215 GB。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5679A-51F8-48FD-968C-D82BB5F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43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772E9-8040-4B67-947C-09B6C852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EEBB0-EB12-4E9E-AA85-C9F12FC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增量收益取决于 base 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CB82F-E407-4112-9943-B6B2957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AA629-3A40-4112-BD50-8D5992BC7026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200025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冷目标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字节节省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中断（全量）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中断（增量）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2.4%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61251-DC46-47AC-9EEB-4B28D9D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冷目标越多，delta 越接近全量。合成数据 93% 是冷目标，增量几乎没有收益。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905F6-5DCC-4A3C-AEA7-E63DE331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2A63F-AEB7-4B40-B66A-71821029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delta 的核心不是“增量”两个字，而是 base locality。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B002E-FEB2-4505-91C0-468909E7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5613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A0762-0F26-4DD2-8670-FF980A67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压力矩阵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C1541-111B-4654-B0FD-162B2540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需求除以容量决定临界速度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9C709-C309-4896-BD2B-BACEEF9A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D065A-7C66-4DFB-9E31-9878759CFB22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2095500"/>
                <a:gridCol w="2095500"/>
                <a:gridCol w="39052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 ≥ 50% 起点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65.7%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12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 Gbps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 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30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30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8EE13-BBDE-4F76-8D63-8DF5CA9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同一策略在不同带宽和负载下，可能从“可接受”直接变成“不可用”。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85DE7-7B54-4E82-B6F3-F5D9448B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A9A3A-5D5C-4C55-87D5-2D812E5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速度是放大器。带宽和负载才是决定系统能不能撑住的底数。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409EB-CBA8-44CC-BC98-9A7E6E55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3103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87497-C147-4FD4-87A6-456D1E3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预测器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F3D22-A2EE-46EE-9E1B-1E6030F5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只有在预测准时才划算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F63B5-300C-4500-B0D7-0F825792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E339C-B635-49A1-995F-FC149352730C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809750"/>
                <a:gridCol w="1809750"/>
                <a:gridCol w="2219325"/>
                <a:gridCol w="221932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预测器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到达后滞后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oracle（上限）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1.7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一阶马尔可夫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192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last-direction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214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10.9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reactive 全量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140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7.8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5AD40-F43A-4D67-83D6-DC679B55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预测差会让迁移数据从 140 GB 涨到 214 GB，比不预测更贵。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8FCF2-21E9-401A-A57A-F2251B5E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946E6-B4DA-4255-B195-BB672AD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预测质量决定 proactive 是省钱还是烧钱。oracle 只能当上限。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C420C-156D-49FD-ABFB-1A716D2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5891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7F536-6A1A-4142-AB89-BD2224F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FC33-DE4E-4CBA-BF03-4BC1BC0E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三条系统结论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2BA0C-E78C-43CB-B55D-0122D051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DDA7-23CB-4C0F-9B3B-5E04128F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C0D09-04A8-4010-9EDA-9F25E01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overhead 不是单一字节数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DB2F5-75E6-4023-9F1C-DD66923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要把传输量、占用时间和恢复成本一起算。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BF112-9953-4B9E-97C0-E5F7011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A523D-BB53-4481-91DE-9121352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是 base locality 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28B7D-C116-4E8F-B30A-81C6E84E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目标有没有 base，决定了增量能省多少。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6EE24-AE0A-4AD4-8EA8-FBA6D569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170DA-7FD0-4E94-9416-E57370C2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是预测质量问题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BB93-2F8D-47E8-8EB4-4768491D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预测不准时，提前迁移会比不迁移更贵。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4C12E-BAB7-4484-A93F-AEA8912C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没有单一最优策略。按带宽、负载、速度的组合选择。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68BF5-0A42-4E99-A7FA-FAC9EFDC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B3561-FD20-40AF-913B-C76745BA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这些正是项目里密文增量与同步机制要付的系统成本。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31E5F-147C-4F0E-BFD3-3F2B7C7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47833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C4446-CE49-4FE1-A799-856C989E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CCD92-9B69-431C-817E-B7D1B94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 与隐私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07322-F8F7-4585-824A-EA13ED45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24F59-0683-4A15-BC3D-B04AD1D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FE0B4-506B-4320-BA67-DC56CDF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FEBB2-A6D9-436C-9542-CC8F4116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哪些节点值得预热，复制间隔多长。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4A223-AAC7-4224-8C6E-4CA7D693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4B37B-0C2A-4D51-8DFD-538D4764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隐私侧信道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77BAE-F0FB-489D-B187-6F3CEA5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迁移时刻与通信端点会泄露移动轨迹。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881AD-4DBE-4F43-ACFB-F8984679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8755A-0554-473B-BCFF-99EAE6E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小规模 testbed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98E14-DA15-4D17-824A-DF12D8E8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用真实节点验证仿真结论。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02143-5C17-4BB3-82A5-212F6FE4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先系统，后安全。两者共用同一套开销账。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DFB36-553E-4660-B373-01AABFA6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8A92B-4213-4642-AE9A-7D68DBA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下一步把 base 放置与隐私保护放进同一个评估框架。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35759-6D02-4A0E-96C4-4D60BE57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623476"/>
      </p:ext>
    </p:extLst>
  </p:cSld>
</p:sld>
</file>

<file path=ppt/theme/theme1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2026-10-21T08:05:42.9050000Z</dcterms:created>
  <dcterms:modified xsi:type="dcterms:W3CDTF">2026-10-21T08:05:42.9050000Z</dcterms:modified>
</coreProperties>
</file>